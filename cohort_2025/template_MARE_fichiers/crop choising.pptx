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B93848-CFA9-A37F-FFB3-B0FA34B12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BD37D3D-39E5-63B1-E15E-EED0A97D43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LID4096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B1571A-C8BA-C63A-D728-FB3AF8336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C479-541A-44C6-87F2-92E6B5733E4A}" type="datetimeFigureOut">
              <a:rPr lang="LID4096" smtClean="0"/>
              <a:t>10/22/2025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D12C75-49D3-B44A-9BC8-847F4BC13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DD0AC1-25FE-D7B8-CB51-21E44F0D1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C18A-00B1-41B8-A6FA-C36340A47594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7772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B25FEF-8478-911F-0DDF-525E4B97C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9F1BEB-1B5A-52ED-A275-4A0235C78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DF05E0-7EC9-96A0-94B3-941328945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C479-541A-44C6-87F2-92E6B5733E4A}" type="datetimeFigureOut">
              <a:rPr lang="LID4096" smtClean="0"/>
              <a:t>10/22/2025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DDB5EF-5207-C88C-ED19-BD034EF0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21F10B-A2C6-DC67-A6C5-5904D7099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C18A-00B1-41B8-A6FA-C36340A47594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78640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DEFC18-B040-D351-028A-38D659810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701BD4-32D7-F4B4-58C1-B3D069BFB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BEDF27-5293-C913-8612-4AE3EFFED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C479-541A-44C6-87F2-92E6B5733E4A}" type="datetimeFigureOut">
              <a:rPr lang="LID4096" smtClean="0"/>
              <a:t>10/22/2025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0C68BC-D11E-018F-D8E3-7E8A06698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57E3D6-B77D-85C8-CC9F-14BEB89D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C18A-00B1-41B8-A6FA-C36340A47594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6744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D856FB-5EB0-789D-AF4E-CBD05123F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067E69-02B9-F86A-EA1A-168FA63ED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A9D455B-B54A-4E2E-4E1B-886B2C7EF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089C05-EE25-B908-5237-0D4C7C0A6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C479-541A-44C6-87F2-92E6B5733E4A}" type="datetimeFigureOut">
              <a:rPr lang="LID4096" smtClean="0"/>
              <a:t>10/22/2025</a:t>
            </a:fld>
            <a:endParaRPr lang="LID4096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7155E2-F095-30A7-345C-CD30D4598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CC2B4E-97A9-F819-54E2-A88CA97E7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C18A-00B1-41B8-A6FA-C36340A47594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6258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CAE15E-C46B-B2D4-D4CA-EDA30F20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427B47-B662-2261-5DA2-20E251D8D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61B0248-535B-3EA7-63AC-1450B8219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9F2F6C6-353D-E496-1C37-81DDF5C97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194BCBD-EC7C-EBA0-9AE1-7032C77EA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41208C6-6F6E-312E-DEC2-BC85F30D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C479-541A-44C6-87F2-92E6B5733E4A}" type="datetimeFigureOut">
              <a:rPr lang="LID4096" smtClean="0"/>
              <a:t>10/22/2025</a:t>
            </a:fld>
            <a:endParaRPr lang="LID4096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56C8233-1B21-6CF7-4EBF-1DA572F54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A110738-D661-AD0C-E671-70CDA043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C18A-00B1-41B8-A6FA-C36340A47594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8736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1F08D2-4585-866C-2AC9-C2D64AC10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4EFBE03-B70E-FAB5-9DBD-FF4E36549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C479-541A-44C6-87F2-92E6B5733E4A}" type="datetimeFigureOut">
              <a:rPr lang="LID4096" smtClean="0"/>
              <a:t>10/22/2025</a:t>
            </a:fld>
            <a:endParaRPr lang="LID4096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FBF4AAE-583C-5150-9DE5-1568642F2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CF27EC9-462E-95B5-6512-0C60EC2FB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C18A-00B1-41B8-A6FA-C36340A47594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61075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8C366D4-4D99-5775-FA7E-16EC19935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C479-541A-44C6-87F2-92E6B5733E4A}" type="datetimeFigureOut">
              <a:rPr lang="LID4096" smtClean="0"/>
              <a:t>10/22/2025</a:t>
            </a:fld>
            <a:endParaRPr lang="LID4096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74FB951-8019-B566-40B5-5F235FED1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5DC85A-357F-2F1C-707E-A98D2AD6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C18A-00B1-41B8-A6FA-C36340A47594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89441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050667-56CB-14F8-2FE7-8A7469038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4897E4-2F91-0578-16D0-3BB4D395D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62F40C7-5FC5-7B6B-C1A3-32D90CA61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82BC1E6-2260-65B4-2317-BA4E69BA7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C479-541A-44C6-87F2-92E6B5733E4A}" type="datetimeFigureOut">
              <a:rPr lang="LID4096" smtClean="0"/>
              <a:t>10/22/2025</a:t>
            </a:fld>
            <a:endParaRPr lang="LID4096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7B0D8E-4174-EDCB-AE1E-9D0301D81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CD670E4-5F86-4026-56E4-40F4700C9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C18A-00B1-41B8-A6FA-C36340A47594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7752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4B4243-3AC9-8C00-AFA8-91C495A9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4404F35-430A-1122-277D-1B24CE4A04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26BD483-CFB6-2FD0-1123-46611D37B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1516072-813B-DFA8-EC0C-55C23B054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C479-541A-44C6-87F2-92E6B5733E4A}" type="datetimeFigureOut">
              <a:rPr lang="LID4096" smtClean="0"/>
              <a:t>10/22/2025</a:t>
            </a:fld>
            <a:endParaRPr lang="LID4096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9BBB03-A1F9-1A32-4964-0008E6CFA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DAB50B-A655-0932-2B4A-12028172E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C18A-00B1-41B8-A6FA-C36340A47594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8005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160393-A5C9-39B6-3A51-1058E5172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E61ECA5-7A99-F748-F964-EA531E31A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B0D4A4-C216-B501-A441-68CFCC8F8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C479-541A-44C6-87F2-92E6B5733E4A}" type="datetimeFigureOut">
              <a:rPr lang="LID4096" smtClean="0"/>
              <a:t>10/22/2025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798CCD-8667-C605-0130-DFBB9918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4DF091-170C-0813-62FF-28952E1D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C18A-00B1-41B8-A6FA-C36340A47594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38982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6A64343-55E5-5CE1-C594-D6F1481AF0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217AA5-E8FD-36A9-6F1D-B4B7AC22B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765D42-ED3F-BED0-1030-4E880F8DB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C479-541A-44C6-87F2-92E6B5733E4A}" type="datetimeFigureOut">
              <a:rPr lang="LID4096" smtClean="0"/>
              <a:t>10/22/2025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E8077C-6395-8D05-A6BD-A6D6AB93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4DD441-A1F7-2A02-4E65-B359AFE47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C18A-00B1-41B8-A6FA-C36340A47594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61738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95D46E5-7C72-8F6E-FADF-AAB3D061D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BEB34D-CB7E-61BB-F5F2-C2923B532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160BC3-3CBD-B6C6-C8C6-02D22D8D04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7C479-541A-44C6-87F2-92E6B5733E4A}" type="datetimeFigureOut">
              <a:rPr lang="LID4096" smtClean="0"/>
              <a:t>10/22/2025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6FE720-BD70-877C-9FAE-0709998C9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A619D9-44DC-B2AB-8F91-CD93A7F1B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2C18A-00B1-41B8-A6FA-C36340A47594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3559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s de Bonhomme Qui Reflechit Png – Téléchargement gratuit sur Freepik">
            <a:extLst>
              <a:ext uri="{FF2B5EF4-FFF2-40B4-BE49-F238E27FC236}">
                <a16:creationId xmlns:a16="http://schemas.microsoft.com/office/drawing/2014/main" id="{3A74024F-6A8F-24E7-3C4E-16A5AC0F4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702" y="3246715"/>
            <a:ext cx="3636596" cy="3636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76F5042-EB94-9E7B-7F20-15D0D6CDD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6858" y="183414"/>
            <a:ext cx="9175434" cy="1609574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crops should be grown on a sustainable farm?</a:t>
            </a:r>
            <a:endParaRPr lang="LID4096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AC2B9F57-E216-FFB4-14C1-1557F5DA70F9}"/>
              </a:ext>
            </a:extLst>
          </p:cNvPr>
          <p:cNvGrpSpPr/>
          <p:nvPr/>
        </p:nvGrpSpPr>
        <p:grpSpPr>
          <a:xfrm>
            <a:off x="3350427" y="1792988"/>
            <a:ext cx="5491145" cy="2726741"/>
            <a:chOff x="4581414" y="1470712"/>
            <a:chExt cx="5491145" cy="2726741"/>
          </a:xfrm>
        </p:grpSpPr>
        <p:pic>
          <p:nvPicPr>
            <p:cNvPr id="5" name="Picture 4" descr="Harvesting Lettuce: How to Make Yours Produce for Weeks)!">
              <a:extLst>
                <a:ext uri="{FF2B5EF4-FFF2-40B4-BE49-F238E27FC236}">
                  <a16:creationId xmlns:a16="http://schemas.microsoft.com/office/drawing/2014/main" id="{B7F1AE62-EABC-08EA-A9FF-076D6AE732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1414" y="2626585"/>
              <a:ext cx="1404154" cy="1404154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18" descr="How to Identify and Manage 11 Carrot Diseases | Gardener’s Path">
              <a:extLst>
                <a:ext uri="{FF2B5EF4-FFF2-40B4-BE49-F238E27FC236}">
                  <a16:creationId xmlns:a16="http://schemas.microsoft.com/office/drawing/2014/main" id="{5AB50C0F-2FE3-4EAB-F4B2-EDD59C22D4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344" b="6241"/>
            <a:stretch>
              <a:fillRect/>
            </a:stretch>
          </p:blipFill>
          <p:spPr bwMode="auto">
            <a:xfrm>
              <a:off x="6668004" y="1470712"/>
              <a:ext cx="1479404" cy="1454853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0" descr="Beginner Guide To Onion Farming In Kenya | Daily Press">
              <a:extLst>
                <a:ext uri="{FF2B5EF4-FFF2-40B4-BE49-F238E27FC236}">
                  <a16:creationId xmlns:a16="http://schemas.microsoft.com/office/drawing/2014/main" id="{CFDA6209-8ACF-E397-2556-3D27E5F334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02" t="2768" r="22623" b="19863"/>
            <a:stretch>
              <a:fillRect/>
            </a:stretch>
          </p:blipFill>
          <p:spPr bwMode="auto">
            <a:xfrm>
              <a:off x="8668405" y="2925566"/>
              <a:ext cx="1404154" cy="1271887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10775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3d Cute People - with Light Bulb Idea Concept Stock Illustration ...">
            <a:extLst>
              <a:ext uri="{FF2B5EF4-FFF2-40B4-BE49-F238E27FC236}">
                <a16:creationId xmlns:a16="http://schemas.microsoft.com/office/drawing/2014/main" id="{82DF0B93-DCBD-D37F-431E-436B21A25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628" y="395553"/>
            <a:ext cx="5004372" cy="6005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9A95A9B-1776-3D96-44D0-29AC9398E385}"/>
              </a:ext>
            </a:extLst>
          </p:cNvPr>
          <p:cNvSpPr txBox="1"/>
          <p:nvPr/>
        </p:nvSpPr>
        <p:spPr>
          <a:xfrm>
            <a:off x="188788" y="457200"/>
            <a:ext cx="780450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table below compares the three crops based on economic value, cultivation area, labor requirements, mechanization suitability, and storage potential to help select the most appropriate crop for sustainable farming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13EC89DD-ADC0-BE15-700A-28BE6F247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621313"/>
              </p:ext>
            </p:extLst>
          </p:nvPr>
        </p:nvGraphicFramePr>
        <p:xfrm>
          <a:off x="188788" y="2524920"/>
          <a:ext cx="8236024" cy="2671953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059006">
                  <a:extLst>
                    <a:ext uri="{9D8B030D-6E8A-4147-A177-3AD203B41FA5}">
                      <a16:colId xmlns:a16="http://schemas.microsoft.com/office/drawing/2014/main" val="3636733832"/>
                    </a:ext>
                  </a:extLst>
                </a:gridCol>
                <a:gridCol w="2059006">
                  <a:extLst>
                    <a:ext uri="{9D8B030D-6E8A-4147-A177-3AD203B41FA5}">
                      <a16:colId xmlns:a16="http://schemas.microsoft.com/office/drawing/2014/main" val="1651784229"/>
                    </a:ext>
                  </a:extLst>
                </a:gridCol>
                <a:gridCol w="2059006">
                  <a:extLst>
                    <a:ext uri="{9D8B030D-6E8A-4147-A177-3AD203B41FA5}">
                      <a16:colId xmlns:a16="http://schemas.microsoft.com/office/drawing/2014/main" val="1550694821"/>
                    </a:ext>
                  </a:extLst>
                </a:gridCol>
                <a:gridCol w="2059006">
                  <a:extLst>
                    <a:ext uri="{9D8B030D-6E8A-4147-A177-3AD203B41FA5}">
                      <a16:colId xmlns:a16="http://schemas.microsoft.com/office/drawing/2014/main" val="2614832031"/>
                    </a:ext>
                  </a:extLst>
                </a:gridCol>
              </a:tblGrid>
              <a:tr h="616331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Crops</a:t>
                      </a:r>
                      <a:endParaRPr lang="LID4096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Economic</a:t>
                      </a: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value </a:t>
                      </a:r>
                      <a:endParaRPr lang="LID4096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Labor </a:t>
                      </a:r>
                      <a:r>
                        <a:rPr lang="fr-FR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requirements</a:t>
                      </a: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LID4096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times</a:t>
                      </a:r>
                      <a:endParaRPr lang="LID4096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159983"/>
                  </a:ext>
                </a:extLst>
              </a:tr>
              <a:tr h="616331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Onions</a:t>
                      </a:r>
                      <a:endParaRPr lang="LID4096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EE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LID4096" b="1" dirty="0">
                        <a:solidFill>
                          <a:srgbClr val="EE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  <a:endParaRPr lang="LID4096" b="1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EE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</a:t>
                      </a:r>
                      <a:endParaRPr lang="LID4096" b="1" dirty="0">
                        <a:solidFill>
                          <a:srgbClr val="EE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847218"/>
                  </a:ext>
                </a:extLst>
              </a:tr>
              <a:tr h="616331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Carrots</a:t>
                      </a:r>
                      <a:endParaRPr lang="LID4096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  <a:endParaRPr lang="LID4096" b="1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  <a:endParaRPr lang="LID4096" b="1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  <a:endParaRPr lang="LID4096" b="1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21446"/>
                  </a:ext>
                </a:extLst>
              </a:tr>
              <a:tr h="616331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Lettuce</a:t>
                      </a:r>
                      <a:endParaRPr lang="LID4096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  <a:endParaRPr lang="LID4096" b="1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  <a:endParaRPr lang="LID4096" b="1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</a:t>
                      </a:r>
                      <a:endParaRPr lang="LID4096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1685142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20CB29BE-ED5A-5311-678B-6D1B96C9F73E}"/>
              </a:ext>
            </a:extLst>
          </p:cNvPr>
          <p:cNvSpPr txBox="1"/>
          <p:nvPr/>
        </p:nvSpPr>
        <p:spPr>
          <a:xfrm>
            <a:off x="168025" y="5754561"/>
            <a:ext cx="70403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comparison in the table,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onion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selected as the most suitable crop for sustainable farming.</a:t>
            </a:r>
            <a:endParaRPr lang="LID4096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51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88FC8F-1E8E-90AE-55CC-DB64A06A7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93899"/>
            <a:ext cx="10021584" cy="5497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of the performance of mechanical harvesting over manual methods</a:t>
            </a:r>
            <a:br>
              <a:rPr lang="en-US" dirty="0"/>
            </a:br>
            <a:endParaRPr lang="LID4096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820E677-6FB5-453C-F9B6-9ABB9A7B27FD}"/>
              </a:ext>
            </a:extLst>
          </p:cNvPr>
          <p:cNvSpPr txBox="1"/>
          <p:nvPr/>
        </p:nvSpPr>
        <p:spPr>
          <a:xfrm>
            <a:off x="357026" y="1389487"/>
            <a:ext cx="102767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harvesting: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10 - 20 hours per hectare, including digging, field drying, leaf cutting, and bulb collection.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harvesting: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Animal-drawn harvester can cover 0.5–1.3 hectares in 8 hours.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FEC8C153-5746-B824-7517-D83F7FB17075}"/>
              </a:ext>
            </a:extLst>
          </p:cNvPr>
          <p:cNvCxnSpPr>
            <a:cxnSpLocks/>
          </p:cNvCxnSpPr>
          <p:nvPr/>
        </p:nvCxnSpPr>
        <p:spPr>
          <a:xfrm>
            <a:off x="6619981" y="2959147"/>
            <a:ext cx="0" cy="3975909"/>
          </a:xfrm>
          <a:prstGeom prst="line">
            <a:avLst/>
          </a:prstGeom>
          <a:ln w="412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81AC2407-9F4E-F13D-8A52-55CC4CFE7B8F}"/>
                  </a:ext>
                </a:extLst>
              </p:cNvPr>
              <p:cNvSpPr txBox="1"/>
              <p:nvPr/>
            </p:nvSpPr>
            <p:spPr>
              <a:xfrm>
                <a:off x="0" y="3249651"/>
                <a:ext cx="6472717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𝑹𝒆𝒅𝒖𝒄𝒕𝒊𝒐𝒏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𝑴𝒂𝒏𝒖𝒂𝒍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𝒕𝒊𝒎𝒆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𝒎𝒆𝒄𝒉𝒂𝒏𝒊𝒄𝒂𝒍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𝒕𝒊𝒎𝒆</m:t>
                          </m:r>
                        </m:num>
                        <m:den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𝑴𝒂𝒏𝒖𝒂𝒍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𝒕𝒊𝒎𝒆</m:t>
                          </m:r>
                        </m:den>
                      </m:f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LID4096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81AC2407-9F4E-F13D-8A52-55CC4CFE7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49651"/>
                <a:ext cx="6472717" cy="5259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4C37F480-3A44-4E76-2A50-1E2DC06D7649}"/>
                  </a:ext>
                </a:extLst>
              </p:cNvPr>
              <p:cNvSpPr txBox="1"/>
              <p:nvPr/>
            </p:nvSpPr>
            <p:spPr>
              <a:xfrm>
                <a:off x="73632" y="4479461"/>
                <a:ext cx="6472717" cy="8579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fr-F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Minimum time of </a:t>
                </a:r>
                <a:r>
                  <a:rPr lang="fr-FR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manual</a:t>
                </a:r>
                <a:r>
                  <a:rPr lang="fr-F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haversting</a:t>
                </a:r>
                <a:r>
                  <a:rPr lang="fr-F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10h</a:t>
                </a:r>
                <a:endParaRPr lang="fr-FR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𝑹𝒆𝒅𝒖𝒄𝒕𝒊𝒐𝒏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d>
                    <m:r>
                      <a:rPr lang="fr-FR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den>
                    </m:f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endParaRPr lang="LID4096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4C37F480-3A44-4E76-2A50-1E2DC06D7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32" y="4479461"/>
                <a:ext cx="6472717" cy="857927"/>
              </a:xfrm>
              <a:prstGeom prst="rect">
                <a:avLst/>
              </a:prstGeom>
              <a:blipFill>
                <a:blip r:embed="rId3"/>
                <a:stretch>
                  <a:fillRect l="-2354" t="-9220" b="-567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AD123EED-7684-C29C-9AA5-073CCADB8DD4}"/>
                  </a:ext>
                </a:extLst>
              </p:cNvPr>
              <p:cNvSpPr txBox="1"/>
              <p:nvPr/>
            </p:nvSpPr>
            <p:spPr>
              <a:xfrm>
                <a:off x="147264" y="5671954"/>
                <a:ext cx="6472717" cy="8579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fr-FR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Maxiimum</a:t>
                </a:r>
                <a:r>
                  <a:rPr lang="fr-F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 of </a:t>
                </a:r>
                <a:r>
                  <a:rPr lang="fr-FR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manual</a:t>
                </a:r>
                <a:r>
                  <a:rPr lang="fr-F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haversting</a:t>
                </a:r>
                <a:r>
                  <a:rPr lang="fr-F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20h</a:t>
                </a:r>
                <a:endParaRPr lang="fr-FR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𝑹𝒆𝒅𝒖𝒄𝒕𝒊𝒐𝒏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d>
                    <m:r>
                      <a:rPr lang="fr-FR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𝟐𝟎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  <m:r>
                      <a:rPr lang="fr-FR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𝟔𝟎</m:t>
                    </m:r>
                    <m:r>
                      <a:rPr lang="fr-FR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endParaRPr lang="LID4096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AD123EED-7684-C29C-9AA5-073CCADB8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64" y="5671954"/>
                <a:ext cx="6472717" cy="857927"/>
              </a:xfrm>
              <a:prstGeom prst="rect">
                <a:avLst/>
              </a:prstGeom>
              <a:blipFill>
                <a:blip r:embed="rId4"/>
                <a:stretch>
                  <a:fillRect l="-2354" t="-9220" b="-638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27956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170</Words>
  <Application>Microsoft Office PowerPoint</Application>
  <PresentationFormat>Grand écran</PresentationFormat>
  <Paragraphs>27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Times New Roman</vt:lpstr>
      <vt:lpstr>Wingdings</vt:lpstr>
      <vt:lpstr>Thème Office</vt:lpstr>
      <vt:lpstr>What crops should be grown on a sustainable farm?</vt:lpstr>
      <vt:lpstr>Présentation PowerPoint</vt:lpstr>
      <vt:lpstr>Demonstration of the performance of mechanical harvesting over manual methods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Zalika Maré</dc:creator>
  <cp:lastModifiedBy>Zalika Maré</cp:lastModifiedBy>
  <cp:revision>3</cp:revision>
  <dcterms:created xsi:type="dcterms:W3CDTF">2025-10-22T12:26:51Z</dcterms:created>
  <dcterms:modified xsi:type="dcterms:W3CDTF">2025-10-22T14:13:39Z</dcterms:modified>
</cp:coreProperties>
</file>