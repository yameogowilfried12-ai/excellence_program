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668" y="-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CEFF1E-F6D3-ABD9-27FD-D3266CBE0C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F9CFA3E-A7C2-3591-3472-04C41DCFA8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7534AC1-8E4C-6F66-E906-E18ECF8D4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023A2-A9B1-4B13-9BC3-7F4916E4ACDE}" type="datetimeFigureOut">
              <a:rPr lang="fr-FR" smtClean="0"/>
              <a:t>06/11/2025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729FDA-B5D0-B5CF-7B74-2DCB406D7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72F03A1-F72D-E1AC-AC7E-94C23457B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A5926-F572-482B-A287-B4531943F8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4508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75D3C0-662C-02C1-048B-1E127F716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A9A64D9-ECBA-29C8-A863-246393AD67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5012E27-0CEA-70D6-089D-AC70A41CC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023A2-A9B1-4B13-9BC3-7F4916E4ACDE}" type="datetimeFigureOut">
              <a:rPr lang="fr-FR" smtClean="0"/>
              <a:t>06/11/2025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42DEE2C-24BC-2C5D-9674-657F76FAD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A60DEB8-F51F-CCF7-E2A4-9480846B7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A5926-F572-482B-A287-B4531943F8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7039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FBECFD-8B3B-1A57-C620-6442E13D0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D755768-F372-4C52-18D7-43FE685298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D202E5F-51B5-DAFD-6058-040275E94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023A2-A9B1-4B13-9BC3-7F4916E4ACDE}" type="datetimeFigureOut">
              <a:rPr lang="fr-FR" smtClean="0"/>
              <a:t>06/11/2025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0CD1C10-B015-94ED-72E5-A9F6E3ACD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FE57D1A-E70B-554A-4C73-4652E4CA2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A5926-F572-482B-A287-B4531943F8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3883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EF919E-C47F-03AB-E296-0B4418703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73DD365-41F7-CE52-EA05-E11299E04C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63FC72F-21C9-3B19-F6E5-3CDCCAF785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6FB7EDB-D587-2C34-59C3-41894A7F6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023A2-A9B1-4B13-9BC3-7F4916E4ACDE}" type="datetimeFigureOut">
              <a:rPr lang="fr-FR" smtClean="0"/>
              <a:t>06/11/2025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D80DC0D-7731-13CA-6268-AC5B6D1B7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A5BE5B9-447F-9E8F-0A9D-6CAFCEF16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A5926-F572-482B-A287-B4531943F8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0560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BF584C-3088-870D-511D-6374768AB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C47661A-5C16-DC58-A356-50641786A8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BBD4630-4D10-5B16-A3FC-2148EBB275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18E3179-6F5E-0F5A-8951-7FF4D88BC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94BAB7B-E95C-C4DB-81AE-6A0B9A28F6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EA50544E-8A93-C6C3-B7CA-1E5E51850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023A2-A9B1-4B13-9BC3-7F4916E4ACDE}" type="datetimeFigureOut">
              <a:rPr lang="fr-FR" smtClean="0"/>
              <a:t>06/11/2025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8B31C33-2902-3D04-BDC9-13E58A14B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6C5B86B-D0D7-6B5F-FD78-A04D7E53D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A5926-F572-482B-A287-B4531943F8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2315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654CF2-1F55-31AF-8942-AAB4B1D62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90D379C-69FC-1D72-6420-37CB7BE17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023A2-A9B1-4B13-9BC3-7F4916E4ACDE}" type="datetimeFigureOut">
              <a:rPr lang="fr-FR" smtClean="0"/>
              <a:t>06/11/2025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AD71C4B-E821-A470-92E0-7B8AC98C1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8E09827-A838-EBBC-473E-DE1876D10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A5926-F572-482B-A287-B4531943F8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7918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CDBA038-027C-0FC3-C8B9-C71628C94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023A2-A9B1-4B13-9BC3-7F4916E4ACDE}" type="datetimeFigureOut">
              <a:rPr lang="fr-FR" smtClean="0"/>
              <a:t>06/11/2025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D78BB28-3247-B44E-9442-CF98977BD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1AFFE86-B3C6-E655-EF6F-34DA85E9E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A5926-F572-482B-A287-B4531943F8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3264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404142-8E16-CB2C-1444-AD7FDF5F8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8E40205-CBA6-110D-262B-4426D3B919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F65B3F9-D28F-7381-3CF3-B614C8B30F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A3C5B40-C5A9-BDEB-9F4B-F4EBDDC7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023A2-A9B1-4B13-9BC3-7F4916E4ACDE}" type="datetimeFigureOut">
              <a:rPr lang="fr-FR" smtClean="0"/>
              <a:t>06/11/2025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2CC83DD-0769-B966-E83B-3012D29A4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8452420-3EFB-7480-8D5A-FEB0CD0B9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A5926-F572-482B-A287-B4531943F8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5183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BA0B4D-8471-838D-59FB-A05C44320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A2A5558-56BE-C10E-BD8D-E0D6B7C788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E9B6F70-1D3E-B720-FD85-ABF5468C9E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9AD6072-F69C-D3DE-B819-4CD917FAD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023A2-A9B1-4B13-9BC3-7F4916E4ACDE}" type="datetimeFigureOut">
              <a:rPr lang="fr-FR" smtClean="0"/>
              <a:t>06/11/2025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0AF5ABE-049D-9C6F-D0EE-069565835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FD22CFA-37BB-83F9-7148-7AFE8C85D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A5926-F572-482B-A287-B4531943F8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0537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E202E85-17FF-85C5-8E11-C2860814D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78DAD0A-B5DE-D51F-3BD5-B04F4E7DF4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404DDD3-22B2-67CA-83FE-6EAEB2BB2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023A2-A9B1-4B13-9BC3-7F4916E4ACDE}" type="datetimeFigureOut">
              <a:rPr lang="fr-FR" smtClean="0"/>
              <a:t>06/11/2025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3D05C50-281E-3081-55C9-703D135DC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5FDACD6-4D51-8945-6CBD-67B561045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A5926-F572-482B-A287-B4531943F8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4257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D322F634-2F20-BD72-4FEF-1D2B59DE5F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21EA625-5CA5-F6B6-85D4-DFE6E60D8A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42B8EAC-EA29-C75A-A648-4EBB38AD4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023A2-A9B1-4B13-9BC3-7F4916E4ACDE}" type="datetimeFigureOut">
              <a:rPr lang="fr-FR" smtClean="0"/>
              <a:t>06/11/2025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1B2FEE3-311C-6630-1E37-BB16659BA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FC8F348-9A3A-BE8F-50E1-C00507340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A5926-F572-482B-A287-B4531943F8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7255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C814FAC-C944-F1E3-CAEA-68770DA9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A6A04B1-2920-1ADD-E1C6-61386764FF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14A0B60-EEF3-0532-6C35-AF3E009AA6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023A2-A9B1-4B13-9BC3-7F4916E4ACDE}" type="datetimeFigureOut">
              <a:rPr lang="fr-FR" smtClean="0"/>
              <a:t>06/11/2025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8F8D50A-816A-ECE8-6212-D8CE4D9164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E15A2F7-2867-AAA4-B26C-A0216FF4D8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0A5926-F572-482B-A287-B4531943F8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983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93E3BECD-2A39-DA05-BA67-67C25B6758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2495532"/>
              </p:ext>
            </p:extLst>
          </p:nvPr>
        </p:nvGraphicFramePr>
        <p:xfrm>
          <a:off x="614138" y="1078814"/>
          <a:ext cx="11215312" cy="5520061"/>
        </p:xfrm>
        <a:graphic>
          <a:graphicData uri="http://schemas.openxmlformats.org/drawingml/2006/table">
            <a:tbl>
              <a:tblPr/>
              <a:tblGrid>
                <a:gridCol w="2335985">
                  <a:extLst>
                    <a:ext uri="{9D8B030D-6E8A-4147-A177-3AD203B41FA5}">
                      <a16:colId xmlns:a16="http://schemas.microsoft.com/office/drawing/2014/main" val="2468143269"/>
                    </a:ext>
                  </a:extLst>
                </a:gridCol>
                <a:gridCol w="3936328">
                  <a:extLst>
                    <a:ext uri="{9D8B030D-6E8A-4147-A177-3AD203B41FA5}">
                      <a16:colId xmlns:a16="http://schemas.microsoft.com/office/drawing/2014/main" val="1690215716"/>
                    </a:ext>
                  </a:extLst>
                </a:gridCol>
                <a:gridCol w="2232737">
                  <a:extLst>
                    <a:ext uri="{9D8B030D-6E8A-4147-A177-3AD203B41FA5}">
                      <a16:colId xmlns:a16="http://schemas.microsoft.com/office/drawing/2014/main" val="2157288430"/>
                    </a:ext>
                  </a:extLst>
                </a:gridCol>
                <a:gridCol w="980856">
                  <a:extLst>
                    <a:ext uri="{9D8B030D-6E8A-4147-A177-3AD203B41FA5}">
                      <a16:colId xmlns:a16="http://schemas.microsoft.com/office/drawing/2014/main" val="601486824"/>
                    </a:ext>
                  </a:extLst>
                </a:gridCol>
                <a:gridCol w="490427">
                  <a:extLst>
                    <a:ext uri="{9D8B030D-6E8A-4147-A177-3AD203B41FA5}">
                      <a16:colId xmlns:a16="http://schemas.microsoft.com/office/drawing/2014/main" val="3756432718"/>
                    </a:ext>
                  </a:extLst>
                </a:gridCol>
                <a:gridCol w="412993">
                  <a:extLst>
                    <a:ext uri="{9D8B030D-6E8A-4147-A177-3AD203B41FA5}">
                      <a16:colId xmlns:a16="http://schemas.microsoft.com/office/drawing/2014/main" val="3551452778"/>
                    </a:ext>
                  </a:extLst>
                </a:gridCol>
                <a:gridCol w="412993">
                  <a:extLst>
                    <a:ext uri="{9D8B030D-6E8A-4147-A177-3AD203B41FA5}">
                      <a16:colId xmlns:a16="http://schemas.microsoft.com/office/drawing/2014/main" val="3586226360"/>
                    </a:ext>
                  </a:extLst>
                </a:gridCol>
                <a:gridCol w="412993">
                  <a:extLst>
                    <a:ext uri="{9D8B030D-6E8A-4147-A177-3AD203B41FA5}">
                      <a16:colId xmlns:a16="http://schemas.microsoft.com/office/drawing/2014/main" val="4008666091"/>
                    </a:ext>
                  </a:extLst>
                </a:gridCol>
              </a:tblGrid>
              <a:tr h="53361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i="0" u="none" strike="noStrike" dirty="0"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Key </a:t>
                      </a:r>
                      <a:r>
                        <a:rPr lang="fr-FR" sz="12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Partners</a:t>
                      </a:r>
                      <a:endParaRPr lang="fr-FR" sz="1200" b="1" i="0" u="none" strike="noStrike" dirty="0">
                        <a:solidFill>
                          <a:srgbClr val="002060"/>
                        </a:solidFill>
                        <a:effectLst/>
                        <a:latin typeface="+mn-lt"/>
                      </a:endParaRPr>
                    </a:p>
                  </a:txBody>
                  <a:tcPr marL="5398" marR="5398" marT="5398" marB="38867" anchor="ctr">
                    <a:lnL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i="0" u="none" strike="noStrike" dirty="0"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Key </a:t>
                      </a:r>
                      <a:r>
                        <a:rPr lang="fr-FR" sz="12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Activities</a:t>
                      </a:r>
                      <a:endParaRPr lang="fr-FR" sz="1200" b="1" i="0" u="none" strike="noStrike" dirty="0">
                        <a:solidFill>
                          <a:srgbClr val="002060"/>
                        </a:solidFill>
                        <a:effectLst/>
                        <a:latin typeface="+mn-lt"/>
                      </a:endParaRPr>
                    </a:p>
                  </a:txBody>
                  <a:tcPr marL="5398" marR="5398" marT="5398" marB="38867" anchor="ctr">
                    <a:lnL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i="0" u="none" strike="noStrike" dirty="0"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Value Propositions</a:t>
                      </a:r>
                    </a:p>
                  </a:txBody>
                  <a:tcPr marL="5398" marR="5398" marT="5398" marB="38867" anchor="ctr">
                    <a:lnL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i="0" u="none" strike="noStrike" dirty="0"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Customer </a:t>
                      </a:r>
                      <a:r>
                        <a:rPr lang="fr-FR" sz="12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Relationships</a:t>
                      </a:r>
                      <a:endParaRPr lang="fr-FR" sz="1200" b="1" i="0" u="none" strike="noStrike" dirty="0">
                        <a:solidFill>
                          <a:srgbClr val="002060"/>
                        </a:solidFill>
                        <a:effectLst/>
                        <a:latin typeface="+mn-lt"/>
                      </a:endParaRPr>
                    </a:p>
                  </a:txBody>
                  <a:tcPr marL="5398" marR="5398" marT="5398" marB="38867" anchor="ctr">
                    <a:lnL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i="0" u="none" strike="noStrike" dirty="0"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Customer Segments</a:t>
                      </a:r>
                    </a:p>
                  </a:txBody>
                  <a:tcPr marL="5398" marR="5398" marT="5398" marB="38867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3101669"/>
                  </a:ext>
                </a:extLst>
              </a:tr>
              <a:tr h="3891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Moore language experts</a:t>
                      </a:r>
                    </a:p>
                  </a:txBody>
                  <a:tcPr marL="5398" marR="5398" marT="5398" marB="38867" anchor="b">
                    <a:lnL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Data Collection &amp; Labeling for Moore Language</a:t>
                      </a:r>
                    </a:p>
                  </a:txBody>
                  <a:tcPr marL="5398" marR="5398" marT="5398" marB="38867" anchor="b">
                    <a:lnL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1D1D1D"/>
                          </a:solidFill>
                          <a:effectLst/>
                          <a:latin typeface="+mn-lt"/>
                        </a:rPr>
                        <a:t>Unleash Language Barriers between Moore speakers and German speakers</a:t>
                      </a:r>
                    </a:p>
                  </a:txBody>
                  <a:tcPr marL="5398" marR="5398" marT="5398" marB="38867" anchor="b">
                    <a:lnL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rowSpan="2"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Social Media &amp; Community Engagement</a:t>
                      </a:r>
                    </a:p>
                  </a:txBody>
                  <a:tcPr marL="5398" marR="5398" marT="5398" marB="38867" anchor="b">
                    <a:lnL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1D1D1D"/>
                          </a:solidFill>
                          <a:effectLst/>
                          <a:latin typeface="+mn-lt"/>
                        </a:rPr>
                        <a:t>Farm managers</a:t>
                      </a:r>
                    </a:p>
                  </a:txBody>
                  <a:tcPr marL="5398" marR="5398" marT="5398" marB="38867" anchor="b">
                    <a:lnL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6078558"/>
                  </a:ext>
                </a:extLst>
              </a:tr>
              <a:tr h="42854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AI/ML </a:t>
                      </a:r>
                      <a:r>
                        <a:rPr lang="fr-F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Developers</a:t>
                      </a:r>
                      <a:r>
                        <a:rPr lang="fr-F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&amp; </a:t>
                      </a:r>
                      <a:r>
                        <a:rPr lang="fr-F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Engineers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98" marR="5398" marT="5398" marB="38867" anchor="b">
                    <a:lnL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AI Model Training &amp; </a:t>
                      </a:r>
                      <a:r>
                        <a:rPr lang="fr-F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Optimization</a:t>
                      </a:r>
                      <a:r>
                        <a:rPr lang="fr-F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</a:p>
                  </a:txBody>
                  <a:tcPr marL="5398" marR="5398" marT="5398" marB="38867" anchor="b">
                    <a:lnL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Travelers &amp; Tourists</a:t>
                      </a:r>
                    </a:p>
                  </a:txBody>
                  <a:tcPr marL="5398" marR="5398" marT="5398" marB="38867" anchor="b">
                    <a:lnL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1400384"/>
                  </a:ext>
                </a:extLst>
              </a:tr>
              <a:tr h="42854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Universities &amp; Research Institutions</a:t>
                      </a:r>
                    </a:p>
                  </a:txBody>
                  <a:tcPr marL="5398" marR="5398" marT="5398" marB="38867" anchor="b">
                    <a:lnL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Mobile App </a:t>
                      </a:r>
                      <a:r>
                        <a:rPr lang="fr-F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Development</a:t>
                      </a:r>
                      <a:r>
                        <a:rPr lang="fr-F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&amp; Maintenance (Flutter, </a:t>
                      </a:r>
                      <a:r>
                        <a:rPr lang="fr-F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FastAPI</a:t>
                      </a:r>
                      <a:r>
                        <a:rPr lang="fr-F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)</a:t>
                      </a:r>
                    </a:p>
                  </a:txBody>
                  <a:tcPr marL="5398" marR="5398" marT="5398" marB="38867" anchor="b">
                    <a:lnL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98" marR="5398" marT="5398" marB="38867" anchor="b">
                    <a:lnL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98" marR="5398" marT="5398" marB="38867" anchor="b">
                    <a:lnL>
                      <a:noFill/>
                    </a:lnL>
                    <a:lnR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Government &amp; NGOs</a:t>
                      </a:r>
                    </a:p>
                  </a:txBody>
                  <a:tcPr marL="5398" marR="5398" marT="5398" marB="38867" anchor="b">
                    <a:lnL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8407524"/>
                  </a:ext>
                </a:extLst>
              </a:tr>
              <a:tr h="243075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Cloud Service Providers (e.g., Google Cloud, AWS, or Azure)</a:t>
                      </a:r>
                    </a:p>
                  </a:txBody>
                  <a:tcPr marL="5398" marR="5398" marT="5398" marB="38867" anchor="b">
                    <a:lnL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Marketing &amp; Partnership Building</a:t>
                      </a:r>
                    </a:p>
                  </a:txBody>
                  <a:tcPr marL="5398" marR="5398" marT="5398" marB="38867" anchor="b">
                    <a:lnL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Real-time Voice Translation for quick communication</a:t>
                      </a:r>
                    </a:p>
                  </a:txBody>
                  <a:tcPr marL="5398" marR="5398" marT="5398" marB="38867" anchor="b">
                    <a:lnL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98" marR="5398" marT="5398" marB="38867" anchor="b">
                    <a:lnL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98" marR="5398" marT="5398" marB="38867" anchor="b">
                    <a:lnL>
                      <a:noFill/>
                    </a:lnL>
                    <a:lnR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98" marR="5398" marT="5398" marB="38867" anchor="b">
                    <a:lnL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2330859"/>
                  </a:ext>
                </a:extLst>
              </a:tr>
              <a:tr h="243075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Customer Support &amp; Feedback Collection</a:t>
                      </a:r>
                    </a:p>
                  </a:txBody>
                  <a:tcPr marL="5398" marR="5398" marT="5398" marB="38867" anchor="b">
                    <a:lnL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98" marR="5398" marT="5398" marB="38867" anchor="b">
                    <a:lnL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98" marR="5398" marT="5398" marB="38867" anchor="b">
                    <a:lnL>
                      <a:noFill/>
                    </a:lnL>
                    <a:lnR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98" marR="5398" marT="5398" marB="38867" anchor="b">
                    <a:lnL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4442883"/>
                  </a:ext>
                </a:extLst>
              </a:tr>
              <a:tr h="29561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98" marR="5398" marT="5398" marB="38867" anchor="b">
                    <a:lnL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200" b="1" i="0" u="none" strike="noStrike" dirty="0"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Key </a:t>
                      </a:r>
                      <a:r>
                        <a:rPr lang="fr-FR" sz="12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Resources</a:t>
                      </a:r>
                      <a:endParaRPr lang="fr-FR" sz="1200" b="1" i="0" u="none" strike="noStrike" dirty="0">
                        <a:solidFill>
                          <a:srgbClr val="002060"/>
                        </a:solidFill>
                        <a:effectLst/>
                        <a:latin typeface="+mn-lt"/>
                      </a:endParaRPr>
                    </a:p>
                  </a:txBody>
                  <a:tcPr marL="5398" marR="5398" marT="5398" marB="38867" anchor="b">
                    <a:lnL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Time &amp; Cost Saving For Farmers and their visitors</a:t>
                      </a:r>
                    </a:p>
                  </a:txBody>
                  <a:tcPr marL="5398" marR="5398" marT="5398" marB="38867" anchor="b">
                    <a:lnL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1" i="0" u="none" strike="noStrike" dirty="0"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Channels</a:t>
                      </a:r>
                    </a:p>
                  </a:txBody>
                  <a:tcPr marL="5398" marR="5398" marT="5398" marB="38867" anchor="b">
                    <a:lnL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98" marR="5398" marT="5398" marB="3886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6157385"/>
                  </a:ext>
                </a:extLst>
              </a:tr>
              <a:tr h="2430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98" marR="5398" marT="5398" marB="38867" anchor="b">
                    <a:lnL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Trained AI Model &amp; Voice Data</a:t>
                      </a:r>
                    </a:p>
                  </a:txBody>
                  <a:tcPr marL="5398" marR="5398" marT="5398" marB="38867" anchor="b">
                    <a:lnL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Mobile App (Google Play Store, Apple App Store)</a:t>
                      </a:r>
                    </a:p>
                  </a:txBody>
                  <a:tcPr marL="5398" marR="5398" marT="5398" marB="38867" anchor="b">
                    <a:lnL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98" marR="5398" marT="5398" marB="38867" anchor="b">
                    <a:lnL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4982913"/>
                  </a:ext>
                </a:extLst>
              </a:tr>
              <a:tr h="2430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98" marR="5398" marT="5398" marB="38867" anchor="b">
                    <a:lnL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Mobile App (Flutter) &amp; Backend API (</a:t>
                      </a:r>
                      <a:r>
                        <a:rPr lang="fr-F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FastAPI</a:t>
                      </a:r>
                      <a:r>
                        <a:rPr lang="fr-F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)</a:t>
                      </a:r>
                    </a:p>
                  </a:txBody>
                  <a:tcPr marL="5398" marR="5398" marT="5398" marB="38867" anchor="b">
                    <a:lnL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98" marR="5398" marT="5398" marB="38867" anchor="b">
                    <a:lnL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98" marR="5398" marT="5398" marB="38867" anchor="b">
                    <a:lnL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1649386"/>
                  </a:ext>
                </a:extLst>
              </a:tr>
              <a:tr h="2430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98" marR="5398" marT="5398" marB="38867" anchor="b">
                    <a:lnL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Cloud Infrastructure (for hosting &amp; processing)</a:t>
                      </a:r>
                    </a:p>
                  </a:txBody>
                  <a:tcPr marL="5398" marR="5398" marT="5398" marB="38867" anchor="b">
                    <a:lnL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Social Media (Facebook, Twitter, LinkedIn)</a:t>
                      </a:r>
                    </a:p>
                  </a:txBody>
                  <a:tcPr marL="5398" marR="5398" marT="5398" marB="38867" anchor="b">
                    <a:lnL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98" marR="5398" marT="5398" marB="38867" anchor="b">
                    <a:lnL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3531348"/>
                  </a:ext>
                </a:extLst>
              </a:tr>
              <a:tr h="2430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98" marR="5398" marT="5398" marB="38867" anchor="b">
                    <a:lnL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Technical Team (AI Engineers, Developers, Linguists)</a:t>
                      </a:r>
                    </a:p>
                  </a:txBody>
                  <a:tcPr marL="5398" marR="5398" marT="5398" marB="38867" anchor="b">
                    <a:lnL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98" marR="5398" marT="5398" marB="38867" anchor="b">
                    <a:lnL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98" marR="5398" marT="5398" marB="38867" anchor="b">
                    <a:lnL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765961"/>
                  </a:ext>
                </a:extLst>
              </a:tr>
              <a:tr h="21556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98" marR="5398" marT="5398" marB="38867" anchor="b">
                    <a:lnL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98" marR="5398" marT="5398" marB="38867" anchor="b">
                    <a:lnL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98" marR="5398" marT="5398" marB="38867" anchor="b">
                    <a:lnL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98" marR="5398" marT="5398" marB="38867" anchor="b">
                    <a:lnL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98" marR="5398" marT="5398" marB="38867" anchor="b">
                    <a:lnL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7632308"/>
                  </a:ext>
                </a:extLst>
              </a:tr>
              <a:tr h="295611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Cost</a:t>
                      </a:r>
                      <a:r>
                        <a:rPr lang="fr-FR" sz="1200" b="1" i="0" u="none" strike="noStrike" dirty="0"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 Structure</a:t>
                      </a:r>
                    </a:p>
                  </a:txBody>
                  <a:tcPr marL="5398" marR="5398" marT="5398" marB="38867" anchor="b">
                    <a:lnL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1" i="0" u="none" strike="noStrike" dirty="0"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Revenue </a:t>
                      </a:r>
                      <a:r>
                        <a:rPr lang="fr-FR" sz="12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Streams</a:t>
                      </a:r>
                      <a:endParaRPr lang="fr-FR" sz="1200" b="1" i="0" u="none" strike="noStrike" dirty="0">
                        <a:solidFill>
                          <a:srgbClr val="002060"/>
                        </a:solidFill>
                        <a:effectLst/>
                        <a:latin typeface="+mn-lt"/>
                      </a:endParaRPr>
                    </a:p>
                  </a:txBody>
                  <a:tcPr marL="5398" marR="5398" marT="5398" marB="38867" anchor="b">
                    <a:lnL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0509065"/>
                  </a:ext>
                </a:extLst>
              </a:tr>
              <a:tr h="243075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AI Model Development &amp; Training</a:t>
                      </a:r>
                    </a:p>
                  </a:txBody>
                  <a:tcPr marL="5398" marR="5398" marT="5398" marB="38867" anchor="b">
                    <a:lnL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Freemium Model (Basic free version, premium features via subscription)</a:t>
                      </a:r>
                    </a:p>
                  </a:txBody>
                  <a:tcPr marL="5398" marR="5398" marT="5398" marB="38867" anchor="b">
                    <a:lnL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7485873"/>
                  </a:ext>
                </a:extLst>
              </a:tr>
              <a:tr h="215564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Mobile App &amp; Backend Server Maintenance</a:t>
                      </a:r>
                    </a:p>
                  </a:txBody>
                  <a:tcPr marL="5398" marR="5398" marT="5398" marB="38867" anchor="b">
                    <a:lnL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B2B Partnerships (Businesses</a:t>
                      </a:r>
                    </a:p>
                  </a:txBody>
                  <a:tcPr marL="5398" marR="5398" marT="5398" marB="38867" anchor="b">
                    <a:lnL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6952141"/>
                  </a:ext>
                </a:extLst>
              </a:tr>
              <a:tr h="243075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Cloud Storage &amp; API Hosting Costs</a:t>
                      </a:r>
                    </a:p>
                  </a:txBody>
                  <a:tcPr marL="5398" marR="5398" marT="5398" marB="38867" anchor="b">
                    <a:lnL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Government &amp; NGO Grants (For language development projects)</a:t>
                      </a:r>
                    </a:p>
                  </a:txBody>
                  <a:tcPr marL="5398" marR="5398" marT="5398" marB="38867" anchor="b">
                    <a:lnL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4710469"/>
                  </a:ext>
                </a:extLst>
              </a:tr>
              <a:tr h="243075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Team Salaries &amp; Consultants</a:t>
                      </a:r>
                    </a:p>
                  </a:txBody>
                  <a:tcPr marL="5398" marR="5398" marT="5398" marB="38867" anchor="b">
                    <a:lnL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98" marR="5398" marT="5398" marB="3886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98" marR="5398" marT="5398" marB="3886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98" marR="5398" marT="5398" marB="3886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98" marR="5398" marT="5398" marB="3886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98" marR="5398" marT="5398" marB="3886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98" marR="5398" marT="5398" marB="3886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1844912"/>
                  </a:ext>
                </a:extLst>
              </a:tr>
              <a:tr h="243075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98" marR="5398" marT="5398" marB="38867" anchor="b">
                    <a:lnL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398" marR="5398" marT="5398" marB="38867" anchor="b">
                    <a:lnL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0424354"/>
                  </a:ext>
                </a:extLst>
              </a:tr>
              <a:tr h="243075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98" marR="5398" marT="5398" marB="38867" anchor="b">
                    <a:lnL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98" marR="5398" marT="5398" marB="38867" anchor="b">
                    <a:lnL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7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7716693"/>
                  </a:ext>
                </a:extLst>
              </a:tr>
            </a:tbl>
          </a:graphicData>
        </a:graphic>
      </p:graphicFrame>
      <p:sp>
        <p:nvSpPr>
          <p:cNvPr id="6" name="ZoneTexte 5">
            <a:extLst>
              <a:ext uri="{FF2B5EF4-FFF2-40B4-BE49-F238E27FC236}">
                <a16:creationId xmlns:a16="http://schemas.microsoft.com/office/drawing/2014/main" id="{DC0B6491-3ACA-C055-5E77-91F3E27D212B}"/>
              </a:ext>
            </a:extLst>
          </p:cNvPr>
          <p:cNvSpPr txBox="1"/>
          <p:nvPr/>
        </p:nvSpPr>
        <p:spPr>
          <a:xfrm>
            <a:off x="4552749" y="616017"/>
            <a:ext cx="2720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002060"/>
                </a:solidFill>
              </a:rPr>
              <a:t>BUSINESS MODEL CANVAS</a:t>
            </a:r>
            <a:endParaRPr lang="fr-FR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624256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219</Words>
  <Application>Microsoft Office PowerPoint</Application>
  <PresentationFormat>Grand écran</PresentationFormat>
  <Paragraphs>39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Aptos Narrow</vt:lpstr>
      <vt:lpstr>Arial</vt:lpstr>
      <vt:lpstr>Calibri</vt:lpstr>
      <vt:lpstr>Calibri Light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Afiatou Ouedraogo</dc:creator>
  <cp:lastModifiedBy>Afiatou Ouedraogo</cp:lastModifiedBy>
  <cp:revision>1</cp:revision>
  <dcterms:created xsi:type="dcterms:W3CDTF">2025-11-06T11:07:56Z</dcterms:created>
  <dcterms:modified xsi:type="dcterms:W3CDTF">2025-11-06T11:21:15Z</dcterms:modified>
</cp:coreProperties>
</file>