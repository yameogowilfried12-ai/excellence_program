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6" d="100"/>
          <a:sy n="136" d="100"/>
        </p:scale>
        <p:origin x="1212" y="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‹N°›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‹N°›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‹N°›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‹N°›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‹N°›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50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928"/>
            <a:ext cx="268097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56755" y="733093"/>
            <a:ext cx="1864995" cy="2251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341355" y="3311459"/>
            <a:ext cx="198754" cy="1371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‹N°›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4" y="1349375"/>
            <a:ext cx="4483735" cy="777875"/>
            <a:chOff x="87743" y="770800"/>
            <a:chExt cx="4483735" cy="777875"/>
          </a:xfrm>
        </p:grpSpPr>
        <p:sp>
          <p:nvSpPr>
            <p:cNvPr id="3" name="object 3"/>
            <p:cNvSpPr/>
            <p:nvPr/>
          </p:nvSpPr>
          <p:spPr>
            <a:xfrm>
              <a:off x="87743" y="770800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6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7" y="82384"/>
                  </a:lnTo>
                  <a:lnTo>
                    <a:pt x="4432567" y="50800"/>
                  </a:lnTo>
                  <a:lnTo>
                    <a:pt x="4428558" y="31075"/>
                  </a:lnTo>
                  <a:lnTo>
                    <a:pt x="4417644" y="14922"/>
                  </a:lnTo>
                  <a:lnTo>
                    <a:pt x="4401491" y="4008"/>
                  </a:lnTo>
                  <a:lnTo>
                    <a:pt x="4381766" y="0"/>
                  </a:lnTo>
                  <a:close/>
                </a:path>
              </a:pathLst>
            </a:custGeom>
            <a:solidFill>
              <a:srgbClr val="4C4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34056"/>
              <a:ext cx="4432935" cy="714375"/>
            </a:xfrm>
            <a:custGeom>
              <a:avLst/>
              <a:gdLst/>
              <a:ahLst/>
              <a:cxnLst/>
              <a:rect l="l" t="t" r="r" b="b"/>
              <a:pathLst>
                <a:path w="4432935" h="714375">
                  <a:moveTo>
                    <a:pt x="4432567" y="0"/>
                  </a:moveTo>
                  <a:lnTo>
                    <a:pt x="0" y="0"/>
                  </a:lnTo>
                  <a:lnTo>
                    <a:pt x="0" y="714087"/>
                  </a:lnTo>
                  <a:lnTo>
                    <a:pt x="4432567" y="714087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815219"/>
              <a:ext cx="4432935" cy="682625"/>
            </a:xfrm>
            <a:custGeom>
              <a:avLst/>
              <a:gdLst/>
              <a:ahLst/>
              <a:cxnLst/>
              <a:rect l="l" t="t" r="r" b="b"/>
              <a:pathLst>
                <a:path w="4432935" h="682625">
                  <a:moveTo>
                    <a:pt x="4432567" y="0"/>
                  </a:moveTo>
                  <a:lnTo>
                    <a:pt x="0" y="0"/>
                  </a:lnTo>
                  <a:lnTo>
                    <a:pt x="0" y="631322"/>
                  </a:lnTo>
                  <a:lnTo>
                    <a:pt x="4008" y="651047"/>
                  </a:lnTo>
                  <a:lnTo>
                    <a:pt x="14922" y="667200"/>
                  </a:lnTo>
                  <a:lnTo>
                    <a:pt x="31075" y="678114"/>
                  </a:lnTo>
                  <a:lnTo>
                    <a:pt x="50800" y="682123"/>
                  </a:lnTo>
                  <a:lnTo>
                    <a:pt x="4381766" y="682123"/>
                  </a:lnTo>
                  <a:lnTo>
                    <a:pt x="4401491" y="678114"/>
                  </a:lnTo>
                  <a:lnTo>
                    <a:pt x="4417644" y="667200"/>
                  </a:lnTo>
                  <a:lnTo>
                    <a:pt x="4428558" y="651047"/>
                  </a:lnTo>
                  <a:lnTo>
                    <a:pt x="4432567" y="631322"/>
                  </a:lnTo>
                  <a:lnTo>
                    <a:pt x="4432567" y="0"/>
                  </a:lnTo>
                  <a:close/>
                </a:path>
              </a:pathLst>
            </a:custGeom>
            <a:solidFill>
              <a:srgbClr val="4C4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3206" y="1412631"/>
            <a:ext cx="4432935" cy="71437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595755" marR="527050" indent="-1162050">
              <a:lnSpc>
                <a:spcPct val="106700"/>
              </a:lnSpc>
              <a:spcBef>
                <a:spcPts val="409"/>
              </a:spcBef>
            </a:pPr>
            <a:r>
              <a:rPr spc="-40" dirty="0">
                <a:solidFill>
                  <a:srgbClr val="FFFFFF"/>
                </a:solidFill>
              </a:rPr>
              <a:t>Expansion:</a:t>
            </a:r>
            <a:r>
              <a:rPr spc="90" dirty="0">
                <a:solidFill>
                  <a:srgbClr val="FFFFFF"/>
                </a:solidFill>
              </a:rPr>
              <a:t> </a:t>
            </a:r>
            <a:r>
              <a:rPr dirty="0">
                <a:solidFill>
                  <a:srgbClr val="FFFFFF"/>
                </a:solidFill>
              </a:rPr>
              <a:t>Mooré</a:t>
            </a:r>
            <a:r>
              <a:rPr spc="345" dirty="0">
                <a:solidFill>
                  <a:srgbClr val="FFFFFF"/>
                </a:solidFill>
              </a:rPr>
              <a:t> </a:t>
            </a:r>
            <a:r>
              <a:rPr spc="-50" dirty="0">
                <a:solidFill>
                  <a:srgbClr val="FFFFFF"/>
                </a:solidFill>
              </a:rPr>
              <a:t>German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spc="-25" dirty="0">
                <a:solidFill>
                  <a:srgbClr val="FFFFFF"/>
                </a:solidFill>
              </a:rPr>
              <a:t>Translation</a:t>
            </a:r>
            <a:r>
              <a:rPr spc="-40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(Dried </a:t>
            </a:r>
            <a:r>
              <a:rPr spc="-30" dirty="0">
                <a:solidFill>
                  <a:srgbClr val="FFFFFF"/>
                </a:solidFill>
              </a:rPr>
              <a:t>Mangoes</a:t>
            </a:r>
            <a:r>
              <a:rPr spc="-7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Case)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1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928"/>
            <a:ext cx="172847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Examples</a:t>
            </a:r>
            <a:r>
              <a:rPr spc="-7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spc="-10" dirty="0"/>
              <a:t>Use</a:t>
            </a:r>
            <a:r>
              <a:rPr spc="-70" dirty="0"/>
              <a:t> </a:t>
            </a:r>
            <a:r>
              <a:rPr spc="-45" dirty="0"/>
              <a:t>Cases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683387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873201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24687" y="1328699"/>
            <a:ext cx="52590" cy="5259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4911" y="165764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687" y="1847456"/>
            <a:ext cx="52590" cy="525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4911" y="2328227"/>
            <a:ext cx="65265" cy="6526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24687" y="2518041"/>
            <a:ext cx="52590" cy="52590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356755" y="574878"/>
            <a:ext cx="1829435" cy="2492375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100" b="1" dirty="0">
                <a:latin typeface="+mn-lt"/>
                <a:cs typeface="Arial Black"/>
              </a:rPr>
              <a:t>Business </a:t>
            </a:r>
            <a:r>
              <a:rPr sz="1100" b="1" spc="-45" dirty="0">
                <a:latin typeface="+mn-lt"/>
                <a:cs typeface="Arial Black"/>
              </a:rPr>
              <a:t>Negotiations</a:t>
            </a:r>
            <a:endParaRPr sz="1100" b="1" dirty="0">
              <a:latin typeface="+mn-lt"/>
              <a:cs typeface="Arial Black"/>
            </a:endParaRPr>
          </a:p>
          <a:p>
            <a:pPr marL="289560" marR="88900">
              <a:lnSpc>
                <a:spcPct val="100000"/>
              </a:lnSpc>
              <a:spcBef>
                <a:spcPts val="175"/>
              </a:spcBef>
            </a:pPr>
            <a:r>
              <a:rPr sz="1000" dirty="0">
                <a:latin typeface="+mn-lt"/>
                <a:cs typeface="Tahoma"/>
              </a:rPr>
              <a:t>The</a:t>
            </a:r>
            <a:r>
              <a:rPr sz="1000" spc="-25" dirty="0">
                <a:latin typeface="+mn-lt"/>
                <a:cs typeface="Tahoma"/>
              </a:rPr>
              <a:t> </a:t>
            </a:r>
            <a:r>
              <a:rPr sz="1000" spc="-40" dirty="0">
                <a:latin typeface="+mn-lt"/>
                <a:cs typeface="Tahoma"/>
              </a:rPr>
              <a:t>producer</a:t>
            </a:r>
            <a:r>
              <a:rPr sz="1000" spc="-25" dirty="0">
                <a:latin typeface="+mn-lt"/>
                <a:cs typeface="Tahoma"/>
              </a:rPr>
              <a:t> </a:t>
            </a:r>
            <a:r>
              <a:rPr sz="1000" spc="-10" dirty="0">
                <a:latin typeface="+mn-lt"/>
                <a:cs typeface="Tahoma"/>
              </a:rPr>
              <a:t>explains </a:t>
            </a:r>
            <a:r>
              <a:rPr sz="1000" spc="-35" dirty="0">
                <a:latin typeface="+mn-lt"/>
                <a:cs typeface="Tahoma"/>
              </a:rPr>
              <a:t>quantities,</a:t>
            </a:r>
            <a:r>
              <a:rPr sz="1000" spc="-20" dirty="0">
                <a:latin typeface="+mn-lt"/>
                <a:cs typeface="Tahoma"/>
              </a:rPr>
              <a:t> </a:t>
            </a:r>
            <a:r>
              <a:rPr sz="1000" spc="-35" dirty="0">
                <a:latin typeface="+mn-lt"/>
                <a:cs typeface="Tahoma"/>
              </a:rPr>
              <a:t>prices,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spc="-30" dirty="0">
                <a:latin typeface="+mn-lt"/>
                <a:cs typeface="Tahoma"/>
              </a:rPr>
              <a:t>and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spc="-35" dirty="0">
                <a:latin typeface="+mn-lt"/>
                <a:cs typeface="Tahoma"/>
              </a:rPr>
              <a:t>sales </a:t>
            </a:r>
            <a:r>
              <a:rPr sz="1000" spc="-25" dirty="0">
                <a:latin typeface="+mn-lt"/>
                <a:cs typeface="Tahoma"/>
              </a:rPr>
              <a:t>conditions</a:t>
            </a:r>
            <a:r>
              <a:rPr sz="1000" spc="-20" dirty="0">
                <a:latin typeface="+mn-lt"/>
                <a:cs typeface="Tahoma"/>
              </a:rPr>
              <a:t> </a:t>
            </a:r>
            <a:r>
              <a:rPr sz="1000" dirty="0">
                <a:latin typeface="+mn-lt"/>
                <a:cs typeface="Tahoma"/>
              </a:rPr>
              <a:t>in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i="1" spc="-10" dirty="0">
                <a:latin typeface="+mn-lt"/>
                <a:cs typeface="Trebuchet MS"/>
              </a:rPr>
              <a:t>Mooré</a:t>
            </a:r>
            <a:r>
              <a:rPr sz="1000" spc="-10" dirty="0">
                <a:latin typeface="+mn-lt"/>
                <a:cs typeface="Tahoma"/>
              </a:rPr>
              <a:t>.</a:t>
            </a:r>
            <a:endParaRPr sz="1000" dirty="0">
              <a:latin typeface="+mn-lt"/>
              <a:cs typeface="Tahoma"/>
            </a:endParaRPr>
          </a:p>
          <a:p>
            <a:pPr marL="289560" marR="5080">
              <a:lnSpc>
                <a:spcPts val="1200"/>
              </a:lnSpc>
              <a:spcBef>
                <a:spcPts val="30"/>
              </a:spcBef>
            </a:pPr>
            <a:r>
              <a:rPr sz="1000" dirty="0">
                <a:latin typeface="+mn-lt"/>
                <a:cs typeface="Tahoma"/>
              </a:rPr>
              <a:t>The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spc="-45" dirty="0">
                <a:latin typeface="+mn-lt"/>
                <a:cs typeface="Tahoma"/>
              </a:rPr>
              <a:t>German</a:t>
            </a:r>
            <a:r>
              <a:rPr sz="1000" spc="-10" dirty="0">
                <a:latin typeface="+mn-lt"/>
                <a:cs typeface="Tahoma"/>
              </a:rPr>
              <a:t> </a:t>
            </a:r>
            <a:r>
              <a:rPr sz="1000" spc="-40" dirty="0">
                <a:latin typeface="+mn-lt"/>
                <a:cs typeface="Tahoma"/>
              </a:rPr>
              <a:t>partner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spc="-45" dirty="0">
                <a:latin typeface="+mn-lt"/>
                <a:cs typeface="Tahoma"/>
              </a:rPr>
              <a:t>receives </a:t>
            </a:r>
            <a:r>
              <a:rPr sz="1000" spc="-20" dirty="0">
                <a:latin typeface="+mn-lt"/>
                <a:cs typeface="Tahoma"/>
              </a:rPr>
              <a:t>the </a:t>
            </a:r>
            <a:r>
              <a:rPr sz="1000" spc="-30" dirty="0">
                <a:latin typeface="+mn-lt"/>
                <a:cs typeface="Tahoma"/>
              </a:rPr>
              <a:t>translation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dirty="0">
                <a:latin typeface="+mn-lt"/>
                <a:cs typeface="Tahoma"/>
              </a:rPr>
              <a:t>in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i="1" spc="-10" dirty="0">
                <a:latin typeface="+mn-lt"/>
                <a:cs typeface="Trebuchet MS"/>
              </a:rPr>
              <a:t>German</a:t>
            </a:r>
            <a:r>
              <a:rPr sz="1000" spc="-10" dirty="0">
                <a:latin typeface="+mn-lt"/>
                <a:cs typeface="Tahoma"/>
              </a:rPr>
              <a:t>.</a:t>
            </a:r>
            <a:endParaRPr sz="1000" dirty="0">
              <a:latin typeface="+mn-lt"/>
              <a:cs typeface="Tahoma"/>
            </a:endParaRPr>
          </a:p>
          <a:p>
            <a:pPr marL="289560" marR="149225" indent="-277495">
              <a:lnSpc>
                <a:spcPct val="104200"/>
              </a:lnSpc>
              <a:spcBef>
                <a:spcPts val="95"/>
              </a:spcBef>
            </a:pPr>
            <a:r>
              <a:rPr sz="1100" b="1" dirty="0">
                <a:latin typeface="+mn-lt"/>
                <a:cs typeface="Arial Black"/>
              </a:rPr>
              <a:t>Product Labeling </a:t>
            </a:r>
            <a:r>
              <a:rPr sz="1000" b="1" dirty="0">
                <a:latin typeface="+mn-lt"/>
                <a:cs typeface="Tahoma"/>
              </a:rPr>
              <a:t>Translation </a:t>
            </a:r>
            <a:r>
              <a:rPr sz="1000" dirty="0">
                <a:latin typeface="+mn-lt"/>
                <a:cs typeface="Tahoma"/>
              </a:rPr>
              <a:t>of </a:t>
            </a:r>
            <a:r>
              <a:rPr sz="1000" spc="-10" dirty="0">
                <a:latin typeface="+mn-lt"/>
                <a:cs typeface="Tahoma"/>
              </a:rPr>
              <a:t>package </a:t>
            </a:r>
            <a:r>
              <a:rPr sz="1000" spc="-30" dirty="0">
                <a:latin typeface="+mn-lt"/>
                <a:cs typeface="Tahoma"/>
              </a:rPr>
              <a:t>information:</a:t>
            </a:r>
            <a:r>
              <a:rPr sz="1000" spc="75" dirty="0">
                <a:latin typeface="+mn-lt"/>
                <a:cs typeface="Tahoma"/>
              </a:rPr>
              <a:t> </a:t>
            </a:r>
            <a:r>
              <a:rPr sz="1000" spc="-10" dirty="0">
                <a:latin typeface="+mn-lt"/>
                <a:cs typeface="Tahoma"/>
              </a:rPr>
              <a:t>ingredients, </a:t>
            </a:r>
            <a:r>
              <a:rPr sz="1000" spc="-30" dirty="0">
                <a:latin typeface="+mn-lt"/>
                <a:cs typeface="Tahoma"/>
              </a:rPr>
              <a:t>production</a:t>
            </a:r>
            <a:r>
              <a:rPr sz="1000" spc="-20" dirty="0">
                <a:latin typeface="+mn-lt"/>
                <a:cs typeface="Tahoma"/>
              </a:rPr>
              <a:t> </a:t>
            </a:r>
            <a:r>
              <a:rPr sz="1000" spc="-30" dirty="0">
                <a:latin typeface="+mn-lt"/>
                <a:cs typeface="Tahoma"/>
              </a:rPr>
              <a:t>date,</a:t>
            </a:r>
            <a:r>
              <a:rPr sz="1000" spc="-20" dirty="0">
                <a:latin typeface="+mn-lt"/>
                <a:cs typeface="Tahoma"/>
              </a:rPr>
              <a:t> </a:t>
            </a:r>
            <a:r>
              <a:rPr sz="1000" spc="-35" dirty="0">
                <a:latin typeface="+mn-lt"/>
                <a:cs typeface="Tahoma"/>
              </a:rPr>
              <a:t>shelf</a:t>
            </a:r>
            <a:r>
              <a:rPr sz="1000" spc="-15" dirty="0">
                <a:latin typeface="+mn-lt"/>
                <a:cs typeface="Tahoma"/>
              </a:rPr>
              <a:t> </a:t>
            </a:r>
            <a:r>
              <a:rPr sz="1000" spc="-10" dirty="0">
                <a:latin typeface="+mn-lt"/>
                <a:cs typeface="Tahoma"/>
              </a:rPr>
              <a:t>life.</a:t>
            </a:r>
            <a:endParaRPr sz="1000" dirty="0">
              <a:latin typeface="+mn-lt"/>
              <a:cs typeface="Tahoma"/>
            </a:endParaRPr>
          </a:p>
          <a:p>
            <a:pPr marL="289560" marR="34925" indent="-277495">
              <a:lnSpc>
                <a:spcPct val="106400"/>
              </a:lnSpc>
              <a:spcBef>
                <a:spcPts val="105"/>
              </a:spcBef>
            </a:pPr>
            <a:r>
              <a:rPr sz="1100" b="1" dirty="0">
                <a:latin typeface="+mn-lt"/>
                <a:cs typeface="Arial Black"/>
              </a:rPr>
              <a:t>Certificates and Documents </a:t>
            </a:r>
            <a:r>
              <a:rPr sz="1000" dirty="0">
                <a:latin typeface="+mn-lt"/>
                <a:cs typeface="Tahoma"/>
              </a:rPr>
              <a:t>Translation of</a:t>
            </a:r>
            <a:r>
              <a:rPr sz="1000" spc="-20" dirty="0">
                <a:latin typeface="+mn-lt"/>
                <a:cs typeface="Tahoma"/>
              </a:rPr>
              <a:t> </a:t>
            </a:r>
            <a:r>
              <a:rPr sz="1000" spc="-10" dirty="0">
                <a:latin typeface="+mn-lt"/>
                <a:cs typeface="Tahoma"/>
              </a:rPr>
              <a:t>health, </a:t>
            </a:r>
            <a:r>
              <a:rPr sz="1000" spc="-40" dirty="0">
                <a:latin typeface="+mn-lt"/>
                <a:cs typeface="Tahoma"/>
              </a:rPr>
              <a:t>phytosanitary</a:t>
            </a:r>
            <a:r>
              <a:rPr sz="1000" spc="5" dirty="0">
                <a:latin typeface="+mn-lt"/>
                <a:cs typeface="Tahoma"/>
              </a:rPr>
              <a:t> </a:t>
            </a:r>
            <a:r>
              <a:rPr sz="1000" spc="-30" dirty="0">
                <a:latin typeface="+mn-lt"/>
                <a:cs typeface="Tahoma"/>
              </a:rPr>
              <a:t>certificates,</a:t>
            </a:r>
            <a:r>
              <a:rPr sz="1000" spc="10" dirty="0">
                <a:latin typeface="+mn-lt"/>
                <a:cs typeface="Tahoma"/>
              </a:rPr>
              <a:t> </a:t>
            </a:r>
            <a:r>
              <a:rPr sz="1000" spc="-25" dirty="0">
                <a:latin typeface="+mn-lt"/>
                <a:cs typeface="Tahoma"/>
              </a:rPr>
              <a:t>or</a:t>
            </a:r>
            <a:endParaRPr sz="1000" dirty="0">
              <a:latin typeface="+mn-lt"/>
              <a:cs typeface="Tahoma"/>
            </a:endParaRPr>
          </a:p>
          <a:p>
            <a:pPr marL="289560" marR="158115">
              <a:lnSpc>
                <a:spcPts val="1200"/>
              </a:lnSpc>
              <a:spcBef>
                <a:spcPts val="40"/>
              </a:spcBef>
            </a:pPr>
            <a:r>
              <a:rPr sz="1000" spc="-25" dirty="0">
                <a:latin typeface="+mn-lt"/>
                <a:cs typeface="Tahoma"/>
              </a:rPr>
              <a:t>contracts</a:t>
            </a:r>
            <a:r>
              <a:rPr sz="1000" spc="-35" dirty="0">
                <a:latin typeface="+mn-lt"/>
                <a:cs typeface="Tahoma"/>
              </a:rPr>
              <a:t> </a:t>
            </a:r>
            <a:r>
              <a:rPr sz="1000" spc="-10" dirty="0">
                <a:latin typeface="+mn-lt"/>
                <a:cs typeface="Tahoma"/>
              </a:rPr>
              <a:t>for</a:t>
            </a:r>
            <a:r>
              <a:rPr sz="1000" spc="-30" dirty="0">
                <a:latin typeface="+mn-lt"/>
                <a:cs typeface="Tahoma"/>
              </a:rPr>
              <a:t> </a:t>
            </a:r>
            <a:r>
              <a:rPr sz="1000" spc="-35" dirty="0">
                <a:latin typeface="+mn-lt"/>
                <a:cs typeface="Tahoma"/>
              </a:rPr>
              <a:t>customs</a:t>
            </a:r>
            <a:r>
              <a:rPr sz="1000" spc="-25" dirty="0">
                <a:latin typeface="+mn-lt"/>
                <a:cs typeface="Tahoma"/>
              </a:rPr>
              <a:t> </a:t>
            </a:r>
            <a:r>
              <a:rPr sz="1000" spc="-40" dirty="0">
                <a:latin typeface="+mn-lt"/>
                <a:cs typeface="Tahoma"/>
              </a:rPr>
              <a:t>and </a:t>
            </a:r>
            <a:r>
              <a:rPr sz="1000" spc="-45" dirty="0">
                <a:latin typeface="+mn-lt"/>
                <a:cs typeface="Tahoma"/>
              </a:rPr>
              <a:t>German</a:t>
            </a:r>
            <a:r>
              <a:rPr sz="1000" spc="15" dirty="0">
                <a:latin typeface="+mn-lt"/>
                <a:cs typeface="Tahoma"/>
              </a:rPr>
              <a:t> </a:t>
            </a:r>
            <a:r>
              <a:rPr sz="1000" spc="-10" dirty="0">
                <a:latin typeface="+mn-lt"/>
                <a:cs typeface="Tahoma"/>
              </a:rPr>
              <a:t>partners.</a:t>
            </a:r>
            <a:endParaRPr sz="1000" dirty="0">
              <a:latin typeface="+mn-lt"/>
              <a:cs typeface="Tahom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05050" y="1557602"/>
            <a:ext cx="724049" cy="421005"/>
            <a:chOff x="2350164" y="1560717"/>
            <a:chExt cx="929005" cy="421005"/>
          </a:xfrm>
        </p:grpSpPr>
        <p:sp>
          <p:nvSpPr>
            <p:cNvPr id="12" name="object 12"/>
            <p:cNvSpPr/>
            <p:nvPr/>
          </p:nvSpPr>
          <p:spPr>
            <a:xfrm>
              <a:off x="2352704" y="1563257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352704" y="1563257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369774" y="1586176"/>
            <a:ext cx="548005" cy="31079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" marR="5080" indent="-23495">
              <a:lnSpc>
                <a:spcPct val="102600"/>
              </a:lnSpc>
              <a:spcBef>
                <a:spcPts val="55"/>
              </a:spcBef>
            </a:pPr>
            <a:r>
              <a:rPr sz="1000" spc="-40" dirty="0">
                <a:latin typeface="Tahoma"/>
                <a:cs typeface="Tahoma"/>
              </a:rPr>
              <a:t>Producer </a:t>
            </a:r>
            <a:r>
              <a:rPr sz="1000" spc="-10" dirty="0">
                <a:latin typeface="Tahoma"/>
                <a:cs typeface="Tahoma"/>
              </a:rPr>
              <a:t>(Mooré)</a:t>
            </a:r>
            <a:endParaRPr sz="1000" dirty="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091334" y="1846031"/>
            <a:ext cx="720090" cy="52705"/>
            <a:chOff x="3278872" y="1744761"/>
            <a:chExt cx="720090" cy="52705"/>
          </a:xfrm>
        </p:grpSpPr>
        <p:sp>
          <p:nvSpPr>
            <p:cNvPr id="21" name="object 21"/>
            <p:cNvSpPr/>
            <p:nvPr/>
          </p:nvSpPr>
          <p:spPr>
            <a:xfrm>
              <a:off x="3278872" y="1771078"/>
              <a:ext cx="687705" cy="0"/>
            </a:xfrm>
            <a:custGeom>
              <a:avLst/>
              <a:gdLst/>
              <a:ahLst/>
              <a:cxnLst/>
              <a:rect l="l" t="t" r="r" b="b"/>
              <a:pathLst>
                <a:path w="687704">
                  <a:moveTo>
                    <a:pt x="0" y="0"/>
                  </a:moveTo>
                  <a:lnTo>
                    <a:pt x="687112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946247" y="1744761"/>
              <a:ext cx="52705" cy="52705"/>
            </a:xfrm>
            <a:custGeom>
              <a:avLst/>
              <a:gdLst/>
              <a:ahLst/>
              <a:cxnLst/>
              <a:rect l="l" t="t" r="r" b="b"/>
              <a:pathLst>
                <a:path w="52704" h="52705">
                  <a:moveTo>
                    <a:pt x="0" y="0"/>
                  </a:moveTo>
                  <a:lnTo>
                    <a:pt x="19737" y="26316"/>
                  </a:lnTo>
                  <a:lnTo>
                    <a:pt x="0" y="52633"/>
                  </a:lnTo>
                  <a:lnTo>
                    <a:pt x="52634" y="263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088149" y="1685193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Translation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2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762250" y="2009509"/>
            <a:ext cx="1513840" cy="2804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94335" marR="5080" indent="-382270">
              <a:lnSpc>
                <a:spcPct val="102600"/>
              </a:lnSpc>
              <a:spcBef>
                <a:spcPts val="55"/>
              </a:spcBef>
            </a:pPr>
            <a:r>
              <a:rPr sz="900" spc="-40" dirty="0">
                <a:latin typeface="Tahoma"/>
                <a:cs typeface="Tahoma"/>
              </a:rPr>
              <a:t>figureTranslation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Flow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for </a:t>
            </a:r>
            <a:r>
              <a:rPr sz="900" spc="-10" dirty="0">
                <a:latin typeface="Tahoma"/>
                <a:cs typeface="Tahoma"/>
              </a:rPr>
              <a:t>Negotiations</a:t>
            </a:r>
            <a:endParaRPr sz="900" dirty="0">
              <a:latin typeface="Tahoma"/>
              <a:cs typeface="Tahoma"/>
            </a:endParaRPr>
          </a:p>
        </p:txBody>
      </p:sp>
      <p:grpSp>
        <p:nvGrpSpPr>
          <p:cNvPr id="26" name="object 11"/>
          <p:cNvGrpSpPr/>
          <p:nvPr/>
        </p:nvGrpSpPr>
        <p:grpSpPr>
          <a:xfrm>
            <a:off x="3834085" y="1565036"/>
            <a:ext cx="711339" cy="421005"/>
            <a:chOff x="2350164" y="1560717"/>
            <a:chExt cx="929005" cy="421005"/>
          </a:xfrm>
        </p:grpSpPr>
        <p:sp>
          <p:nvSpPr>
            <p:cNvPr id="27" name="object 12"/>
            <p:cNvSpPr/>
            <p:nvPr/>
          </p:nvSpPr>
          <p:spPr>
            <a:xfrm>
              <a:off x="2352704" y="1563257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13"/>
            <p:cNvSpPr/>
            <p:nvPr/>
          </p:nvSpPr>
          <p:spPr>
            <a:xfrm>
              <a:off x="2352704" y="1563257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14"/>
          <p:cNvSpPr txBox="1"/>
          <p:nvPr/>
        </p:nvSpPr>
        <p:spPr>
          <a:xfrm>
            <a:off x="3930784" y="1626511"/>
            <a:ext cx="579844" cy="324063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5560" marR="5080" indent="-23495">
              <a:lnSpc>
                <a:spcPct val="102600"/>
              </a:lnSpc>
              <a:spcBef>
                <a:spcPts val="55"/>
              </a:spcBef>
            </a:pPr>
            <a:r>
              <a:rPr sz="1000" spc="-40" dirty="0" smtClean="0">
                <a:latin typeface="Tahoma"/>
                <a:cs typeface="Tahoma"/>
              </a:rPr>
              <a:t>P</a:t>
            </a:r>
            <a:r>
              <a:rPr lang="fr-FR" sz="1000" spc="-40" dirty="0" err="1" smtClean="0">
                <a:latin typeface="Tahoma"/>
                <a:cs typeface="Tahoma"/>
              </a:rPr>
              <a:t>artner</a:t>
            </a:r>
            <a:endParaRPr lang="fr-FR" sz="1000" spc="-40" dirty="0">
              <a:latin typeface="Tahoma"/>
              <a:cs typeface="Tahoma"/>
            </a:endParaRPr>
          </a:p>
          <a:p>
            <a:pPr marL="35560" marR="5080" indent="-23495">
              <a:lnSpc>
                <a:spcPct val="102600"/>
              </a:lnSpc>
              <a:spcBef>
                <a:spcPts val="55"/>
              </a:spcBef>
            </a:pPr>
            <a:r>
              <a:rPr sz="1000" spc="-10" dirty="0" smtClean="0">
                <a:latin typeface="Tahoma"/>
                <a:cs typeface="Tahoma"/>
              </a:rPr>
              <a:t>(</a:t>
            </a:r>
            <a:r>
              <a:rPr lang="fr-FR" sz="1000" spc="-10" dirty="0" err="1" smtClean="0">
                <a:latin typeface="Tahoma"/>
                <a:cs typeface="Tahoma"/>
              </a:rPr>
              <a:t>German</a:t>
            </a:r>
            <a:r>
              <a:rPr sz="1000" spc="-10" dirty="0" smtClean="0">
                <a:latin typeface="Tahoma"/>
                <a:cs typeface="Tahoma"/>
              </a:rPr>
              <a:t>)</a:t>
            </a:r>
            <a:endParaRPr sz="10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59928"/>
            <a:ext cx="2680970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40" dirty="0"/>
              <a:t>Examples</a:t>
            </a:r>
            <a:r>
              <a:rPr spc="-6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Use</a:t>
            </a:r>
            <a:r>
              <a:rPr spc="-55" dirty="0"/>
              <a:t> </a:t>
            </a:r>
            <a:r>
              <a:rPr spc="-55" dirty="0" smtClean="0"/>
              <a:t>Cases</a:t>
            </a:r>
            <a:endParaRPr spc="-2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4911" y="816533"/>
            <a:ext cx="65265" cy="6526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687" y="1158176"/>
            <a:ext cx="52590" cy="5259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34911" y="1638960"/>
            <a:ext cx="65265" cy="6526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4687" y="1980603"/>
            <a:ext cx="52590" cy="525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24687" y="2436088"/>
            <a:ext cx="52590" cy="5259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xfrm>
            <a:off x="392960" y="739938"/>
            <a:ext cx="1798211" cy="2273698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12700" marR="293370">
              <a:lnSpc>
                <a:spcPts val="1200"/>
              </a:lnSpc>
              <a:spcBef>
                <a:spcPts val="229"/>
              </a:spcBef>
            </a:pPr>
            <a:r>
              <a:rPr b="1" dirty="0">
                <a:latin typeface="+mn-lt"/>
              </a:rPr>
              <a:t>Presentations and Trade Fairs</a:t>
            </a:r>
          </a:p>
          <a:p>
            <a:pPr marL="289560">
              <a:lnSpc>
                <a:spcPts val="1200"/>
              </a:lnSpc>
              <a:spcBef>
                <a:spcPts val="150"/>
              </a:spcBef>
            </a:pPr>
            <a:r>
              <a:rPr sz="1000" spc="-30" dirty="0">
                <a:latin typeface="+mn-lt"/>
                <a:cs typeface="Tahoma"/>
              </a:rPr>
              <a:t>Explanations</a:t>
            </a:r>
            <a:r>
              <a:rPr sz="1000" dirty="0">
                <a:latin typeface="+mn-lt"/>
                <a:cs typeface="Tahoma"/>
              </a:rPr>
              <a:t> of </a:t>
            </a:r>
            <a:r>
              <a:rPr sz="1000" spc="-10" dirty="0">
                <a:latin typeface="+mn-lt"/>
                <a:cs typeface="Tahoma"/>
              </a:rPr>
              <a:t>product</a:t>
            </a:r>
            <a:endParaRPr sz="1000" dirty="0">
              <a:latin typeface="+mn-lt"/>
              <a:cs typeface="Tahoma"/>
            </a:endParaRPr>
          </a:p>
          <a:p>
            <a:pPr marL="289560" marR="183515">
              <a:lnSpc>
                <a:spcPts val="1200"/>
              </a:lnSpc>
              <a:spcBef>
                <a:spcPts val="35"/>
              </a:spcBef>
            </a:pPr>
            <a:r>
              <a:rPr sz="1000" spc="-20" dirty="0">
                <a:latin typeface="+mn-lt"/>
                <a:cs typeface="Tahoma"/>
              </a:rPr>
              <a:t>quality</a:t>
            </a:r>
            <a:r>
              <a:rPr sz="1000" spc="-30" dirty="0">
                <a:latin typeface="+mn-lt"/>
                <a:cs typeface="Tahoma"/>
              </a:rPr>
              <a:t> </a:t>
            </a:r>
            <a:r>
              <a:rPr sz="1000" spc="-25" dirty="0">
                <a:latin typeface="+mn-lt"/>
                <a:cs typeface="Tahoma"/>
              </a:rPr>
              <a:t>and origin </a:t>
            </a:r>
            <a:r>
              <a:rPr sz="1000" dirty="0">
                <a:latin typeface="+mn-lt"/>
                <a:cs typeface="Tahoma"/>
              </a:rPr>
              <a:t>at</a:t>
            </a:r>
            <a:r>
              <a:rPr sz="1000" spc="-25" dirty="0">
                <a:latin typeface="+mn-lt"/>
                <a:cs typeface="Tahoma"/>
              </a:rPr>
              <a:t> </a:t>
            </a:r>
            <a:r>
              <a:rPr sz="1000" spc="-30" dirty="0">
                <a:latin typeface="+mn-lt"/>
                <a:cs typeface="Tahoma"/>
              </a:rPr>
              <a:t>trade </a:t>
            </a:r>
            <a:r>
              <a:rPr sz="1000" spc="-10" dirty="0">
                <a:latin typeface="+mn-lt"/>
                <a:cs typeface="Tahoma"/>
              </a:rPr>
              <a:t>shows.</a:t>
            </a:r>
            <a:endParaRPr sz="1000" dirty="0">
              <a:latin typeface="+mn-lt"/>
              <a:cs typeface="Tahoma"/>
            </a:endParaRPr>
          </a:p>
          <a:p>
            <a:pPr marL="12700" marR="455295">
              <a:lnSpc>
                <a:spcPts val="1200"/>
              </a:lnSpc>
              <a:spcBef>
                <a:spcPts val="290"/>
              </a:spcBef>
            </a:pPr>
            <a:r>
              <a:rPr b="1" dirty="0">
                <a:latin typeface="+mn-lt"/>
              </a:rPr>
              <a:t>Customer Service </a:t>
            </a:r>
            <a:r>
              <a:rPr b="1" dirty="0" smtClean="0">
                <a:latin typeface="+mn-lt"/>
              </a:rPr>
              <a:t>and </a:t>
            </a:r>
            <a:r>
              <a:rPr b="1" spc="-10" dirty="0" smtClean="0">
                <a:latin typeface="+mn-lt"/>
              </a:rPr>
              <a:t>Marketing</a:t>
            </a:r>
            <a:endParaRPr b="1" spc="-10" dirty="0">
              <a:latin typeface="+mn-lt"/>
            </a:endParaRPr>
          </a:p>
          <a:p>
            <a:pPr marL="289560" marR="5080">
              <a:lnSpc>
                <a:spcPct val="100000"/>
              </a:lnSpc>
              <a:spcBef>
                <a:spcPts val="155"/>
              </a:spcBef>
            </a:pPr>
            <a:r>
              <a:rPr sz="1000" spc="-35" dirty="0">
                <a:latin typeface="+mn-lt"/>
                <a:cs typeface="Tahoma"/>
              </a:rPr>
              <a:t>Answering</a:t>
            </a:r>
            <a:r>
              <a:rPr sz="1000" spc="-5" dirty="0">
                <a:latin typeface="+mn-lt"/>
                <a:cs typeface="Tahoma"/>
              </a:rPr>
              <a:t> </a:t>
            </a:r>
            <a:r>
              <a:rPr sz="1000" spc="-45" dirty="0">
                <a:latin typeface="+mn-lt"/>
                <a:cs typeface="Tahoma"/>
              </a:rPr>
              <a:t>German</a:t>
            </a:r>
            <a:r>
              <a:rPr sz="1000" dirty="0">
                <a:latin typeface="+mn-lt"/>
                <a:cs typeface="Tahoma"/>
              </a:rPr>
              <a:t> </a:t>
            </a:r>
            <a:r>
              <a:rPr sz="1000" spc="-45" dirty="0">
                <a:latin typeface="+mn-lt"/>
                <a:cs typeface="Tahoma"/>
              </a:rPr>
              <a:t>customers </a:t>
            </a:r>
            <a:r>
              <a:rPr sz="1000" spc="-40" dirty="0">
                <a:latin typeface="+mn-lt"/>
                <a:cs typeface="Tahoma"/>
              </a:rPr>
              <a:t>questions</a:t>
            </a:r>
            <a:r>
              <a:rPr sz="1000" spc="-20" dirty="0">
                <a:latin typeface="+mn-lt"/>
                <a:cs typeface="Tahoma"/>
              </a:rPr>
              <a:t> about </a:t>
            </a:r>
            <a:r>
              <a:rPr sz="1000" spc="-25" dirty="0">
                <a:latin typeface="+mn-lt"/>
                <a:cs typeface="Tahoma"/>
              </a:rPr>
              <a:t>taste</a:t>
            </a:r>
            <a:r>
              <a:rPr sz="1000" spc="-20" dirty="0">
                <a:latin typeface="+mn-lt"/>
                <a:cs typeface="Tahoma"/>
              </a:rPr>
              <a:t> </a:t>
            </a:r>
            <a:r>
              <a:rPr sz="1000" spc="-25" dirty="0">
                <a:latin typeface="+mn-lt"/>
                <a:cs typeface="Tahoma"/>
              </a:rPr>
              <a:t>or </a:t>
            </a:r>
            <a:r>
              <a:rPr sz="1000" spc="-10" dirty="0">
                <a:latin typeface="+mn-lt"/>
                <a:cs typeface="Tahoma"/>
              </a:rPr>
              <a:t>storage.</a:t>
            </a:r>
            <a:endParaRPr sz="1000" dirty="0">
              <a:latin typeface="+mn-lt"/>
              <a:cs typeface="Tahoma"/>
            </a:endParaRPr>
          </a:p>
          <a:p>
            <a:pPr marL="289560" marR="238125">
              <a:lnSpc>
                <a:spcPts val="1200"/>
              </a:lnSpc>
              <a:spcBef>
                <a:spcPts val="25"/>
              </a:spcBef>
            </a:pPr>
            <a:r>
              <a:rPr sz="1000" spc="-25" dirty="0">
                <a:latin typeface="+mn-lt"/>
                <a:cs typeface="Tahoma"/>
              </a:rPr>
              <a:t>Translating</a:t>
            </a:r>
            <a:r>
              <a:rPr sz="1000" spc="-10" dirty="0">
                <a:latin typeface="+mn-lt"/>
                <a:cs typeface="Tahoma"/>
              </a:rPr>
              <a:t> brochures, </a:t>
            </a:r>
            <a:r>
              <a:rPr sz="1000" spc="-45" dirty="0">
                <a:latin typeface="+mn-lt"/>
                <a:cs typeface="Tahoma"/>
              </a:rPr>
              <a:t>slogans,</a:t>
            </a:r>
            <a:r>
              <a:rPr sz="1000" spc="-35" dirty="0">
                <a:latin typeface="+mn-lt"/>
                <a:cs typeface="Tahoma"/>
              </a:rPr>
              <a:t> </a:t>
            </a:r>
            <a:r>
              <a:rPr sz="1000" spc="-25" dirty="0">
                <a:latin typeface="+mn-lt"/>
                <a:cs typeface="Tahoma"/>
              </a:rPr>
              <a:t>and</a:t>
            </a:r>
            <a:r>
              <a:rPr sz="1000" spc="-40" dirty="0">
                <a:latin typeface="+mn-lt"/>
                <a:cs typeface="Tahoma"/>
              </a:rPr>
              <a:t> </a:t>
            </a:r>
            <a:r>
              <a:rPr sz="1000" spc="-20" dirty="0">
                <a:latin typeface="+mn-lt"/>
                <a:cs typeface="Tahoma"/>
              </a:rPr>
              <a:t>promotional </a:t>
            </a:r>
            <a:r>
              <a:rPr sz="1000" spc="-70" dirty="0">
                <a:latin typeface="+mn-lt"/>
                <a:cs typeface="Tahoma"/>
              </a:rPr>
              <a:t>messages</a:t>
            </a:r>
            <a:r>
              <a:rPr sz="1000" spc="-10" dirty="0">
                <a:latin typeface="+mn-lt"/>
                <a:cs typeface="Tahoma"/>
              </a:rPr>
              <a:t> for</a:t>
            </a:r>
            <a:r>
              <a:rPr sz="1000" spc="-40" dirty="0">
                <a:latin typeface="+mn-lt"/>
                <a:cs typeface="Tahoma"/>
              </a:rPr>
              <a:t> </a:t>
            </a:r>
            <a:r>
              <a:rPr sz="1000" spc="-10" dirty="0">
                <a:latin typeface="+mn-lt"/>
                <a:cs typeface="Tahoma"/>
              </a:rPr>
              <a:t>the</a:t>
            </a:r>
            <a:r>
              <a:rPr sz="1000" spc="-20" dirty="0">
                <a:latin typeface="+mn-lt"/>
                <a:cs typeface="Tahoma"/>
              </a:rPr>
              <a:t> </a:t>
            </a:r>
            <a:r>
              <a:rPr sz="1000" spc="-50" dirty="0">
                <a:latin typeface="+mn-lt"/>
                <a:cs typeface="Tahoma"/>
              </a:rPr>
              <a:t>German </a:t>
            </a:r>
            <a:r>
              <a:rPr sz="1000" spc="-10" dirty="0">
                <a:latin typeface="+mn-lt"/>
                <a:cs typeface="Tahoma"/>
              </a:rPr>
              <a:t>market.</a:t>
            </a:r>
            <a:endParaRPr sz="1000" dirty="0">
              <a:latin typeface="+mn-lt"/>
              <a:cs typeface="Tahom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397340" y="1585893"/>
            <a:ext cx="653759" cy="421005"/>
            <a:chOff x="2350164" y="1587489"/>
            <a:chExt cx="929005" cy="421005"/>
          </a:xfrm>
        </p:grpSpPr>
        <p:sp>
          <p:nvSpPr>
            <p:cNvPr id="10" name="object 10"/>
            <p:cNvSpPr/>
            <p:nvPr/>
          </p:nvSpPr>
          <p:spPr>
            <a:xfrm>
              <a:off x="2352704" y="1590029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352704" y="1590029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479427" y="1699955"/>
            <a:ext cx="48958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Product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67050" y="1305197"/>
            <a:ext cx="765810" cy="366395"/>
            <a:chOff x="3253425" y="1226225"/>
            <a:chExt cx="765810" cy="366395"/>
          </a:xfrm>
        </p:grpSpPr>
        <p:sp>
          <p:nvSpPr>
            <p:cNvPr id="23" name="object 23"/>
            <p:cNvSpPr/>
            <p:nvPr/>
          </p:nvSpPr>
          <p:spPr>
            <a:xfrm>
              <a:off x="3258505" y="1241567"/>
              <a:ext cx="730885" cy="346075"/>
            </a:xfrm>
            <a:custGeom>
              <a:avLst/>
              <a:gdLst/>
              <a:ahLst/>
              <a:cxnLst/>
              <a:rect l="l" t="t" r="r" b="b"/>
              <a:pathLst>
                <a:path w="730885" h="346075">
                  <a:moveTo>
                    <a:pt x="0" y="345931"/>
                  </a:moveTo>
                  <a:lnTo>
                    <a:pt x="730825" y="0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960232" y="1226225"/>
              <a:ext cx="59055" cy="47625"/>
            </a:xfrm>
            <a:custGeom>
              <a:avLst/>
              <a:gdLst/>
              <a:ahLst/>
              <a:cxnLst/>
              <a:rect l="l" t="t" r="r" b="b"/>
              <a:pathLst>
                <a:path w="59054" h="47625">
                  <a:moveTo>
                    <a:pt x="0" y="0"/>
                  </a:moveTo>
                  <a:lnTo>
                    <a:pt x="29097" y="15341"/>
                  </a:lnTo>
                  <a:lnTo>
                    <a:pt x="22516" y="47571"/>
                  </a:lnTo>
                  <a:lnTo>
                    <a:pt x="58829" y="12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 rot="20100000">
            <a:off x="3110847" y="1331998"/>
            <a:ext cx="738383" cy="129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900" spc="-40" dirty="0">
                <a:latin typeface="Tahoma"/>
                <a:cs typeface="Tahoma"/>
              </a:rPr>
              <a:t>Presentation</a:t>
            </a:r>
            <a:endParaRPr sz="900" dirty="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106064" y="1895508"/>
            <a:ext cx="765810" cy="366395"/>
            <a:chOff x="3253444" y="2003140"/>
            <a:chExt cx="765810" cy="366395"/>
          </a:xfrm>
        </p:grpSpPr>
        <p:sp>
          <p:nvSpPr>
            <p:cNvPr id="27" name="object 27"/>
            <p:cNvSpPr/>
            <p:nvPr/>
          </p:nvSpPr>
          <p:spPr>
            <a:xfrm>
              <a:off x="3258505" y="2008201"/>
              <a:ext cx="730885" cy="346075"/>
            </a:xfrm>
            <a:custGeom>
              <a:avLst/>
              <a:gdLst/>
              <a:ahLst/>
              <a:cxnLst/>
              <a:rect l="l" t="t" r="r" b="b"/>
              <a:pathLst>
                <a:path w="730885" h="346075">
                  <a:moveTo>
                    <a:pt x="0" y="0"/>
                  </a:moveTo>
                  <a:lnTo>
                    <a:pt x="730825" y="345931"/>
                  </a:lnTo>
                </a:path>
              </a:pathLst>
            </a:custGeom>
            <a:ln w="1012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960232" y="2321903"/>
              <a:ext cx="59055" cy="47625"/>
            </a:xfrm>
            <a:custGeom>
              <a:avLst/>
              <a:gdLst/>
              <a:ahLst/>
              <a:cxnLst/>
              <a:rect l="l" t="t" r="r" b="b"/>
              <a:pathLst>
                <a:path w="59054" h="47625">
                  <a:moveTo>
                    <a:pt x="22516" y="0"/>
                  </a:moveTo>
                  <a:lnTo>
                    <a:pt x="29097" y="32229"/>
                  </a:lnTo>
                  <a:lnTo>
                    <a:pt x="0" y="47571"/>
                  </a:lnTo>
                  <a:lnTo>
                    <a:pt x="58829" y="46302"/>
                  </a:lnTo>
                  <a:lnTo>
                    <a:pt x="22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 rot="1500000">
            <a:off x="3230713" y="2110995"/>
            <a:ext cx="598670" cy="12952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90"/>
              </a:lnSpc>
            </a:pPr>
            <a:r>
              <a:rPr sz="900" spc="-35" dirty="0">
                <a:latin typeface="Tahoma"/>
                <a:cs typeface="Tahoma"/>
              </a:rPr>
              <a:t>Marketing</a:t>
            </a:r>
            <a:endParaRPr sz="900" dirty="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dirty="0"/>
              <a:t>3</a:t>
            </a:fld>
            <a:r>
              <a:rPr spc="-75" dirty="0"/>
              <a:t> </a:t>
            </a:r>
            <a:r>
              <a:rPr dirty="0"/>
              <a:t>/</a:t>
            </a:r>
            <a:r>
              <a:rPr spc="-70" dirty="0"/>
              <a:t> </a:t>
            </a:r>
            <a:r>
              <a:rPr spc="-50" dirty="0"/>
              <a:t>4</a:t>
            </a:r>
          </a:p>
        </p:txBody>
      </p:sp>
      <p:sp>
        <p:nvSpPr>
          <p:cNvPr id="30" name="object 30"/>
          <p:cNvSpPr txBox="1"/>
          <p:nvPr/>
        </p:nvSpPr>
        <p:spPr>
          <a:xfrm>
            <a:off x="2724219" y="2580500"/>
            <a:ext cx="1811020" cy="280461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702310" marR="5080" indent="-690245">
              <a:lnSpc>
                <a:spcPct val="102600"/>
              </a:lnSpc>
              <a:spcBef>
                <a:spcPts val="55"/>
              </a:spcBef>
            </a:pPr>
            <a:r>
              <a:rPr sz="900" spc="-35" dirty="0">
                <a:latin typeface="Tahoma"/>
                <a:cs typeface="Tahoma"/>
              </a:rPr>
              <a:t>figurePromotion</a:t>
            </a:r>
            <a:r>
              <a:rPr sz="900" spc="-20" dirty="0">
                <a:latin typeface="Tahoma"/>
                <a:cs typeface="Tahoma"/>
              </a:rPr>
              <a:t> </a:t>
            </a:r>
            <a:r>
              <a:rPr sz="900" spc="-40" dirty="0">
                <a:latin typeface="Tahoma"/>
                <a:cs typeface="Tahoma"/>
              </a:rPr>
              <a:t>and</a:t>
            </a:r>
            <a:r>
              <a:rPr sz="900" spc="-15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Customer </a:t>
            </a:r>
            <a:r>
              <a:rPr sz="900" spc="-10" dirty="0">
                <a:latin typeface="Tahoma"/>
                <a:cs typeface="Tahoma"/>
              </a:rPr>
              <a:t>Service</a:t>
            </a:r>
            <a:endParaRPr sz="900" dirty="0">
              <a:latin typeface="Tahoma"/>
              <a:cs typeface="Tahoma"/>
            </a:endParaRPr>
          </a:p>
        </p:txBody>
      </p:sp>
      <p:grpSp>
        <p:nvGrpSpPr>
          <p:cNvPr id="32" name="object 9"/>
          <p:cNvGrpSpPr/>
          <p:nvPr/>
        </p:nvGrpSpPr>
        <p:grpSpPr>
          <a:xfrm>
            <a:off x="3912867" y="2121447"/>
            <a:ext cx="593405" cy="421005"/>
            <a:chOff x="2350164" y="1587489"/>
            <a:chExt cx="929005" cy="421005"/>
          </a:xfrm>
        </p:grpSpPr>
        <p:sp>
          <p:nvSpPr>
            <p:cNvPr id="33" name="object 10"/>
            <p:cNvSpPr/>
            <p:nvPr/>
          </p:nvSpPr>
          <p:spPr>
            <a:xfrm>
              <a:off x="2352704" y="1590029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11"/>
            <p:cNvSpPr/>
            <p:nvPr/>
          </p:nvSpPr>
          <p:spPr>
            <a:xfrm>
              <a:off x="2352704" y="1590029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20"/>
          <p:cNvSpPr txBox="1"/>
          <p:nvPr/>
        </p:nvSpPr>
        <p:spPr>
          <a:xfrm>
            <a:off x="3959748" y="2125588"/>
            <a:ext cx="48930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 err="1" smtClean="0">
                <a:latin typeface="Tahoma"/>
                <a:cs typeface="Tahoma"/>
              </a:rPr>
              <a:t>Germa</a:t>
            </a:r>
            <a:r>
              <a:rPr lang="fr-FR" sz="1100" spc="-45" dirty="0" smtClean="0">
                <a:latin typeface="Tahoma"/>
                <a:cs typeface="Tahoma"/>
              </a:rPr>
              <a:t>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9" name="object 21"/>
          <p:cNvSpPr txBox="1"/>
          <p:nvPr/>
        </p:nvSpPr>
        <p:spPr>
          <a:xfrm>
            <a:off x="4020496" y="2306407"/>
            <a:ext cx="359474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0" dirty="0">
                <a:latin typeface="Tahoma"/>
                <a:cs typeface="Tahoma"/>
              </a:rPr>
              <a:t>Client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40" name="object 9"/>
          <p:cNvGrpSpPr/>
          <p:nvPr/>
        </p:nvGrpSpPr>
        <p:grpSpPr>
          <a:xfrm>
            <a:off x="3871907" y="1011210"/>
            <a:ext cx="630193" cy="421005"/>
            <a:chOff x="2350164" y="1587489"/>
            <a:chExt cx="929005" cy="421005"/>
          </a:xfrm>
        </p:grpSpPr>
        <p:sp>
          <p:nvSpPr>
            <p:cNvPr id="41" name="object 10"/>
            <p:cNvSpPr/>
            <p:nvPr/>
          </p:nvSpPr>
          <p:spPr>
            <a:xfrm>
              <a:off x="2352704" y="1590029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solidFill>
              <a:srgbClr val="CCCC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11"/>
            <p:cNvSpPr/>
            <p:nvPr/>
          </p:nvSpPr>
          <p:spPr>
            <a:xfrm>
              <a:off x="2352704" y="1590029"/>
              <a:ext cx="923925" cy="415925"/>
            </a:xfrm>
            <a:custGeom>
              <a:avLst/>
              <a:gdLst/>
              <a:ahLst/>
              <a:cxnLst/>
              <a:rect l="l" t="t" r="r" b="b"/>
              <a:pathLst>
                <a:path w="923925" h="415925">
                  <a:moveTo>
                    <a:pt x="873027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65030"/>
                  </a:lnTo>
                  <a:lnTo>
                    <a:pt x="3977" y="384730"/>
                  </a:lnTo>
                  <a:lnTo>
                    <a:pt x="14823" y="400817"/>
                  </a:lnTo>
                  <a:lnTo>
                    <a:pt x="30910" y="411664"/>
                  </a:lnTo>
                  <a:lnTo>
                    <a:pt x="50610" y="415641"/>
                  </a:lnTo>
                  <a:lnTo>
                    <a:pt x="873027" y="415641"/>
                  </a:lnTo>
                  <a:lnTo>
                    <a:pt x="892727" y="411664"/>
                  </a:lnTo>
                  <a:lnTo>
                    <a:pt x="908814" y="400817"/>
                  </a:lnTo>
                  <a:lnTo>
                    <a:pt x="919660" y="384730"/>
                  </a:lnTo>
                  <a:lnTo>
                    <a:pt x="923637" y="365030"/>
                  </a:lnTo>
                  <a:lnTo>
                    <a:pt x="923637" y="50610"/>
                  </a:lnTo>
                  <a:lnTo>
                    <a:pt x="919660" y="30910"/>
                  </a:lnTo>
                  <a:lnTo>
                    <a:pt x="908814" y="14823"/>
                  </a:lnTo>
                  <a:lnTo>
                    <a:pt x="892727" y="3977"/>
                  </a:lnTo>
                  <a:lnTo>
                    <a:pt x="873027" y="0"/>
                  </a:lnTo>
                  <a:close/>
                </a:path>
              </a:pathLst>
            </a:custGeom>
            <a:ln w="506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16"/>
          <p:cNvSpPr txBox="1"/>
          <p:nvPr/>
        </p:nvSpPr>
        <p:spPr>
          <a:xfrm>
            <a:off x="3920545" y="1120355"/>
            <a:ext cx="516778" cy="18082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Trade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183</TotalTime>
  <Words>150</Words>
  <Application>Microsoft Office PowerPoint</Application>
  <PresentationFormat>Personnalisé</PresentationFormat>
  <Paragraphs>30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8" baseType="lpstr">
      <vt:lpstr>Arial Black</vt:lpstr>
      <vt:lpstr>Calibri</vt:lpstr>
      <vt:lpstr>Tahoma</vt:lpstr>
      <vt:lpstr>Trebuchet MS</vt:lpstr>
      <vt:lpstr>Office Theme</vt:lpstr>
      <vt:lpstr>Expansion: Mooré German Translation (Dried Mangoes Case)</vt:lpstr>
      <vt:lpstr>Examples of Use Cases</vt:lpstr>
      <vt:lpstr>Examples of Use Cases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Expansion: Mooré → German Translation (Dried Mangoes Case)</dc:title>
  <dc:creator>xAI</dc:creator>
  <cp:lastModifiedBy>USER</cp:lastModifiedBy>
  <cp:revision>5</cp:revision>
  <dcterms:created xsi:type="dcterms:W3CDTF">2025-09-18T10:52:09Z</dcterms:created>
  <dcterms:modified xsi:type="dcterms:W3CDTF">2025-09-18T13:56:09Z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2025-09-18T00:00:00Z</vt:filetime>
  </property>
  <property fmtid="{D5CDD505-2E9C-101B-9397-08002B2CF9AE}" pid="3" name="Creator">
    <vt:lpwstr>LaTeX with Beamer class</vt:lpwstr>
  </property>
  <property fmtid="{D5CDD505-2E9C-101B-9397-08002B2CF9AE}" pid="4" name="Producer">
    <vt:lpwstr>xdvipdfmx (20220710)</vt:lpwstr>
  </property>
  <property fmtid="{D5CDD505-2E9C-101B-9397-08002B2CF9AE}" pid="5" name="LastSaved">
    <vt:filetime>2025-09-18T00:00:00Z</vt:filetime>
  </property>
</Properties>
</file>