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C64C2D-920F-9539-9CB0-13CB665495C8}" v="188" dt="2025-10-14T14:12:02.6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63" d="100"/>
          <a:sy n="63" d="100"/>
        </p:scale>
        <p:origin x="61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‹N°›</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10/16/2025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‹N°›</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787F9-6052-29EF-D350-A56B1F72E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8692C9-BB83-594B-3C77-D29DAE1A041A}"/>
              </a:ext>
            </a:extLst>
          </p:cNvPr>
          <p:cNvSpPr>
            <a:spLocks noGrp="1"/>
          </p:cNvSpPr>
          <p:nvPr>
            <p:ph type="title"/>
          </p:nvPr>
        </p:nvSpPr>
        <p:spPr>
          <a:xfrm>
            <a:off x="770165" y="215446"/>
            <a:ext cx="10583635" cy="794885"/>
          </a:xfrm>
        </p:spPr>
        <p:txBody>
          <a:bodyPr>
            <a:noAutofit/>
          </a:bodyPr>
          <a:lstStyle/>
          <a:p>
            <a:pPr algn="ctr"/>
            <a:r>
              <a:rPr lang="en-US" sz="4800" b="1" dirty="0">
                <a:solidFill>
                  <a:srgbClr val="00B0F0"/>
                </a:solidFill>
                <a:latin typeface="Calibri"/>
                <a:ea typeface="Calibri"/>
                <a:cs typeface="Calibri"/>
              </a:rPr>
              <a:t>Project Presentation</a:t>
            </a:r>
            <a:endParaRPr lang="en-US" sz="4800" dirty="0">
              <a:solidFill>
                <a:srgbClr val="00B0F0"/>
              </a:solidFill>
              <a:latin typeface="Calibri"/>
              <a:ea typeface="Calibri"/>
              <a:cs typeface="Calibri"/>
            </a:endParaRPr>
          </a:p>
        </p:txBody>
      </p:sp>
      <p:sp>
        <p:nvSpPr>
          <p:cNvPr id="3" name="Subtitle 2">
            <a:extLst>
              <a:ext uri="{FF2B5EF4-FFF2-40B4-BE49-F238E27FC236}">
                <a16:creationId xmlns:a16="http://schemas.microsoft.com/office/drawing/2014/main" id="{864179FB-9408-D539-51DA-53B6D7236FE9}"/>
              </a:ext>
            </a:extLst>
          </p:cNvPr>
          <p:cNvSpPr>
            <a:spLocks noGrp="1"/>
          </p:cNvSpPr>
          <p:nvPr>
            <p:ph sz="half" idx="1"/>
          </p:nvPr>
        </p:nvSpPr>
        <p:spPr>
          <a:xfrm>
            <a:off x="647700" y="1390196"/>
            <a:ext cx="5821135" cy="4963659"/>
          </a:xfrm>
        </p:spPr>
        <p:txBody>
          <a:bodyPr vert="horz" lIns="91440" tIns="45720" rIns="91440" bIns="45720" rtlCol="0" anchor="t">
            <a:noAutofit/>
          </a:bodyPr>
          <a:lstStyle/>
          <a:p>
            <a:pPr marL="0" indent="0">
              <a:buNone/>
            </a:pPr>
            <a:endParaRPr lang="en-US" dirty="0">
              <a:latin typeface="Calibri"/>
              <a:ea typeface="Calibri"/>
              <a:cs typeface="Calibri"/>
            </a:endParaRPr>
          </a:p>
          <a:p>
            <a:pPr marL="0" indent="0" algn="ctr">
              <a:buNone/>
            </a:pPr>
            <a:r>
              <a:rPr lang="en-US" b="1" u="sng" dirty="0">
                <a:latin typeface="Calibri"/>
                <a:ea typeface="Calibri"/>
                <a:cs typeface="Calibri"/>
              </a:rPr>
              <a:t>Project name</a:t>
            </a:r>
          </a:p>
          <a:p>
            <a:pPr marL="0" indent="0">
              <a:buNone/>
            </a:pPr>
            <a:endParaRPr lang="en-US" dirty="0">
              <a:latin typeface="Calibri"/>
              <a:ea typeface="Calibri"/>
              <a:cs typeface="Calibri"/>
            </a:endParaRPr>
          </a:p>
          <a:p>
            <a:pPr marL="0" indent="0">
              <a:buNone/>
            </a:pPr>
            <a:r>
              <a:rPr lang="en-US" sz="2000" dirty="0"/>
              <a:t>Design and implementation of a mobile application for university </a:t>
            </a:r>
            <a:r>
              <a:rPr lang="en-US" sz="2000"/>
              <a:t>events management</a:t>
            </a:r>
            <a:r>
              <a:rPr lang="en-US" sz="2000">
                <a:latin typeface="Calibri"/>
                <a:ea typeface="Calibri"/>
                <a:cs typeface="Calibri"/>
              </a:rPr>
              <a:t>.</a:t>
            </a:r>
            <a:r>
              <a:rPr lang="en-US" sz="2000" dirty="0">
                <a:latin typeface="Calibri"/>
                <a:ea typeface="Calibri"/>
                <a:cs typeface="Calibri"/>
              </a:rPr>
              <a:t> </a:t>
            </a:r>
            <a:endParaRPr lang="en-US" sz="2000" dirty="0">
              <a:ea typeface="Calibri"/>
              <a:cs typeface="Calibri"/>
            </a:endParaRPr>
          </a:p>
          <a:p>
            <a:pPr marL="0" indent="0" algn="l">
              <a:buNone/>
            </a:pPr>
            <a:endParaRPr lang="en-US" dirty="0"/>
          </a:p>
        </p:txBody>
      </p:sp>
      <p:pic>
        <p:nvPicPr>
          <p:cNvPr id="6" name="Espace réservé du contenu 5">
            <a:extLst>
              <a:ext uri="{FF2B5EF4-FFF2-40B4-BE49-F238E27FC236}">
                <a16:creationId xmlns:a16="http://schemas.microsoft.com/office/drawing/2014/main" id="{277FCB5F-8B66-9D1E-9AC8-50BC84874F79}"/>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43787" y="1390650"/>
            <a:ext cx="4230688" cy="4230688"/>
          </a:xfrm>
          <a:noFill/>
          <a:ln>
            <a:solidFill>
              <a:srgbClr val="00B050"/>
            </a:solidFill>
          </a:ln>
        </p:spPr>
      </p:pic>
      <p:sp>
        <p:nvSpPr>
          <p:cNvPr id="5" name="TextBox 7">
            <a:extLst>
              <a:ext uri="{FF2B5EF4-FFF2-40B4-BE49-F238E27FC236}">
                <a16:creationId xmlns:a16="http://schemas.microsoft.com/office/drawing/2014/main" id="{F77A6FB3-EC43-F492-B870-C8A46B98369F}"/>
              </a:ext>
            </a:extLst>
          </p:cNvPr>
          <p:cNvSpPr txBox="1"/>
          <p:nvPr/>
        </p:nvSpPr>
        <p:spPr>
          <a:xfrm>
            <a:off x="547721" y="2485881"/>
            <a:ext cx="184731" cy="400110"/>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pPr>
            <a:endParaRPr/>
          </a:p>
        </p:txBody>
      </p:sp>
    </p:spTree>
    <p:extLst>
      <p:ext uri="{BB962C8B-B14F-4D97-AF65-F5344CB8AC3E}">
        <p14:creationId xmlns:p14="http://schemas.microsoft.com/office/powerpoint/2010/main" val="1666583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0165" y="215446"/>
            <a:ext cx="10583635" cy="794885"/>
          </a:xfrm>
        </p:spPr>
        <p:txBody>
          <a:bodyPr>
            <a:noAutofit/>
          </a:bodyPr>
          <a:lstStyle/>
          <a:p>
            <a:pPr algn="ctr"/>
            <a:r>
              <a:rPr lang="en-US" sz="4800" b="1" dirty="0">
                <a:solidFill>
                  <a:srgbClr val="00B0F0"/>
                </a:solidFill>
                <a:latin typeface="Calibri"/>
                <a:ea typeface="Calibri"/>
                <a:cs typeface="Calibri"/>
              </a:rPr>
              <a:t>Project Presentation</a:t>
            </a:r>
            <a:endParaRPr lang="en-US" sz="4800" dirty="0">
              <a:solidFill>
                <a:srgbClr val="00B0F0"/>
              </a:solidFill>
              <a:latin typeface="Calibri"/>
              <a:ea typeface="Calibri"/>
              <a:cs typeface="Calibri"/>
            </a:endParaRPr>
          </a:p>
        </p:txBody>
      </p:sp>
      <p:sp>
        <p:nvSpPr>
          <p:cNvPr id="3" name="Subtitle 2"/>
          <p:cNvSpPr>
            <a:spLocks noGrp="1"/>
          </p:cNvSpPr>
          <p:nvPr>
            <p:ph sz="half" idx="1"/>
          </p:nvPr>
        </p:nvSpPr>
        <p:spPr>
          <a:xfrm>
            <a:off x="1623060" y="1471476"/>
            <a:ext cx="8516620" cy="4963659"/>
          </a:xfrm>
        </p:spPr>
        <p:txBody>
          <a:bodyPr vert="horz" lIns="91440" tIns="45720" rIns="91440" bIns="45720" rtlCol="0" anchor="t">
            <a:noAutofit/>
          </a:bodyPr>
          <a:lstStyle/>
          <a:p>
            <a:pPr marL="0" indent="0">
              <a:buNone/>
            </a:pPr>
            <a:endParaRPr lang="en-US" dirty="0">
              <a:latin typeface="Calibri"/>
              <a:ea typeface="Calibri"/>
              <a:cs typeface="Calibri"/>
            </a:endParaRPr>
          </a:p>
          <a:p>
            <a:pPr marL="0" indent="0" algn="ctr">
              <a:buNone/>
            </a:pPr>
            <a:r>
              <a:rPr lang="en-US" sz="2800" b="1" u="sng" dirty="0">
                <a:latin typeface="Calibri"/>
                <a:ea typeface="Calibri"/>
                <a:cs typeface="Calibri"/>
              </a:rPr>
              <a:t>Problem Statement</a:t>
            </a:r>
            <a:endParaRPr lang="en-US" b="1" u="sng" dirty="0"/>
          </a:p>
          <a:p>
            <a:pPr marL="0" indent="0">
              <a:buNone/>
            </a:pPr>
            <a:endParaRPr lang="en-US" dirty="0">
              <a:latin typeface="Calibri"/>
              <a:ea typeface="Calibri"/>
              <a:cs typeface="Calibri"/>
            </a:endParaRPr>
          </a:p>
          <a:p>
            <a:pPr marL="0" indent="0">
              <a:buNone/>
            </a:pPr>
            <a:r>
              <a:rPr lang="en-US" sz="2000" dirty="0"/>
              <a:t>Notwithstanding high diversity and significance of the events organized in universities, their management still can be quite manual, distributed, and inefficient. The result of this situation is a lack of information, poor student participation, and a problem for organizers in planning and monitoring their activities. .How could we design an intuitive and interactive mobile app that would enable the organization, promotional and involvement in university events and with the promised user experience?</a:t>
            </a:r>
            <a:endParaRPr lang="en-US" sz="2000" dirty="0">
              <a:solidFill>
                <a:srgbClr val="00B0F0"/>
              </a:solidFill>
            </a:endParaRPr>
          </a:p>
          <a:p>
            <a:pPr marL="0" indent="0" algn="l">
              <a:buNone/>
            </a:pPr>
            <a:endParaRPr lang="en-US" dirty="0"/>
          </a:p>
        </p:txBody>
      </p:sp>
      <p:sp>
        <p:nvSpPr>
          <p:cNvPr id="5" name="TextBox 7">
            <a:extLst>
              <a:ext uri="{FF2B5EF4-FFF2-40B4-BE49-F238E27FC236}">
                <a16:creationId xmlns:a16="http://schemas.microsoft.com/office/drawing/2014/main" id="{8171F56C-1745-3ACD-AF1A-8ADCFC6094EC}"/>
              </a:ext>
            </a:extLst>
          </p:cNvPr>
          <p:cNvSpPr txBox="1"/>
          <p:nvPr/>
        </p:nvSpPr>
        <p:spPr>
          <a:xfrm>
            <a:off x="547721" y="2485881"/>
            <a:ext cx="184731" cy="400110"/>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pPr>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7CEB5-C474-0056-91F4-0595A9F9D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82A99-3DEB-0D36-D4FC-355A535014A7}"/>
              </a:ext>
            </a:extLst>
          </p:cNvPr>
          <p:cNvSpPr>
            <a:spLocks noGrp="1"/>
          </p:cNvSpPr>
          <p:nvPr>
            <p:ph type="title"/>
          </p:nvPr>
        </p:nvSpPr>
        <p:spPr>
          <a:xfrm>
            <a:off x="770165" y="215446"/>
            <a:ext cx="10583635" cy="794885"/>
          </a:xfrm>
        </p:spPr>
        <p:txBody>
          <a:bodyPr>
            <a:noAutofit/>
          </a:bodyPr>
          <a:lstStyle/>
          <a:p>
            <a:pPr algn="ctr"/>
            <a:r>
              <a:rPr lang="en-US" sz="4800" b="1" dirty="0">
                <a:solidFill>
                  <a:srgbClr val="00B0F0"/>
                </a:solidFill>
                <a:latin typeface="Calibri"/>
                <a:ea typeface="Calibri"/>
                <a:cs typeface="Calibri"/>
              </a:rPr>
              <a:t>Project Presentation</a:t>
            </a:r>
            <a:endParaRPr lang="en-US" sz="4800" dirty="0">
              <a:solidFill>
                <a:srgbClr val="00B0F0"/>
              </a:solidFill>
              <a:latin typeface="Calibri"/>
              <a:ea typeface="Calibri"/>
              <a:cs typeface="Calibri"/>
            </a:endParaRPr>
          </a:p>
        </p:txBody>
      </p:sp>
      <p:sp>
        <p:nvSpPr>
          <p:cNvPr id="3" name="Subtitle 2">
            <a:extLst>
              <a:ext uri="{FF2B5EF4-FFF2-40B4-BE49-F238E27FC236}">
                <a16:creationId xmlns:a16="http://schemas.microsoft.com/office/drawing/2014/main" id="{390B02FD-8E45-1048-8833-F46D86BE1B09}"/>
              </a:ext>
            </a:extLst>
          </p:cNvPr>
          <p:cNvSpPr>
            <a:spLocks noGrp="1"/>
          </p:cNvSpPr>
          <p:nvPr>
            <p:ph sz="half" idx="1"/>
          </p:nvPr>
        </p:nvSpPr>
        <p:spPr>
          <a:xfrm>
            <a:off x="165346" y="1389644"/>
            <a:ext cx="5821135" cy="4963659"/>
          </a:xfrm>
        </p:spPr>
        <p:txBody>
          <a:bodyPr vert="horz" lIns="91440" tIns="45720" rIns="91440" bIns="45720" rtlCol="0" anchor="t">
            <a:noAutofit/>
          </a:bodyPr>
          <a:lstStyle/>
          <a:p>
            <a:pPr marL="0" indent="0" algn="ctr">
              <a:buNone/>
            </a:pPr>
            <a:r>
              <a:rPr lang="en-US" b="1" u="sng" dirty="0">
                <a:latin typeface="Calibri"/>
                <a:ea typeface="Calibri"/>
                <a:cs typeface="Calibri"/>
              </a:rPr>
              <a:t>Innovative Solution </a:t>
            </a:r>
          </a:p>
          <a:p>
            <a:pPr marL="0" indent="0">
              <a:buNone/>
            </a:pPr>
            <a:endParaRPr lang="en-US" sz="2000" dirty="0"/>
          </a:p>
          <a:p>
            <a:pPr marL="0" indent="0">
              <a:buNone/>
            </a:pPr>
            <a:r>
              <a:rPr lang="en-US" sz="2000" dirty="0"/>
              <a:t>The university event management application is a platform designed to help universities to organize, promote, and efficiently manage their academic, cultural, and sports events. It centralizes event information and provides students and staff with quick access to event details. With this solution, students can browse upcoming events, register for those they are interested in, and receive real-time notifications. Organizers can easily plan events, manage registrations, and interact with participants. The application also facilitates inter-university connectivity, allowing students to access events hosted by other institutions.</a:t>
            </a:r>
          </a:p>
          <a:p>
            <a:pPr marL="0" indent="0">
              <a:buNone/>
            </a:pPr>
            <a:endParaRPr lang="en-US" dirty="0">
              <a:latin typeface="Calibri"/>
              <a:ea typeface="Calibri"/>
              <a:cs typeface="Calibri"/>
            </a:endParaRPr>
          </a:p>
          <a:p>
            <a:pPr algn="l"/>
            <a:endParaRPr lang="en-US" sz="2800" dirty="0">
              <a:solidFill>
                <a:srgbClr val="00B0F0"/>
              </a:solidFill>
            </a:endParaRPr>
          </a:p>
          <a:p>
            <a:pPr marL="0" indent="0" algn="l">
              <a:buNone/>
            </a:pPr>
            <a:endParaRPr lang="en-US" dirty="0"/>
          </a:p>
        </p:txBody>
      </p:sp>
      <p:pic>
        <p:nvPicPr>
          <p:cNvPr id="13" name="Espace réservé du contenu 12">
            <a:extLst>
              <a:ext uri="{FF2B5EF4-FFF2-40B4-BE49-F238E27FC236}">
                <a16:creationId xmlns:a16="http://schemas.microsoft.com/office/drawing/2014/main" id="{1A934BF2-081A-99FC-48A5-4D06E0C2EACC}"/>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10211782" y="1390196"/>
            <a:ext cx="1903809" cy="4230688"/>
          </a:xfrm>
          <a:noFill/>
          <a:ln>
            <a:solidFill>
              <a:srgbClr val="00B050"/>
            </a:solidFill>
          </a:ln>
        </p:spPr>
      </p:pic>
      <p:sp>
        <p:nvSpPr>
          <p:cNvPr id="5" name="TextBox 7">
            <a:extLst>
              <a:ext uri="{FF2B5EF4-FFF2-40B4-BE49-F238E27FC236}">
                <a16:creationId xmlns:a16="http://schemas.microsoft.com/office/drawing/2014/main" id="{33021AD5-FB00-12DC-2714-8A3E6569627E}"/>
              </a:ext>
            </a:extLst>
          </p:cNvPr>
          <p:cNvSpPr txBox="1"/>
          <p:nvPr/>
        </p:nvSpPr>
        <p:spPr>
          <a:xfrm>
            <a:off x="547721" y="2485881"/>
            <a:ext cx="184731" cy="400110"/>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pPr>
            <a:endParaRPr/>
          </a:p>
        </p:txBody>
      </p:sp>
      <p:pic>
        <p:nvPicPr>
          <p:cNvPr id="9" name="Image 8">
            <a:extLst>
              <a:ext uri="{FF2B5EF4-FFF2-40B4-BE49-F238E27FC236}">
                <a16:creationId xmlns:a16="http://schemas.microsoft.com/office/drawing/2014/main" id="{DEC8A25C-966D-CCAD-1B6A-B41CE5867B1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05520" y="1389644"/>
            <a:ext cx="1904058" cy="4231240"/>
          </a:xfrm>
          <a:prstGeom prst="rect">
            <a:avLst/>
          </a:prstGeom>
        </p:spPr>
      </p:pic>
      <p:pic>
        <p:nvPicPr>
          <p:cNvPr id="11" name="Image 10">
            <a:extLst>
              <a:ext uri="{FF2B5EF4-FFF2-40B4-BE49-F238E27FC236}">
                <a16:creationId xmlns:a16="http://schemas.microsoft.com/office/drawing/2014/main" id="{B155C35D-BB6D-4294-0AE6-B5BC3417031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08651" y="1389920"/>
            <a:ext cx="1904058" cy="4231240"/>
          </a:xfrm>
          <a:prstGeom prst="rect">
            <a:avLst/>
          </a:prstGeom>
        </p:spPr>
      </p:pic>
    </p:spTree>
    <p:extLst>
      <p:ext uri="{BB962C8B-B14F-4D97-AF65-F5344CB8AC3E}">
        <p14:creationId xmlns:p14="http://schemas.microsoft.com/office/powerpoint/2010/main" val="36626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C1A8D-C4D4-496C-2AD9-704C8012C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CC772-F4EC-690E-A83F-2A0B457EBE18}"/>
              </a:ext>
            </a:extLst>
          </p:cNvPr>
          <p:cNvSpPr>
            <a:spLocks noGrp="1"/>
          </p:cNvSpPr>
          <p:nvPr>
            <p:ph type="title"/>
          </p:nvPr>
        </p:nvSpPr>
        <p:spPr>
          <a:xfrm>
            <a:off x="770165" y="215446"/>
            <a:ext cx="10583635" cy="794885"/>
          </a:xfrm>
        </p:spPr>
        <p:txBody>
          <a:bodyPr>
            <a:noAutofit/>
          </a:bodyPr>
          <a:lstStyle/>
          <a:p>
            <a:pPr algn="ctr"/>
            <a:r>
              <a:rPr lang="en-US" sz="4800" b="1" dirty="0">
                <a:solidFill>
                  <a:srgbClr val="00B0F0"/>
                </a:solidFill>
                <a:latin typeface="Calibri"/>
                <a:ea typeface="Calibri"/>
                <a:cs typeface="Calibri"/>
              </a:rPr>
              <a:t>Project Presentation</a:t>
            </a:r>
            <a:endParaRPr lang="en-US" sz="4800">
              <a:solidFill>
                <a:srgbClr val="00B0F0"/>
              </a:solidFill>
              <a:latin typeface="Calibri"/>
              <a:ea typeface="Calibri"/>
              <a:cs typeface="Calibri"/>
            </a:endParaRPr>
          </a:p>
        </p:txBody>
      </p:sp>
      <p:sp>
        <p:nvSpPr>
          <p:cNvPr id="3" name="Subtitle 2">
            <a:extLst>
              <a:ext uri="{FF2B5EF4-FFF2-40B4-BE49-F238E27FC236}">
                <a16:creationId xmlns:a16="http://schemas.microsoft.com/office/drawing/2014/main" id="{1C1E3367-ADD1-FF84-B050-4F011B941989}"/>
              </a:ext>
            </a:extLst>
          </p:cNvPr>
          <p:cNvSpPr>
            <a:spLocks noGrp="1"/>
          </p:cNvSpPr>
          <p:nvPr>
            <p:ph sz="half" idx="1"/>
          </p:nvPr>
        </p:nvSpPr>
        <p:spPr>
          <a:xfrm>
            <a:off x="647700" y="1390196"/>
            <a:ext cx="5821135" cy="4963659"/>
          </a:xfrm>
        </p:spPr>
        <p:txBody>
          <a:bodyPr vert="horz" lIns="91440" tIns="45720" rIns="91440" bIns="45720" rtlCol="0" anchor="t">
            <a:noAutofit/>
          </a:bodyPr>
          <a:lstStyle/>
          <a:p>
            <a:pPr marL="0" indent="0">
              <a:buNone/>
            </a:pPr>
            <a:endParaRPr lang="en-US" dirty="0">
              <a:latin typeface="Calibri"/>
              <a:ea typeface="Calibri"/>
              <a:cs typeface="Calibri"/>
            </a:endParaRPr>
          </a:p>
          <a:p>
            <a:pPr marL="0" indent="0" algn="ctr">
              <a:buNone/>
            </a:pPr>
            <a:r>
              <a:rPr lang="en-US" sz="2800" b="1" u="sng" dirty="0">
                <a:latin typeface="Calibri"/>
                <a:ea typeface="Calibri"/>
                <a:cs typeface="Calibri"/>
              </a:rPr>
              <a:t>Expected Outcome</a:t>
            </a:r>
          </a:p>
          <a:p>
            <a:pPr marL="0" indent="0">
              <a:buNone/>
            </a:pPr>
            <a:r>
              <a:rPr lang="fr-FR" sz="2000" dirty="0"/>
              <a:t>Intelligent </a:t>
            </a:r>
            <a:r>
              <a:rPr lang="fr-FR" sz="2000" dirty="0" err="1"/>
              <a:t>event</a:t>
            </a:r>
            <a:r>
              <a:rPr lang="fr-FR" sz="2000" dirty="0"/>
              <a:t> </a:t>
            </a:r>
            <a:r>
              <a:rPr lang="fr-FR" sz="2000" dirty="0" err="1"/>
              <a:t>creation</a:t>
            </a:r>
            <a:r>
              <a:rPr lang="fr-FR" sz="2000" dirty="0"/>
              <a:t> assistance, Offline </a:t>
            </a:r>
            <a:r>
              <a:rPr lang="fr-FR" sz="2000" dirty="0" err="1"/>
              <a:t>access</a:t>
            </a:r>
            <a:r>
              <a:rPr lang="fr-FR" sz="2000" dirty="0"/>
              <a:t>,  </a:t>
            </a:r>
            <a:r>
              <a:rPr lang="fr-FR" sz="2000" dirty="0" err="1"/>
              <a:t>Integration</a:t>
            </a:r>
            <a:r>
              <a:rPr lang="fr-FR" sz="2000" dirty="0"/>
              <a:t> </a:t>
            </a:r>
            <a:r>
              <a:rPr lang="fr-FR" sz="2000" dirty="0" err="1"/>
              <a:t>with</a:t>
            </a:r>
            <a:r>
              <a:rPr lang="fr-FR" sz="2000" dirty="0"/>
              <a:t> </a:t>
            </a:r>
            <a:r>
              <a:rPr lang="fr-FR" sz="2000" dirty="0" err="1"/>
              <a:t>university</a:t>
            </a:r>
            <a:r>
              <a:rPr lang="fr-FR" sz="2000" dirty="0"/>
              <a:t>. </a:t>
            </a:r>
            <a:r>
              <a:rPr lang="fr-FR" sz="2000" dirty="0" err="1"/>
              <a:t>databases</a:t>
            </a:r>
            <a:r>
              <a:rPr lang="fr-FR" sz="2000" dirty="0"/>
              <a:t>;</a:t>
            </a:r>
            <a:endParaRPr lang="en-US" sz="2000" dirty="0">
              <a:solidFill>
                <a:srgbClr val="00B0F0"/>
              </a:solidFill>
              <a:latin typeface="Calibri"/>
              <a:ea typeface="Calibri"/>
              <a:cs typeface="Calibri"/>
            </a:endParaRPr>
          </a:p>
          <a:p>
            <a:pPr algn="l"/>
            <a:endParaRPr lang="en-US" sz="2800" dirty="0">
              <a:solidFill>
                <a:srgbClr val="00B0F0"/>
              </a:solidFill>
            </a:endParaRPr>
          </a:p>
          <a:p>
            <a:pPr marL="0" indent="0" algn="l">
              <a:buNone/>
            </a:pPr>
            <a:endParaRPr lang="en-US" dirty="0"/>
          </a:p>
        </p:txBody>
      </p:sp>
      <p:pic>
        <p:nvPicPr>
          <p:cNvPr id="6" name="Espace réservé du contenu 5">
            <a:extLst>
              <a:ext uri="{FF2B5EF4-FFF2-40B4-BE49-F238E27FC236}">
                <a16:creationId xmlns:a16="http://schemas.microsoft.com/office/drawing/2014/main" id="{9C01EA41-1883-20A9-BDD6-EBA5B278BF4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7443787" y="1390650"/>
            <a:ext cx="4230688" cy="4230688"/>
          </a:xfrm>
          <a:noFill/>
          <a:ln>
            <a:solidFill>
              <a:srgbClr val="00B050"/>
            </a:solidFill>
          </a:ln>
        </p:spPr>
      </p:pic>
      <p:sp>
        <p:nvSpPr>
          <p:cNvPr id="5" name="TextBox 7">
            <a:extLst>
              <a:ext uri="{FF2B5EF4-FFF2-40B4-BE49-F238E27FC236}">
                <a16:creationId xmlns:a16="http://schemas.microsoft.com/office/drawing/2014/main" id="{A2EAEAEC-BD46-FEC9-CCC7-1DDFBD20B4A1}"/>
              </a:ext>
            </a:extLst>
          </p:cNvPr>
          <p:cNvSpPr txBox="1"/>
          <p:nvPr/>
        </p:nvSpPr>
        <p:spPr>
          <a:xfrm>
            <a:off x="547721" y="2485881"/>
            <a:ext cx="184731" cy="400110"/>
          </a:xfrm>
          <a:prstGeom prst="rect">
            <a:avLst/>
          </a:prstGeom>
          <a:noFill/>
        </p:spPr>
        <p:txBody>
          <a:bodyPr wrap="none" lIns="91440" tIns="45720" rIns="91440" bIns="4572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000" b="1"/>
            </a:pPr>
            <a:endParaRPr/>
          </a:p>
        </p:txBody>
      </p:sp>
    </p:spTree>
    <p:extLst>
      <p:ext uri="{BB962C8B-B14F-4D97-AF65-F5344CB8AC3E}">
        <p14:creationId xmlns:p14="http://schemas.microsoft.com/office/powerpoint/2010/main" val="1902594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622</TotalTime>
  <Words>223</Words>
  <Application>Microsoft Office PowerPoint</Application>
  <PresentationFormat>Grand écran</PresentationFormat>
  <Paragraphs>19</Paragraphs>
  <Slides>4</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4</vt:i4>
      </vt:variant>
    </vt:vector>
  </HeadingPairs>
  <TitlesOfParts>
    <vt:vector size="9" baseType="lpstr">
      <vt:lpstr>Aptos</vt:lpstr>
      <vt:lpstr>Aptos Display</vt:lpstr>
      <vt:lpstr>Arial</vt:lpstr>
      <vt:lpstr>Calibri</vt:lpstr>
      <vt:lpstr>office theme</vt:lpstr>
      <vt:lpstr>Project Presentation</vt:lpstr>
      <vt:lpstr>Project Presentation</vt:lpstr>
      <vt:lpstr>Project Presentation</vt:lpstr>
      <vt:lpstr>Project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Afiatou Ouedraogo</cp:lastModifiedBy>
  <cp:revision>96</cp:revision>
  <dcterms:created xsi:type="dcterms:W3CDTF">2013-07-15T20:26:40Z</dcterms:created>
  <dcterms:modified xsi:type="dcterms:W3CDTF">2025-10-16T12:18:08Z</dcterms:modified>
</cp:coreProperties>
</file>