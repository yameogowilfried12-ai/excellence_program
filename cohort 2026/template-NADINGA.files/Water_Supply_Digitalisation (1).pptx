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xmlns:a="http://schemas.openxmlformats.org/drawingml/2006/main">
              <a:defRPr sz="1300" b="0" i="0" u="none" strike="noStrike">
                <a:solidFill>
                  <a:srgbClr val="21295C"/>
                </a:solidFill>
                <a:latin typeface="Cambria"/>
              </a:defRPr>
            </a:pPr>
            <a:r xmlns:a="http://schemas.openxmlformats.org/drawingml/2006/main">
              <a:rPr sz="1300" b="0" i="0" u="none" strike="noStrike">
                <a:solidFill>
                  <a:srgbClr val="21295C"/>
                </a:solidFill>
                <a:latin typeface="Cambria"/>
              </a:rPr>
              <a:t>Dry days per year, by region</a:t>
            </a:r>
          </a:p>
        </c:rich>
      </c:tx>
      <c:layout/>
      <c:overlay val="0"/>
    </c:title>
    <c:autoTitleDeleted val="0"/>
    <c:plotArea>
      <c:layout/>
      <c:barChart>
        <c:barDir val="col"/>
        <c:grouping val="clustered"/>
        <c:varyColors val="0"/>
        <c:ser>
          <c:idx val="0"/>
          <c:order val="0"/>
          <c:tx>
            <c:strRef>
              <c:f>Sheet1!$B$1</c:f>
              <c:strCache>
                <c:ptCount val="1"/>
                <c:pt idx="0">
                  <c:v>Jours secs / an</c:v>
                </c:pt>
              </c:strCache>
            </c:strRef>
          </c:tx>
          <c:spPr>
            <a:solidFill>
              <a:srgbClr val="1C7293"/>
            </a:solidFill>
            <a:effectLst/>
          </c:spPr>
          <c:invertIfNegative val="0"/>
          <c:dLbls>
            <c:numFmt formatCode="#,##0" sourceLinked="0"/>
            <c:txPr>
              <a:bodyPr/>
              <a:lstStyle/>
              <a:p>
                <a:pPr>
                  <a:defRPr b="0" i="0" strike="noStrike" sz="1000" u="none">
                    <a:solidFill>
                      <a:srgbClr val="1E2A32"/>
                    </a:solidFill>
                    <a:latin typeface="Arial"/>
                  </a:defRPr>
                </a:pPr>
              </a:p>
            </c:txPr>
            <c:showLegendKey val="0"/>
            <c:showVal val="1"/>
            <c:showCatName val="0"/>
            <c:showSerName val="0"/>
            <c:showPercent val="0"/>
            <c:showBubbleSize val="0"/>
            <c:showLeaderLines val="0"/>
          </c:dLbls>
          <c:cat>
            <c:multiLvlStrRef>
              <c:f>Sheet1!$A$2:$A$6</c:f>
              <c:multiLvlStrCache>
                <c:ptCount val="5"/>
                <c:lvl>
                  <c:pt idx="0">
                    <c:v>Koubri</c:v>
                  </c:pt>
                  <c:pt idx="1">
                    <c:v>Bobo</c:v>
                  </c:pt>
                  <c:pt idx="2">
                    <c:v>Banfora</c:v>
                  </c:pt>
                  <c:pt idx="3">
                    <c:v>Kaya</c:v>
                  </c:pt>
                  <c:pt idx="4">
                    <c:v>Ouahigouya</c:v>
                  </c:pt>
                </c:lvl>
              </c:multiLvlStrCache>
            </c:multiLvlStrRef>
          </c:cat>
          <c:val>
            <c:numRef>
              <c:f>Sheet1!$B$2:$B$6</c:f>
              <c:numCache>
                <c:formatCode>General</c:formatCode>
                <c:ptCount val="5"/>
                <c:pt idx="0">
                  <c:v>245</c:v>
                </c:pt>
                <c:pt idx="1">
                  <c:v>215</c:v>
                </c:pt>
                <c:pt idx="2">
                  <c:v>185</c:v>
                </c:pt>
                <c:pt idx="3">
                  <c:v>275</c:v>
                </c:pt>
                <c:pt idx="4">
                  <c:v>275</c:v>
                </c:pt>
              </c:numCache>
            </c:numRef>
          </c:val>
        </c:ser>
        <c:dLbls>
          <c:numFmt formatCode="#,##0" sourceLinked="0"/>
          <c:txPr>
            <a:bodyPr/>
            <a:lstStyle/>
            <a:p>
              <a:pPr>
                <a:defRPr b="0" i="0" strike="noStrike" sz="1000" u="none">
                  <a:solidFill>
                    <a:srgbClr val="1E2A3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CE4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B6B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xmlns:a="http://schemas.openxmlformats.org/drawingml/2006/main">
              <a:rPr lang="en" dirty="0"/>
              <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869680" y="-1463040"/>
            <a:ext cx="5486400" cy="5486400"/>
          </a:xfrm>
          <a:prstGeom prst="ellipse">
            <a:avLst/>
          </a:prstGeom>
          <a:solidFill>
            <a:srgbClr val="065A82">
              <a:alpha val="45000"/>
            </a:srgbClr>
          </a:solidFill>
          <a:ln/>
        </p:spPr>
      </p:sp>
      <p:sp>
        <p:nvSpPr>
          <p:cNvPr id="3" name="Shape 1"/>
          <p:cNvSpPr/>
          <p:nvPr/>
        </p:nvSpPr>
        <p:spPr>
          <a:xfrm>
            <a:off x="9784080" y="-548640"/>
            <a:ext cx="3657600" cy="3657600"/>
          </a:xfrm>
          <a:prstGeom prst="ellipse">
            <a:avLst/>
          </a:prstGeom>
          <a:solidFill>
            <a:srgbClr val="1C7293">
              <a:alpha val="55000"/>
            </a:srgbClr>
          </a:solidFill>
          <a:ln/>
        </p:spPr>
      </p:sp>
      <p:sp>
        <p:nvSpPr>
          <p:cNvPr id="4" name="Shape 2"/>
          <p:cNvSpPr/>
          <p:nvPr/>
        </p:nvSpPr>
        <p:spPr>
          <a:xfrm>
            <a:off x="-2011680" y="4206240"/>
            <a:ext cx="4572000" cy="4572000"/>
          </a:xfrm>
          <a:prstGeom prst="ellipse">
            <a:avLst/>
          </a:prstGeom>
          <a:solidFill>
            <a:srgbClr val="065A82">
              <a:alpha val="40000"/>
            </a:srgbClr>
          </a:solidFill>
          <a:ln/>
        </p:spPr>
      </p:sp>
      <p:sp>
        <p:nvSpPr>
          <p:cNvPr id="5" name="Text 3"/>
          <p:cNvSpPr/>
          <p:nvPr/>
        </p:nvSpPr>
        <p:spPr>
          <a:xfrm>
            <a:off x="731520" y="2148840"/>
            <a:ext cx="9144000" cy="457200"/>
          </a:xfrm>
          <a:prstGeom prst="rect">
            <a:avLst/>
          </a:prstGeom>
          <a:noFill/>
          <a:ln/>
        </p:spPr>
        <p:txBody>
          <a:bodyPr wrap="square" rtlCol="0" anchor="ctr"/>
          <a:lstStyle/>
          <a:p>
            <a:pPr xmlns:a="http://schemas.openxmlformats.org/drawingml/2006/main" indent="0" marL="0">
              <a:buNone/>
            </a:pPr>
            <a:r xmlns:a="http://schemas.openxmlformats.org/drawingml/2006/main">
              <a:rPr lang="en" sz="1500" b="1" spc="300" kern="0" dirty="0">
                <a:solidFill>
                  <a:srgbClr val="F2A541"/>
                </a:solidFill>
                <a:latin typeface="Calibri" pitchFamily="34" charset="0"/>
                <a:ea typeface="Calibri" pitchFamily="34" charset="-122"/>
                <a:cs typeface="Calibri" pitchFamily="34" charset="-120"/>
              </a:rPr>
              <a:t>WATER SUPPLY</a:t>
            </a:r>
            <a:endParaRPr xmlns:a="http://schemas.openxmlformats.org/drawingml/2006/main" lang="en-US" sz="1500" dirty="0"/>
          </a:p>
        </p:txBody>
      </p:sp>
      <p:sp>
        <p:nvSpPr>
          <p:cNvPr id="6" name="Text 4"/>
          <p:cNvSpPr/>
          <p:nvPr/>
        </p:nvSpPr>
        <p:spPr>
          <a:xfrm>
            <a:off x="713232" y="2514600"/>
            <a:ext cx="9601200" cy="1737360"/>
          </a:xfrm>
          <a:prstGeom prst="rect">
            <a:avLst/>
          </a:prstGeom>
          <a:noFill/>
          <a:ln/>
        </p:spPr>
        <p:txBody>
          <a:bodyPr wrap="square" rtlCol="0" anchor="ctr"/>
          <a:lstStyle/>
          <a:p>
            <a:pPr xmlns:a="http://schemas.openxmlformats.org/drawingml/2006/main" indent="0" marL="0">
              <a:lnSpc>
                <a:spcPts val="4200"/>
              </a:lnSpc>
              <a:buNone/>
            </a:pPr>
            <a:r xmlns:a="http://schemas.openxmlformats.org/drawingml/2006/main">
              <a:rPr lang="en" sz="3800" b="1" dirty="0">
                <a:solidFill>
                  <a:srgbClr val="FFFFFF"/>
                </a:solidFill>
                <a:latin typeface="Cambria" pitchFamily="34" charset="0"/>
                <a:ea typeface="Cambria" pitchFamily="34" charset="-122"/>
                <a:cs typeface="Cambria" pitchFamily="34" charset="-120"/>
              </a:rPr>
              <a:t>Analysis of the 2025 study</a:t>
            </a:r>
            <a:endParaRPr xmlns:a="http://schemas.openxmlformats.org/drawingml/2006/main" lang="en-US" sz="3800" dirty="0"/>
          </a:p>
          <a:p>
            <a:pPr xmlns:a="http://schemas.openxmlformats.org/drawingml/2006/main" indent="0" marL="0">
              <a:lnSpc>
                <a:spcPts val="4200"/>
              </a:lnSpc>
              <a:buNone/>
            </a:pPr>
            <a:r xmlns:a="http://schemas.openxmlformats.org/drawingml/2006/main">
              <a:rPr lang="en" sz="3800" b="1" dirty="0">
                <a:solidFill>
                  <a:srgbClr val="FFFFFF"/>
                </a:solidFill>
                <a:latin typeface="Cambria" pitchFamily="34" charset="0"/>
                <a:ea typeface="Cambria" pitchFamily="34" charset="-122"/>
                <a:cs typeface="Cambria" pitchFamily="34" charset="-120"/>
              </a:rPr>
              <a:t>to the digitalization of the Water module</a:t>
            </a:r>
            <a:endParaRPr xmlns:a="http://schemas.openxmlformats.org/drawingml/2006/main" lang="en-US" sz="3800" dirty="0"/>
          </a:p>
        </p:txBody>
      </p:sp>
      <p:sp>
        <p:nvSpPr>
          <p:cNvPr id="7" name="Text 5"/>
          <p:cNvSpPr/>
          <p:nvPr/>
        </p:nvSpPr>
        <p:spPr>
          <a:xfrm>
            <a:off x="731520" y="4251960"/>
            <a:ext cx="914400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500" dirty="0">
                <a:solidFill>
                  <a:srgbClr val="CADCFC"/>
                </a:solidFill>
                <a:latin typeface="Calibri" pitchFamily="34" charset="0"/>
                <a:ea typeface="Calibri" pitchFamily="34" charset="-122"/>
                <a:cs typeface="Calibri" pitchFamily="34" charset="-120"/>
              </a:rPr>
              <a:t>Sustainable Supply Chain — Dried Mango: Burkina Faso → Germany</a:t>
            </a:r>
            <a:endParaRPr xmlns:a="http://schemas.openxmlformats.org/drawingml/2006/main" lang="en-US" sz="1500" dirty="0"/>
          </a:p>
        </p:txBody>
      </p:sp>
      <p:sp>
        <p:nvSpPr>
          <p:cNvPr id="8" name="Shape 6"/>
          <p:cNvSpPr/>
          <p:nvPr/>
        </p:nvSpPr>
        <p:spPr>
          <a:xfrm>
            <a:off x="731520" y="4800600"/>
            <a:ext cx="2011680" cy="0"/>
          </a:xfrm>
          <a:prstGeom prst="line">
            <a:avLst/>
          </a:prstGeom>
          <a:noFill/>
          <a:ln w="25400">
            <a:solidFill>
              <a:srgbClr val="F2A541"/>
            </a:solidFill>
            <a:prstDash val="solid"/>
          </a:ln>
        </p:spPr>
      </p:sp>
      <p:sp>
        <p:nvSpPr>
          <p:cNvPr id="9" name="Text 7"/>
          <p:cNvSpPr/>
          <p:nvPr/>
        </p:nvSpPr>
        <p:spPr>
          <a:xfrm>
            <a:off x="731520" y="4983480"/>
            <a:ext cx="7315200" cy="320040"/>
          </a:xfrm>
          <a:prstGeom prst="rect">
            <a:avLst/>
          </a:prstGeom>
          <a:noFill/>
          <a:ln/>
        </p:spPr>
        <p:txBody>
          <a:bodyPr wrap="square" rtlCol="0" anchor="ctr"/>
          <a:lstStyle/>
          <a:p>
            <a:pPr xmlns:a="http://schemas.openxmlformats.org/drawingml/2006/main" indent="0" marL="0">
              <a:buNone/>
            </a:pPr>
            <a:r xmlns:a="http://schemas.openxmlformats.org/drawingml/2006/main">
              <a:rPr lang="en" sz="1200" dirty="0">
                <a:solidFill>
                  <a:srgbClr val="9FB3C8"/>
                </a:solidFill>
                <a:latin typeface="Calibri" pitchFamily="34" charset="0"/>
                <a:ea typeface="Calibri" pitchFamily="34" charset="-122"/>
                <a:cs typeface="Calibri" pitchFamily="34" charset="-120"/>
              </a:rPr>
              <a:t>Excellence Program · Infineon / BIT · July 2026</a:t>
            </a:r>
            <a:endParaRPr xmlns:a="http://schemas.openxmlformats.org/drawingml/2006/main"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7315200" cy="640080"/>
          </a:xfrm>
          <a:prstGeom prst="rect">
            <a:avLst/>
          </a:prstGeom>
          <a:noFill/>
          <a:ln/>
        </p:spPr>
        <p:txBody>
          <a:bodyPr wrap="square" rtlCol="0" anchor="ctr"/>
          <a:lstStyle/>
          <a:p>
            <a:pPr xmlns:a="http://schemas.openxmlformats.org/drawingml/2006/main" indent="0" marL="0">
              <a:buNone/>
            </a:pPr>
            <a:r xmlns:a="http://schemas.openxmlformats.org/drawingml/2006/main">
              <a:rPr lang="en" sz="3200" b="1" dirty="0">
                <a:solidFill>
                  <a:srgbClr val="21295C"/>
                </a:solidFill>
                <a:latin typeface="Cambria" pitchFamily="34" charset="0"/>
                <a:ea typeface="Cambria" pitchFamily="34" charset="-122"/>
                <a:cs typeface="Cambria" pitchFamily="34" charset="-120"/>
              </a:rPr>
              <a:t>Diary</a:t>
            </a:r>
            <a:endParaRPr xmlns:a="http://schemas.openxmlformats.org/drawingml/2006/main" lang="en-US" sz="3200" dirty="0"/>
          </a:p>
        </p:txBody>
      </p:sp>
      <p:sp>
        <p:nvSpPr>
          <p:cNvPr id="3" name="Shape 1"/>
          <p:cNvSpPr/>
          <p:nvPr/>
        </p:nvSpPr>
        <p:spPr>
          <a:xfrm>
            <a:off x="822960" y="1828800"/>
            <a:ext cx="777240" cy="777240"/>
          </a:xfrm>
          <a:prstGeom prst="ellipse">
            <a:avLst/>
          </a:prstGeom>
          <a:solidFill>
            <a:srgbClr val="065A82"/>
          </a:solidFill>
          <a:ln/>
        </p:spPr>
      </p:sp>
      <p:sp>
        <p:nvSpPr>
          <p:cNvPr id="4" name="Text 2"/>
          <p:cNvSpPr/>
          <p:nvPr/>
        </p:nvSpPr>
        <p:spPr>
          <a:xfrm>
            <a:off x="822960" y="1828800"/>
            <a:ext cx="777240" cy="777240"/>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2000" b="1" dirty="0">
                <a:solidFill>
                  <a:srgbClr val="FFFFFF"/>
                </a:solidFill>
                <a:latin typeface="Cambria" pitchFamily="34" charset="0"/>
                <a:ea typeface="Cambria" pitchFamily="34" charset="-122"/>
                <a:cs typeface="Cambria" pitchFamily="34" charset="-120"/>
              </a:rPr>
              <a:t>01</a:t>
            </a:r>
            <a:endParaRPr xmlns:a="http://schemas.openxmlformats.org/drawingml/2006/main" lang="en-US" sz="2000" dirty="0"/>
          </a:p>
        </p:txBody>
      </p:sp>
      <p:sp>
        <p:nvSpPr>
          <p:cNvPr id="5" name="Text 3"/>
          <p:cNvSpPr/>
          <p:nvPr/>
        </p:nvSpPr>
        <p:spPr>
          <a:xfrm>
            <a:off x="1920240" y="1783080"/>
            <a:ext cx="8961120" cy="457200"/>
          </a:xfrm>
          <a:prstGeom prst="rect">
            <a:avLst/>
          </a:prstGeom>
          <a:noFill/>
          <a:ln/>
        </p:spPr>
        <p:txBody>
          <a:bodyPr wrap="square" rtlCol="0" anchor="ctr"/>
          <a:lstStyle/>
          <a:p>
            <a:pPr xmlns:a="http://schemas.openxmlformats.org/drawingml/2006/main" indent="0" marL="0">
              <a:buNone/>
            </a:pPr>
            <a:r xmlns:a="http://schemas.openxmlformats.org/drawingml/2006/main">
              <a:rPr lang="en" sz="2100" b="1" dirty="0">
                <a:solidFill>
                  <a:srgbClr val="21295C"/>
                </a:solidFill>
                <a:latin typeface="Cambria" pitchFamily="34" charset="0"/>
                <a:ea typeface="Cambria" pitchFamily="34" charset="-122"/>
                <a:cs typeface="Cambria" pitchFamily="34" charset="-120"/>
              </a:rPr>
              <a:t>Analysis of extracted data</a:t>
            </a:r>
            <a:endParaRPr xmlns:a="http://schemas.openxmlformats.org/drawingml/2006/main" lang="en-US" sz="2100" dirty="0"/>
          </a:p>
        </p:txBody>
      </p:sp>
      <p:sp>
        <p:nvSpPr>
          <p:cNvPr id="6" name="Text 4"/>
          <p:cNvSpPr/>
          <p:nvPr/>
        </p:nvSpPr>
        <p:spPr>
          <a:xfrm>
            <a:off x="1920240" y="2212848"/>
            <a:ext cx="8961120" cy="640080"/>
          </a:xfrm>
          <a:prstGeom prst="rect">
            <a:avLst/>
          </a:prstGeom>
          <a:noFill/>
          <a:ln/>
        </p:spPr>
        <p:txBody>
          <a:bodyPr wrap="square" rtlCol="0" anchor="ctr"/>
          <a:lstStyle/>
          <a:p>
            <a:pPr xmlns:a="http://schemas.openxmlformats.org/drawingml/2006/main" indent="0" marL="0">
              <a:buNone/>
            </a:pPr>
            <a:r xmlns:a="http://schemas.openxmlformats.org/drawingml/2006/main">
              <a:rPr lang="en" sz="1350" dirty="0">
                <a:solidFill>
                  <a:srgbClr val="5B6B72"/>
                </a:solidFill>
                <a:latin typeface="Calibri" pitchFamily="34" charset="0"/>
                <a:ea typeface="Calibri" pitchFamily="34" charset="-122"/>
                <a:cs typeface="Calibri" pitchFamily="34" charset="-120"/>
              </a:rPr>
              <a:t>What the 2025 study tells us about water: seasons, growth stages, regions, equipment</a:t>
            </a:r>
            <a:endParaRPr xmlns:a="http://schemas.openxmlformats.org/drawingml/2006/main" lang="en-US" sz="1350" dirty="0"/>
          </a:p>
        </p:txBody>
      </p:sp>
      <p:sp>
        <p:nvSpPr>
          <p:cNvPr id="7" name="Shape 5"/>
          <p:cNvSpPr/>
          <p:nvPr/>
        </p:nvSpPr>
        <p:spPr>
          <a:xfrm>
            <a:off x="822960" y="3383280"/>
            <a:ext cx="777240" cy="777240"/>
          </a:xfrm>
          <a:prstGeom prst="ellipse">
            <a:avLst/>
          </a:prstGeom>
          <a:solidFill>
            <a:srgbClr val="065A82"/>
          </a:solidFill>
          <a:ln/>
        </p:spPr>
      </p:sp>
      <p:sp>
        <p:nvSpPr>
          <p:cNvPr id="8" name="Text 6"/>
          <p:cNvSpPr/>
          <p:nvPr/>
        </p:nvSpPr>
        <p:spPr>
          <a:xfrm>
            <a:off x="822960" y="3383280"/>
            <a:ext cx="777240" cy="777240"/>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2000" b="1" dirty="0">
                <a:solidFill>
                  <a:srgbClr val="FFFFFF"/>
                </a:solidFill>
                <a:latin typeface="Cambria" pitchFamily="34" charset="0"/>
                <a:ea typeface="Cambria" pitchFamily="34" charset="-122"/>
                <a:cs typeface="Cambria" pitchFamily="34" charset="-120"/>
              </a:rPr>
              <a:t>02</a:t>
            </a:r>
            <a:endParaRPr xmlns:a="http://schemas.openxmlformats.org/drawingml/2006/main" lang="en-US" sz="2000" dirty="0"/>
          </a:p>
        </p:txBody>
      </p:sp>
      <p:sp>
        <p:nvSpPr>
          <p:cNvPr id="9" name="Text 7"/>
          <p:cNvSpPr/>
          <p:nvPr/>
        </p:nvSpPr>
        <p:spPr>
          <a:xfrm>
            <a:off x="1920240" y="3337560"/>
            <a:ext cx="8961120" cy="457200"/>
          </a:xfrm>
          <a:prstGeom prst="rect">
            <a:avLst/>
          </a:prstGeom>
          <a:noFill/>
          <a:ln/>
        </p:spPr>
        <p:txBody>
          <a:bodyPr wrap="square" rtlCol="0" anchor="ctr"/>
          <a:lstStyle/>
          <a:p>
            <a:pPr xmlns:a="http://schemas.openxmlformats.org/drawingml/2006/main" indent="0" marL="0">
              <a:buNone/>
            </a:pPr>
            <a:r xmlns:a="http://schemas.openxmlformats.org/drawingml/2006/main">
              <a:rPr lang="en" sz="2100" b="1" dirty="0">
                <a:solidFill>
                  <a:srgbClr val="21295C"/>
                </a:solidFill>
                <a:latin typeface="Cambria" pitchFamily="34" charset="0"/>
                <a:ea typeface="Cambria" pitchFamily="34" charset="-122"/>
                <a:cs typeface="Cambria" pitchFamily="34" charset="-120"/>
              </a:rPr>
              <a:t>Detailed software database by axis</a:t>
            </a:r>
            <a:endParaRPr xmlns:a="http://schemas.openxmlformats.org/drawingml/2006/main" lang="en-US" sz="2100" dirty="0"/>
          </a:p>
        </p:txBody>
      </p:sp>
      <p:sp>
        <p:nvSpPr>
          <p:cNvPr id="10" name="Text 8"/>
          <p:cNvSpPr/>
          <p:nvPr/>
        </p:nvSpPr>
        <p:spPr>
          <a:xfrm>
            <a:off x="1920240" y="3767328"/>
            <a:ext cx="8961120" cy="640080"/>
          </a:xfrm>
          <a:prstGeom prst="rect">
            <a:avLst/>
          </a:prstGeom>
          <a:noFill/>
          <a:ln/>
        </p:spPr>
        <p:txBody>
          <a:bodyPr wrap="square" rtlCol="0" anchor="ctr"/>
          <a:lstStyle/>
          <a:p>
            <a:pPr xmlns:a="http://schemas.openxmlformats.org/drawingml/2006/main" indent="0" marL="0">
              <a:buNone/>
            </a:pPr>
            <a:r xmlns:a="http://schemas.openxmlformats.org/drawingml/2006/main">
              <a:rPr lang="en" sz="1350" dirty="0">
                <a:solidFill>
                  <a:srgbClr val="5B6B72"/>
                </a:solidFill>
                <a:latin typeface="Calibri" pitchFamily="34" charset="0"/>
                <a:ea typeface="Calibri" pitchFamily="34" charset="-122"/>
                <a:cs typeface="Calibri" pitchFamily="34" charset="-120"/>
              </a:rPr>
              <a:t>For each of the 6 points assigned: objective, reused data, engine logic, inputs/outputs</a:t>
            </a:r>
            <a:endParaRPr xmlns:a="http://schemas.openxmlformats.org/drawingml/2006/main" lang="en-US" sz="1350" dirty="0"/>
          </a:p>
        </p:txBody>
      </p:sp>
      <p:sp>
        <p:nvSpPr>
          <p:cNvPr id="11" name="Text 9"/>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12" name="Text 10"/>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2</a:t>
            </a:r>
            <a:endParaRPr xmlns:a="http://schemas.openxmlformats.org/drawingml/2006/main"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9692640" y="-2011680"/>
            <a:ext cx="6400800" cy="6400800"/>
          </a:xfrm>
          <a:prstGeom prst="ellipse">
            <a:avLst/>
          </a:prstGeom>
          <a:solidFill>
            <a:srgbClr val="1C7293">
              <a:alpha val="45000"/>
            </a:srgbClr>
          </a:solidFill>
          <a:ln/>
        </p:spPr>
      </p:sp>
      <p:sp>
        <p:nvSpPr>
          <p:cNvPr id="3" name="Text 1"/>
          <p:cNvSpPr/>
          <p:nvPr/>
        </p:nvSpPr>
        <p:spPr>
          <a:xfrm>
            <a:off x="731520" y="2331720"/>
            <a:ext cx="2743200" cy="1280160"/>
          </a:xfrm>
          <a:prstGeom prst="rect">
            <a:avLst/>
          </a:prstGeom>
          <a:noFill/>
          <a:ln/>
        </p:spPr>
        <p:txBody>
          <a:bodyPr wrap="square" rtlCol="0" anchor="ctr"/>
          <a:lstStyle/>
          <a:p>
            <a:pPr xmlns:a="http://schemas.openxmlformats.org/drawingml/2006/main" indent="0" marL="0">
              <a:buNone/>
            </a:pPr>
            <a:r xmlns:a="http://schemas.openxmlformats.org/drawingml/2006/main">
              <a:rPr lang="en" sz="9000" b="1" dirty="0">
                <a:solidFill>
                  <a:srgbClr val="3E85A8"/>
                </a:solidFill>
                <a:latin typeface="Cambria" pitchFamily="34" charset="0"/>
                <a:ea typeface="Cambria" pitchFamily="34" charset="-122"/>
                <a:cs typeface="Cambria" pitchFamily="34" charset="-120"/>
              </a:rPr>
              <a:t>01</a:t>
            </a:r>
            <a:endParaRPr xmlns:a="http://schemas.openxmlformats.org/drawingml/2006/main" lang="en-US" sz="9000" dirty="0"/>
          </a:p>
        </p:txBody>
      </p:sp>
      <p:sp>
        <p:nvSpPr>
          <p:cNvPr id="4" name="Text 2"/>
          <p:cNvSpPr/>
          <p:nvPr/>
        </p:nvSpPr>
        <p:spPr>
          <a:xfrm>
            <a:off x="777240" y="3429000"/>
            <a:ext cx="9601200" cy="914400"/>
          </a:xfrm>
          <a:prstGeom prst="rect">
            <a:avLst/>
          </a:prstGeom>
          <a:noFill/>
          <a:ln/>
        </p:spPr>
        <p:txBody>
          <a:bodyPr wrap="square" rtlCol="0" anchor="ctr"/>
          <a:lstStyle/>
          <a:p>
            <a:pPr xmlns:a="http://schemas.openxmlformats.org/drawingml/2006/main" indent="0" marL="0">
              <a:buNone/>
            </a:pPr>
            <a:r xmlns:a="http://schemas.openxmlformats.org/drawingml/2006/main">
              <a:rPr lang="en" sz="3400" b="1" dirty="0">
                <a:solidFill>
                  <a:srgbClr val="FFFFFF"/>
                </a:solidFill>
                <a:latin typeface="Cambria" pitchFamily="34" charset="0"/>
                <a:ea typeface="Cambria" pitchFamily="34" charset="-122"/>
                <a:cs typeface="Cambria" pitchFamily="34" charset="-120"/>
              </a:rPr>
              <a:t>Analysis of extracted data</a:t>
            </a:r>
            <a:endParaRPr xmlns:a="http://schemas.openxmlformats.org/drawingml/2006/main" lang="en-US" sz="3400" dirty="0"/>
          </a:p>
        </p:txBody>
      </p:sp>
      <p:sp>
        <p:nvSpPr>
          <p:cNvPr id="5" name="Text 3"/>
          <p:cNvSpPr/>
          <p:nvPr/>
        </p:nvSpPr>
        <p:spPr>
          <a:xfrm>
            <a:off x="777240" y="4160520"/>
            <a:ext cx="9144000" cy="548640"/>
          </a:xfrm>
          <a:prstGeom prst="rect">
            <a:avLst/>
          </a:prstGeom>
          <a:noFill/>
          <a:ln/>
        </p:spPr>
        <p:txBody>
          <a:bodyPr wrap="square" rtlCol="0" anchor="ctr"/>
          <a:lstStyle/>
          <a:p>
            <a:pPr xmlns:a="http://schemas.openxmlformats.org/drawingml/2006/main" indent="0" marL="0">
              <a:buNone/>
            </a:pPr>
            <a:r xmlns:a="http://schemas.openxmlformats.org/drawingml/2006/main">
              <a:rPr lang="en" sz="1400" dirty="0">
                <a:solidFill>
                  <a:srgbClr val="CADCFC"/>
                </a:solidFill>
                <a:latin typeface="Calibri" pitchFamily="34" charset="0"/>
                <a:ea typeface="Calibri" pitchFamily="34" charset="-122"/>
                <a:cs typeface="Calibri" pitchFamily="34" charset="-120"/>
              </a:rPr>
              <a:t>2025 Study — Previous Cohort: Irrigation, Growth, Regional Climate</a:t>
            </a:r>
            <a:endParaRPr xmlns:a="http://schemas.openxmlformats.org/drawingml/2006/main" lang="en-US" sz="1400" dirty="0"/>
          </a:p>
        </p:txBody>
      </p:sp>
      <p:sp>
        <p:nvSpPr>
          <p:cNvPr id="6" name="Text 4"/>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7" name="Text 5"/>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3</a:t>
            </a:r>
            <a:endParaRPr xmlns:a="http://schemas.openxmlformats.org/drawingml/2006/main"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548640"/>
          </a:xfrm>
          <a:prstGeom prst="rect">
            <a:avLst/>
          </a:prstGeom>
          <a:noFill/>
          <a:ln/>
        </p:spPr>
        <p:txBody>
          <a:bodyPr wrap="square" rtlCol="0" anchor="ctr"/>
          <a:lstStyle/>
          <a:p>
            <a:pPr xmlns:a="http://schemas.openxmlformats.org/drawingml/2006/main" indent="0" marL="0">
              <a:buNone/>
            </a:pPr>
            <a:r xmlns:a="http://schemas.openxmlformats.org/drawingml/2006/main">
              <a:rPr lang="en" sz="2600" b="1" dirty="0">
                <a:solidFill>
                  <a:srgbClr val="21295C"/>
                </a:solidFill>
                <a:latin typeface="Cambria" pitchFamily="34" charset="0"/>
                <a:ea typeface="Cambria" pitchFamily="34" charset="-122"/>
                <a:cs typeface="Cambria" pitchFamily="34" charset="-120"/>
              </a:rPr>
              <a:t>Data maturity level by axis</a:t>
            </a:r>
            <a:endParaRPr xmlns:a="http://schemas.openxmlformats.org/drawingml/2006/main" lang="en-US" sz="2600" dirty="0"/>
          </a:p>
        </p:txBody>
      </p:sp>
      <p:sp>
        <p:nvSpPr>
          <p:cNvPr id="3" name="Text 1"/>
          <p:cNvSpPr/>
          <p:nvPr/>
        </p:nvSpPr>
        <p:spPr>
          <a:xfrm>
            <a:off x="548640" y="868680"/>
            <a:ext cx="1005840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300" dirty="0">
                <a:solidFill>
                  <a:srgbClr val="5B6B72"/>
                </a:solidFill>
                <a:latin typeface="Calibri" pitchFamily="34" charset="0"/>
                <a:ea typeface="Calibri" pitchFamily="34" charset="-122"/>
                <a:cs typeface="Calibri" pitchFamily="34" charset="-120"/>
              </a:rPr>
              <a:t>What the 2025 study leaves us as a legacy, axis by axis</a:t>
            </a:r>
            <a:endParaRPr xmlns:a="http://schemas.openxmlformats.org/drawingml/2006/main" lang="en-US" sz="1300" dirty="0"/>
          </a:p>
        </p:txBody>
      </p:sp>
      <p:sp>
        <p:nvSpPr>
          <p:cNvPr id="4" name="Shape 2"/>
          <p:cNvSpPr/>
          <p:nvPr/>
        </p:nvSpPr>
        <p:spPr>
          <a:xfrm>
            <a:off x="548640" y="1417320"/>
            <a:ext cx="11064240" cy="749808"/>
          </a:xfrm>
          <a:prstGeom prst="rect">
            <a:avLst/>
          </a:prstGeom>
          <a:solidFill>
            <a:srgbClr val="F4F8F9"/>
          </a:solidFill>
          <a:ln/>
        </p:spPr>
      </p:sp>
      <p:sp>
        <p:nvSpPr>
          <p:cNvPr id="5" name="Text 3"/>
          <p:cNvSpPr/>
          <p:nvPr/>
        </p:nvSpPr>
        <p:spPr>
          <a:xfrm>
            <a:off x="777240" y="1417320"/>
            <a:ext cx="5943600" cy="749808"/>
          </a:xfrm>
          <a:prstGeom prst="rect">
            <a:avLst/>
          </a:prstGeom>
          <a:noFill/>
          <a:ln/>
        </p:spPr>
        <p:txBody>
          <a:bodyPr wrap="square" rtlCol="0" anchor="ctr"/>
          <a:lstStyle/>
          <a:p>
            <a:pPr xmlns:a="http://schemas.openxmlformats.org/drawingml/2006/main" indent="0" marL="0">
              <a:buNone/>
            </a:pPr>
            <a:r xmlns:a="http://schemas.openxmlformats.org/drawingml/2006/main">
              <a:rPr lang="en" sz="1350" b="1" dirty="0">
                <a:solidFill>
                  <a:srgbClr val="1E2A32"/>
                </a:solidFill>
                <a:latin typeface="Calibri" pitchFamily="34" charset="0"/>
                <a:ea typeface="Calibri" pitchFamily="34" charset="-122"/>
                <a:cs typeface="Calibri" pitchFamily="34" charset="-120"/>
              </a:rPr>
              <a:t>Irrigation scheduling &amp; automation</a:t>
            </a:r>
            <a:endParaRPr xmlns:a="http://schemas.openxmlformats.org/drawingml/2006/main" lang="en-US" sz="1350" dirty="0"/>
          </a:p>
        </p:txBody>
      </p:sp>
      <p:sp>
        <p:nvSpPr>
          <p:cNvPr id="6" name="Shape 4"/>
          <p:cNvSpPr/>
          <p:nvPr/>
        </p:nvSpPr>
        <p:spPr>
          <a:xfrm>
            <a:off x="6949440" y="1618488"/>
            <a:ext cx="1188720" cy="347472"/>
          </a:xfrm>
          <a:prstGeom prst="roundRect">
            <a:avLst>
              <a:gd name="adj" fmla="val 21053"/>
            </a:avLst>
          </a:prstGeom>
          <a:solidFill>
            <a:srgbClr val="2E7D32"/>
          </a:solidFill>
          <a:ln/>
        </p:spPr>
      </p:sp>
      <p:sp>
        <p:nvSpPr>
          <p:cNvPr id="7" name="Text 5"/>
          <p:cNvSpPr/>
          <p:nvPr/>
        </p:nvSpPr>
        <p:spPr>
          <a:xfrm>
            <a:off x="6949440" y="1618488"/>
            <a:ext cx="1188720" cy="347472"/>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1150" b="1" dirty="0">
                <a:solidFill>
                  <a:srgbClr val="FFFFFF"/>
                </a:solidFill>
                <a:latin typeface="Calibri" pitchFamily="34" charset="0"/>
                <a:ea typeface="Calibri" pitchFamily="34" charset="-122"/>
                <a:cs typeface="Calibri" pitchFamily="34" charset="-120"/>
              </a:rPr>
              <a:t>Pupil</a:t>
            </a:r>
            <a:endParaRPr xmlns:a="http://schemas.openxmlformats.org/drawingml/2006/main" lang="en-US" sz="1150" dirty="0"/>
          </a:p>
        </p:txBody>
      </p:sp>
      <p:sp>
        <p:nvSpPr>
          <p:cNvPr id="8" name="Text 6"/>
          <p:cNvSpPr/>
          <p:nvPr/>
        </p:nvSpPr>
        <p:spPr>
          <a:xfrm>
            <a:off x="8366760" y="1417320"/>
            <a:ext cx="3108960" cy="749808"/>
          </a:xfrm>
          <a:prstGeom prst="rect">
            <a:avLst/>
          </a:prstGeom>
          <a:noFill/>
          <a:ln/>
        </p:spPr>
        <p:txBody>
          <a:bodyPr wrap="square" rtlCol="0" anchor="ctr"/>
          <a:lstStyle/>
          <a:p>
            <a:pPr xmlns:a="http://schemas.openxmlformats.org/drawingml/2006/main" indent="0" marL="0">
              <a:buNone/>
            </a:pPr>
            <a:r xmlns:a="http://schemas.openxmlformats.org/drawingml/2006/main">
              <a:rPr lang="en" sz="1150" i="1" dirty="0">
                <a:solidFill>
                  <a:srgbClr val="5B6B72"/>
                </a:solidFill>
                <a:latin typeface="Calibri" pitchFamily="34" charset="0"/>
                <a:ea typeface="Calibri" pitchFamily="34" charset="-122"/>
                <a:cs typeface="Calibri" pitchFamily="34" charset="-120"/>
              </a:rPr>
              <a:t>Seasons and growth stages already quantified</a:t>
            </a:r>
            <a:endParaRPr xmlns:a="http://schemas.openxmlformats.org/drawingml/2006/main" lang="en-US" sz="1150" dirty="0"/>
          </a:p>
        </p:txBody>
      </p:sp>
      <p:sp>
        <p:nvSpPr>
          <p:cNvPr id="9" name="Shape 7"/>
          <p:cNvSpPr/>
          <p:nvPr/>
        </p:nvSpPr>
        <p:spPr>
          <a:xfrm>
            <a:off x="548640" y="2240280"/>
            <a:ext cx="11064240" cy="749808"/>
          </a:xfrm>
          <a:prstGeom prst="rect">
            <a:avLst/>
          </a:prstGeom>
          <a:solidFill>
            <a:srgbClr val="FFFFFF"/>
          </a:solidFill>
          <a:ln/>
        </p:spPr>
      </p:sp>
      <p:sp>
        <p:nvSpPr>
          <p:cNvPr id="10" name="Text 8"/>
          <p:cNvSpPr/>
          <p:nvPr/>
        </p:nvSpPr>
        <p:spPr>
          <a:xfrm>
            <a:off x="777240" y="2240280"/>
            <a:ext cx="5943600" cy="749808"/>
          </a:xfrm>
          <a:prstGeom prst="rect">
            <a:avLst/>
          </a:prstGeom>
          <a:noFill/>
          <a:ln/>
        </p:spPr>
        <p:txBody>
          <a:bodyPr wrap="square" rtlCol="0" anchor="ctr"/>
          <a:lstStyle/>
          <a:p>
            <a:pPr xmlns:a="http://schemas.openxmlformats.org/drawingml/2006/main" indent="0" marL="0">
              <a:buNone/>
            </a:pPr>
            <a:r xmlns:a="http://schemas.openxmlformats.org/drawingml/2006/main">
              <a:rPr lang="en" sz="1350" b="1" dirty="0">
                <a:solidFill>
                  <a:srgbClr val="1E2A32"/>
                </a:solidFill>
                <a:latin typeface="Calibri" pitchFamily="34" charset="0"/>
                <a:ea typeface="Calibri" pitchFamily="34" charset="-122"/>
                <a:cs typeface="Calibri" pitchFamily="34" charset="-120"/>
              </a:rPr>
              <a:t>Water consumption tracking</a:t>
            </a:r>
            <a:endParaRPr xmlns:a="http://schemas.openxmlformats.org/drawingml/2006/main" lang="en-US" sz="1350" dirty="0"/>
          </a:p>
        </p:txBody>
      </p:sp>
      <p:sp>
        <p:nvSpPr>
          <p:cNvPr id="11" name="Shape 9"/>
          <p:cNvSpPr/>
          <p:nvPr/>
        </p:nvSpPr>
        <p:spPr>
          <a:xfrm>
            <a:off x="6949440" y="2441448"/>
            <a:ext cx="1188720" cy="347472"/>
          </a:xfrm>
          <a:prstGeom prst="roundRect">
            <a:avLst>
              <a:gd name="adj" fmla="val 21053"/>
            </a:avLst>
          </a:prstGeom>
          <a:solidFill>
            <a:srgbClr val="D98E2B"/>
          </a:solidFill>
          <a:ln/>
        </p:spPr>
      </p:sp>
      <p:sp>
        <p:nvSpPr>
          <p:cNvPr id="12" name="Text 10"/>
          <p:cNvSpPr/>
          <p:nvPr/>
        </p:nvSpPr>
        <p:spPr>
          <a:xfrm>
            <a:off x="6949440" y="2441448"/>
            <a:ext cx="1188720" cy="347472"/>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1150" b="1" dirty="0">
                <a:solidFill>
                  <a:srgbClr val="FFFFFF"/>
                </a:solidFill>
                <a:latin typeface="Calibri" pitchFamily="34" charset="0"/>
                <a:ea typeface="Calibri" pitchFamily="34" charset="-122"/>
                <a:cs typeface="Calibri" pitchFamily="34" charset="-120"/>
              </a:rPr>
              <a:t>AVERAGE</a:t>
            </a:r>
            <a:endParaRPr xmlns:a="http://schemas.openxmlformats.org/drawingml/2006/main" lang="en-US" sz="1150" dirty="0"/>
          </a:p>
        </p:txBody>
      </p:sp>
      <p:sp>
        <p:nvSpPr>
          <p:cNvPr id="13" name="Text 11"/>
          <p:cNvSpPr/>
          <p:nvPr/>
        </p:nvSpPr>
        <p:spPr>
          <a:xfrm>
            <a:off x="8366760" y="2240280"/>
            <a:ext cx="3108960" cy="749808"/>
          </a:xfrm>
          <a:prstGeom prst="rect">
            <a:avLst/>
          </a:prstGeom>
          <a:noFill/>
          <a:ln/>
        </p:spPr>
        <p:txBody>
          <a:bodyPr wrap="square" rtlCol="0" anchor="ctr"/>
          <a:lstStyle/>
          <a:p>
            <a:pPr xmlns:a="http://schemas.openxmlformats.org/drawingml/2006/main" indent="0" marL="0">
              <a:buNone/>
            </a:pPr>
            <a:r xmlns:a="http://schemas.openxmlformats.org/drawingml/2006/main">
              <a:rPr lang="en" sz="1150" i="1" dirty="0">
                <a:solidFill>
                  <a:srgbClr val="5B6B72"/>
                </a:solidFill>
                <a:latin typeface="Calibri" pitchFamily="34" charset="0"/>
                <a:ea typeface="Calibri" pitchFamily="34" charset="-122"/>
                <a:cs typeface="Calibri" pitchFamily="34" charset="-120"/>
              </a:rPr>
              <a:t>Theoretical references only, no actual data</a:t>
            </a:r>
            <a:endParaRPr xmlns:a="http://schemas.openxmlformats.org/drawingml/2006/main" lang="en-US" sz="1150" dirty="0"/>
          </a:p>
        </p:txBody>
      </p:sp>
      <p:sp>
        <p:nvSpPr>
          <p:cNvPr id="14" name="Shape 12"/>
          <p:cNvSpPr/>
          <p:nvPr/>
        </p:nvSpPr>
        <p:spPr>
          <a:xfrm>
            <a:off x="548640" y="3063240"/>
            <a:ext cx="11064240" cy="749808"/>
          </a:xfrm>
          <a:prstGeom prst="rect">
            <a:avLst/>
          </a:prstGeom>
          <a:solidFill>
            <a:srgbClr val="F4F8F9"/>
          </a:solidFill>
          <a:ln/>
        </p:spPr>
      </p:sp>
      <p:sp>
        <p:nvSpPr>
          <p:cNvPr id="15" name="Text 13"/>
          <p:cNvSpPr/>
          <p:nvPr/>
        </p:nvSpPr>
        <p:spPr>
          <a:xfrm>
            <a:off x="777240" y="3063240"/>
            <a:ext cx="5943600" cy="749808"/>
          </a:xfrm>
          <a:prstGeom prst="rect">
            <a:avLst/>
          </a:prstGeom>
          <a:noFill/>
          <a:ln/>
        </p:spPr>
        <p:txBody>
          <a:bodyPr wrap="square" rtlCol="0" anchor="ctr"/>
          <a:lstStyle/>
          <a:p>
            <a:pPr xmlns:a="http://schemas.openxmlformats.org/drawingml/2006/main" indent="0" marL="0">
              <a:buNone/>
            </a:pPr>
            <a:r xmlns:a="http://schemas.openxmlformats.org/drawingml/2006/main">
              <a:rPr lang="en" sz="1350" b="1" dirty="0">
                <a:solidFill>
                  <a:srgbClr val="1E2A32"/>
                </a:solidFill>
                <a:latin typeface="Calibri" pitchFamily="34" charset="0"/>
                <a:ea typeface="Calibri" pitchFamily="34" charset="-122"/>
                <a:cs typeface="Calibri" pitchFamily="34" charset="-120"/>
              </a:rPr>
              <a:t>Rainwater harvesting monitoring</a:t>
            </a:r>
            <a:endParaRPr xmlns:a="http://schemas.openxmlformats.org/drawingml/2006/main" lang="en-US" sz="1350" dirty="0"/>
          </a:p>
        </p:txBody>
      </p:sp>
      <p:sp>
        <p:nvSpPr>
          <p:cNvPr id="16" name="Shape 14"/>
          <p:cNvSpPr/>
          <p:nvPr/>
        </p:nvSpPr>
        <p:spPr>
          <a:xfrm>
            <a:off x="6949440" y="3264408"/>
            <a:ext cx="1188720" cy="347472"/>
          </a:xfrm>
          <a:prstGeom prst="roundRect">
            <a:avLst>
              <a:gd name="adj" fmla="val 21053"/>
            </a:avLst>
          </a:prstGeom>
          <a:solidFill>
            <a:srgbClr val="D9822B"/>
          </a:solidFill>
          <a:ln/>
        </p:spPr>
      </p:sp>
      <p:sp>
        <p:nvSpPr>
          <p:cNvPr id="17" name="Text 15"/>
          <p:cNvSpPr/>
          <p:nvPr/>
        </p:nvSpPr>
        <p:spPr>
          <a:xfrm>
            <a:off x="6949440" y="3264408"/>
            <a:ext cx="1188720" cy="347472"/>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1150" b="1" dirty="0">
                <a:solidFill>
                  <a:srgbClr val="FFFFFF"/>
                </a:solidFill>
                <a:latin typeface="Calibri" pitchFamily="34" charset="0"/>
                <a:ea typeface="Calibri" pitchFamily="34" charset="-122"/>
                <a:cs typeface="Calibri" pitchFamily="34" charset="-120"/>
              </a:rPr>
              <a:t>Weak</a:t>
            </a:r>
            <a:endParaRPr xmlns:a="http://schemas.openxmlformats.org/drawingml/2006/main" lang="en-US" sz="1150" dirty="0"/>
          </a:p>
        </p:txBody>
      </p:sp>
      <p:sp>
        <p:nvSpPr>
          <p:cNvPr id="18" name="Text 16"/>
          <p:cNvSpPr/>
          <p:nvPr/>
        </p:nvSpPr>
        <p:spPr>
          <a:xfrm>
            <a:off x="8366760" y="3063240"/>
            <a:ext cx="3108960" cy="749808"/>
          </a:xfrm>
          <a:prstGeom prst="rect">
            <a:avLst/>
          </a:prstGeom>
          <a:noFill/>
          <a:ln/>
        </p:spPr>
        <p:txBody>
          <a:bodyPr wrap="square" rtlCol="0" anchor="ctr"/>
          <a:lstStyle/>
          <a:p>
            <a:pPr xmlns:a="http://schemas.openxmlformats.org/drawingml/2006/main" indent="0" marL="0">
              <a:buNone/>
            </a:pPr>
            <a:r xmlns:a="http://schemas.openxmlformats.org/drawingml/2006/main">
              <a:rPr lang="en" sz="1150" i="1" dirty="0">
                <a:solidFill>
                  <a:srgbClr val="5B6B72"/>
                </a:solidFill>
                <a:latin typeface="Calibri" pitchFamily="34" charset="0"/>
                <a:ea typeface="Calibri" pitchFamily="34" charset="-122"/>
                <a:cs typeface="Calibri" pitchFamily="34" charset="-120"/>
              </a:rPr>
              <a:t>Only regional rainfall is known</a:t>
            </a:r>
            <a:endParaRPr xmlns:a="http://schemas.openxmlformats.org/drawingml/2006/main" lang="en-US" sz="1150" dirty="0"/>
          </a:p>
        </p:txBody>
      </p:sp>
      <p:sp>
        <p:nvSpPr>
          <p:cNvPr id="19" name="Shape 17"/>
          <p:cNvSpPr/>
          <p:nvPr/>
        </p:nvSpPr>
        <p:spPr>
          <a:xfrm>
            <a:off x="548640" y="3886200"/>
            <a:ext cx="11064240" cy="749808"/>
          </a:xfrm>
          <a:prstGeom prst="rect">
            <a:avLst/>
          </a:prstGeom>
          <a:solidFill>
            <a:srgbClr val="FFFFFF"/>
          </a:solidFill>
          <a:ln/>
        </p:spPr>
      </p:sp>
      <p:sp>
        <p:nvSpPr>
          <p:cNvPr id="20" name="Text 18"/>
          <p:cNvSpPr/>
          <p:nvPr/>
        </p:nvSpPr>
        <p:spPr>
          <a:xfrm>
            <a:off x="777240" y="3886200"/>
            <a:ext cx="5943600" cy="749808"/>
          </a:xfrm>
          <a:prstGeom prst="rect">
            <a:avLst/>
          </a:prstGeom>
          <a:noFill/>
          <a:ln/>
        </p:spPr>
        <p:txBody>
          <a:bodyPr wrap="square" rtlCol="0" anchor="ctr"/>
          <a:lstStyle/>
          <a:p>
            <a:pPr xmlns:a="http://schemas.openxmlformats.org/drawingml/2006/main" indent="0" marL="0">
              <a:buNone/>
            </a:pPr>
            <a:r xmlns:a="http://schemas.openxmlformats.org/drawingml/2006/main">
              <a:rPr lang="en" sz="1350" b="1" dirty="0">
                <a:solidFill>
                  <a:srgbClr val="1E2A32"/>
                </a:solidFill>
                <a:latin typeface="Calibri" pitchFamily="34" charset="0"/>
                <a:ea typeface="Calibri" pitchFamily="34" charset="-122"/>
                <a:cs typeface="Calibri" pitchFamily="34" charset="-120"/>
              </a:rPr>
              <a:t>Drip irrigation mgmt</a:t>
            </a:r>
            <a:endParaRPr xmlns:a="http://schemas.openxmlformats.org/drawingml/2006/main" lang="en-US" sz="1350" dirty="0"/>
          </a:p>
        </p:txBody>
      </p:sp>
      <p:sp>
        <p:nvSpPr>
          <p:cNvPr id="21" name="Shape 19"/>
          <p:cNvSpPr/>
          <p:nvPr/>
        </p:nvSpPr>
        <p:spPr>
          <a:xfrm>
            <a:off x="6949440" y="4087368"/>
            <a:ext cx="1188720" cy="347472"/>
          </a:xfrm>
          <a:prstGeom prst="roundRect">
            <a:avLst>
              <a:gd name="adj" fmla="val 21053"/>
            </a:avLst>
          </a:prstGeom>
          <a:solidFill>
            <a:srgbClr val="D98E2B"/>
          </a:solidFill>
          <a:ln/>
        </p:spPr>
      </p:sp>
      <p:sp>
        <p:nvSpPr>
          <p:cNvPr id="22" name="Text 20"/>
          <p:cNvSpPr/>
          <p:nvPr/>
        </p:nvSpPr>
        <p:spPr>
          <a:xfrm>
            <a:off x="6949440" y="4087368"/>
            <a:ext cx="1188720" cy="347472"/>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1150" b="1" dirty="0">
                <a:solidFill>
                  <a:srgbClr val="FFFFFF"/>
                </a:solidFill>
                <a:latin typeface="Calibri" pitchFamily="34" charset="0"/>
                <a:ea typeface="Calibri" pitchFamily="34" charset="-122"/>
                <a:cs typeface="Calibri" pitchFamily="34" charset="-120"/>
              </a:rPr>
              <a:t>AVERAGE</a:t>
            </a:r>
            <a:endParaRPr xmlns:a="http://schemas.openxmlformats.org/drawingml/2006/main" lang="en-US" sz="1150" dirty="0"/>
          </a:p>
        </p:txBody>
      </p:sp>
      <p:sp>
        <p:nvSpPr>
          <p:cNvPr id="23" name="Text 21"/>
          <p:cNvSpPr/>
          <p:nvPr/>
        </p:nvSpPr>
        <p:spPr>
          <a:xfrm>
            <a:off x="8366760" y="3886200"/>
            <a:ext cx="3108960" cy="749808"/>
          </a:xfrm>
          <a:prstGeom prst="rect">
            <a:avLst/>
          </a:prstGeom>
          <a:noFill/>
          <a:ln/>
        </p:spPr>
        <p:txBody>
          <a:bodyPr wrap="square" rtlCol="0" anchor="ctr"/>
          <a:lstStyle/>
          <a:p>
            <a:pPr xmlns:a="http://schemas.openxmlformats.org/drawingml/2006/main" indent="0" marL="0">
              <a:buNone/>
            </a:pPr>
            <a:r xmlns:a="http://schemas.openxmlformats.org/drawingml/2006/main">
              <a:rPr lang="en" sz="1150" i="1" dirty="0">
                <a:solidFill>
                  <a:srgbClr val="5B6B72"/>
                </a:solidFill>
                <a:latin typeface="Calibri" pitchFamily="34" charset="0"/>
                <a:ea typeface="Calibri" pitchFamily="34" charset="-122"/>
                <a:cs typeface="Calibri" pitchFamily="34" charset="-120"/>
              </a:rPr>
              <a:t>Equipment identified, no piloting</a:t>
            </a:r>
            <a:endParaRPr xmlns:a="http://schemas.openxmlformats.org/drawingml/2006/main" lang="en-US" sz="1150" dirty="0"/>
          </a:p>
        </p:txBody>
      </p:sp>
      <p:sp>
        <p:nvSpPr>
          <p:cNvPr id="24" name="Shape 22"/>
          <p:cNvSpPr/>
          <p:nvPr/>
        </p:nvSpPr>
        <p:spPr>
          <a:xfrm>
            <a:off x="548640" y="4709160"/>
            <a:ext cx="11064240" cy="749808"/>
          </a:xfrm>
          <a:prstGeom prst="rect">
            <a:avLst/>
          </a:prstGeom>
          <a:solidFill>
            <a:srgbClr val="F4F8F9"/>
          </a:solidFill>
          <a:ln/>
        </p:spPr>
      </p:sp>
      <p:sp>
        <p:nvSpPr>
          <p:cNvPr id="25" name="Text 23"/>
          <p:cNvSpPr/>
          <p:nvPr/>
        </p:nvSpPr>
        <p:spPr>
          <a:xfrm>
            <a:off x="777240" y="4709160"/>
            <a:ext cx="5943600" cy="749808"/>
          </a:xfrm>
          <a:prstGeom prst="rect">
            <a:avLst/>
          </a:prstGeom>
          <a:noFill/>
          <a:ln/>
        </p:spPr>
        <p:txBody>
          <a:bodyPr wrap="square" rtlCol="0" anchor="ctr"/>
          <a:lstStyle/>
          <a:p>
            <a:pPr xmlns:a="http://schemas.openxmlformats.org/drawingml/2006/main" indent="0" marL="0">
              <a:buNone/>
            </a:pPr>
            <a:r xmlns:a="http://schemas.openxmlformats.org/drawingml/2006/main">
              <a:rPr lang="en" sz="1350" b="1" dirty="0">
                <a:solidFill>
                  <a:srgbClr val="1E2A32"/>
                </a:solidFill>
                <a:latin typeface="Calibri" pitchFamily="34" charset="0"/>
                <a:ea typeface="Calibri" pitchFamily="34" charset="-122"/>
                <a:cs typeface="Calibri" pitchFamily="34" charset="-120"/>
              </a:rPr>
              <a:t>Water quality testing logs</a:t>
            </a:r>
            <a:endParaRPr xmlns:a="http://schemas.openxmlformats.org/drawingml/2006/main" lang="en-US" sz="1350" dirty="0"/>
          </a:p>
        </p:txBody>
      </p:sp>
      <p:sp>
        <p:nvSpPr>
          <p:cNvPr id="26" name="Shape 24"/>
          <p:cNvSpPr/>
          <p:nvPr/>
        </p:nvSpPr>
        <p:spPr>
          <a:xfrm>
            <a:off x="6949440" y="4910328"/>
            <a:ext cx="1188720" cy="347472"/>
          </a:xfrm>
          <a:prstGeom prst="roundRect">
            <a:avLst>
              <a:gd name="adj" fmla="val 21053"/>
            </a:avLst>
          </a:prstGeom>
          <a:solidFill>
            <a:srgbClr val="C1443C"/>
          </a:solidFill>
          <a:ln/>
        </p:spPr>
      </p:sp>
      <p:sp>
        <p:nvSpPr>
          <p:cNvPr id="27" name="Text 25"/>
          <p:cNvSpPr/>
          <p:nvPr/>
        </p:nvSpPr>
        <p:spPr>
          <a:xfrm>
            <a:off x="6949440" y="4910328"/>
            <a:ext cx="1188720" cy="347472"/>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1150" b="1" dirty="0">
                <a:solidFill>
                  <a:srgbClr val="FFFFFF"/>
                </a:solidFill>
                <a:latin typeface="Calibri" pitchFamily="34" charset="0"/>
                <a:ea typeface="Calibri" pitchFamily="34" charset="-122"/>
                <a:cs typeface="Calibri" pitchFamily="34" charset="-120"/>
              </a:rPr>
              <a:t>Null</a:t>
            </a:r>
            <a:endParaRPr xmlns:a="http://schemas.openxmlformats.org/drawingml/2006/main" lang="en-US" sz="1150" dirty="0"/>
          </a:p>
        </p:txBody>
      </p:sp>
      <p:sp>
        <p:nvSpPr>
          <p:cNvPr id="28" name="Text 26"/>
          <p:cNvSpPr/>
          <p:nvPr/>
        </p:nvSpPr>
        <p:spPr>
          <a:xfrm>
            <a:off x="8366760" y="4709160"/>
            <a:ext cx="3108960" cy="749808"/>
          </a:xfrm>
          <a:prstGeom prst="rect">
            <a:avLst/>
          </a:prstGeom>
          <a:noFill/>
          <a:ln/>
        </p:spPr>
        <p:txBody>
          <a:bodyPr wrap="square" rtlCol="0" anchor="ctr"/>
          <a:lstStyle/>
          <a:p>
            <a:pPr xmlns:a="http://schemas.openxmlformats.org/drawingml/2006/main" indent="0" marL="0">
              <a:buNone/>
            </a:pPr>
            <a:r xmlns:a="http://schemas.openxmlformats.org/drawingml/2006/main">
              <a:rPr lang="en" sz="1150" i="1" dirty="0">
                <a:solidFill>
                  <a:srgbClr val="5B6B72"/>
                </a:solidFill>
                <a:latin typeface="Calibri" pitchFamily="34" charset="0"/>
                <a:ea typeface="Calibri" pitchFamily="34" charset="-122"/>
                <a:cs typeface="Calibri" pitchFamily="34" charset="-120"/>
              </a:rPr>
              <a:t>This topic is completely absent from the 2025 study.</a:t>
            </a:r>
            <a:endParaRPr xmlns:a="http://schemas.openxmlformats.org/drawingml/2006/main" lang="en-US" sz="1150" dirty="0"/>
          </a:p>
        </p:txBody>
      </p:sp>
      <p:sp>
        <p:nvSpPr>
          <p:cNvPr id="29" name="Shape 27"/>
          <p:cNvSpPr/>
          <p:nvPr/>
        </p:nvSpPr>
        <p:spPr>
          <a:xfrm>
            <a:off x="548640" y="5532120"/>
            <a:ext cx="11064240" cy="749808"/>
          </a:xfrm>
          <a:prstGeom prst="rect">
            <a:avLst/>
          </a:prstGeom>
          <a:solidFill>
            <a:srgbClr val="FFFFFF"/>
          </a:solidFill>
          <a:ln/>
        </p:spPr>
      </p:sp>
      <p:sp>
        <p:nvSpPr>
          <p:cNvPr id="30" name="Text 28"/>
          <p:cNvSpPr/>
          <p:nvPr/>
        </p:nvSpPr>
        <p:spPr>
          <a:xfrm>
            <a:off x="777240" y="5532120"/>
            <a:ext cx="5943600" cy="749808"/>
          </a:xfrm>
          <a:prstGeom prst="rect">
            <a:avLst/>
          </a:prstGeom>
          <a:noFill/>
          <a:ln/>
        </p:spPr>
        <p:txBody>
          <a:bodyPr wrap="square" rtlCol="0" anchor="ctr"/>
          <a:lstStyle/>
          <a:p>
            <a:pPr xmlns:a="http://schemas.openxmlformats.org/drawingml/2006/main" indent="0" marL="0">
              <a:buNone/>
            </a:pPr>
            <a:r xmlns:a="http://schemas.openxmlformats.org/drawingml/2006/main">
              <a:rPr lang="en" sz="1350" b="1" dirty="0">
                <a:solidFill>
                  <a:srgbClr val="1E2A32"/>
                </a:solidFill>
                <a:latin typeface="Calibri" pitchFamily="34" charset="0"/>
                <a:ea typeface="Calibri" pitchFamily="34" charset="-122"/>
                <a:cs typeface="Calibri" pitchFamily="34" charset="-120"/>
              </a:rPr>
              <a:t>Drought alert system</a:t>
            </a:r>
            <a:endParaRPr xmlns:a="http://schemas.openxmlformats.org/drawingml/2006/main" lang="en-US" sz="1350" dirty="0"/>
          </a:p>
        </p:txBody>
      </p:sp>
      <p:sp>
        <p:nvSpPr>
          <p:cNvPr id="31" name="Shape 29"/>
          <p:cNvSpPr/>
          <p:nvPr/>
        </p:nvSpPr>
        <p:spPr>
          <a:xfrm>
            <a:off x="6949440" y="5733288"/>
            <a:ext cx="1188720" cy="347472"/>
          </a:xfrm>
          <a:prstGeom prst="roundRect">
            <a:avLst>
              <a:gd name="adj" fmla="val 21053"/>
            </a:avLst>
          </a:prstGeom>
          <a:solidFill>
            <a:srgbClr val="D98E2B"/>
          </a:solidFill>
          <a:ln/>
        </p:spPr>
      </p:sp>
      <p:sp>
        <p:nvSpPr>
          <p:cNvPr id="32" name="Text 30"/>
          <p:cNvSpPr/>
          <p:nvPr/>
        </p:nvSpPr>
        <p:spPr>
          <a:xfrm>
            <a:off x="6949440" y="5733288"/>
            <a:ext cx="1188720" cy="347472"/>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1150" b="1" dirty="0">
                <a:solidFill>
                  <a:srgbClr val="FFFFFF"/>
                </a:solidFill>
                <a:latin typeface="Calibri" pitchFamily="34" charset="0"/>
                <a:ea typeface="Calibri" pitchFamily="34" charset="-122"/>
                <a:cs typeface="Calibri" pitchFamily="34" charset="-120"/>
              </a:rPr>
              <a:t>AVERAGE</a:t>
            </a:r>
            <a:endParaRPr xmlns:a="http://schemas.openxmlformats.org/drawingml/2006/main" lang="en-US" sz="1150" dirty="0"/>
          </a:p>
        </p:txBody>
      </p:sp>
      <p:sp>
        <p:nvSpPr>
          <p:cNvPr id="33" name="Text 31"/>
          <p:cNvSpPr/>
          <p:nvPr/>
        </p:nvSpPr>
        <p:spPr>
          <a:xfrm>
            <a:off x="8366760" y="5532120"/>
            <a:ext cx="3108960" cy="749808"/>
          </a:xfrm>
          <a:prstGeom prst="rect">
            <a:avLst/>
          </a:prstGeom>
          <a:noFill/>
          <a:ln/>
        </p:spPr>
        <p:txBody>
          <a:bodyPr wrap="square" rtlCol="0" anchor="ctr"/>
          <a:lstStyle/>
          <a:p>
            <a:pPr xmlns:a="http://schemas.openxmlformats.org/drawingml/2006/main" indent="0" marL="0">
              <a:buNone/>
            </a:pPr>
            <a:r xmlns:a="http://schemas.openxmlformats.org/drawingml/2006/main">
              <a:rPr lang="en" sz="1150" i="1" dirty="0">
                <a:solidFill>
                  <a:srgbClr val="5B6B72"/>
                </a:solidFill>
                <a:latin typeface="Calibri" pitchFamily="34" charset="0"/>
                <a:ea typeface="Calibri" pitchFamily="34" charset="-122"/>
                <a:cs typeface="Calibri" pitchFamily="34" charset="-120"/>
              </a:rPr>
              <a:t>Regional statistics, no dynamic alert</a:t>
            </a:r>
            <a:endParaRPr xmlns:a="http://schemas.openxmlformats.org/drawingml/2006/main" lang="en-US" sz="1150" dirty="0"/>
          </a:p>
        </p:txBody>
      </p:sp>
      <p:sp>
        <p:nvSpPr>
          <p:cNvPr id="34" name="Text 32"/>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35" name="Text 33"/>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4</a:t>
            </a:r>
            <a:endParaRPr xmlns:a="http://schemas.openxmlformats.org/drawingml/2006/main"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789920" cy="548640"/>
          </a:xfrm>
          <a:prstGeom prst="rect">
            <a:avLst/>
          </a:prstGeom>
          <a:noFill/>
          <a:ln/>
        </p:spPr>
        <p:txBody>
          <a:bodyPr wrap="square" rtlCol="0" anchor="ctr"/>
          <a:lstStyle/>
          <a:p>
            <a:pPr xmlns:a="http://schemas.openxmlformats.org/drawingml/2006/main" indent="0" marL="0">
              <a:buNone/>
            </a:pPr>
            <a:r xmlns:a="http://schemas.openxmlformats.org/drawingml/2006/main">
              <a:rPr lang="en" sz="2400" b="1" dirty="0">
                <a:solidFill>
                  <a:srgbClr val="21295C"/>
                </a:solidFill>
                <a:latin typeface="Cambria" pitchFamily="34" charset="0"/>
                <a:ea typeface="Cambria" pitchFamily="34" charset="-122"/>
                <a:cs typeface="Cambria" pitchFamily="34" charset="-120"/>
              </a:rPr>
              <a:t>Extracted data — seasons &amp; growth stages</a:t>
            </a:r>
            <a:endParaRPr xmlns:a="http://schemas.openxmlformats.org/drawingml/2006/main" lang="en-US" sz="2400" dirty="0"/>
          </a:p>
        </p:txBody>
      </p:sp>
      <p:sp>
        <p:nvSpPr>
          <p:cNvPr id="3" name="Text 1"/>
          <p:cNvSpPr/>
          <p:nvPr/>
        </p:nvSpPr>
        <p:spPr>
          <a:xfrm>
            <a:off x="548640" y="868680"/>
            <a:ext cx="1005840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300" dirty="0">
                <a:solidFill>
                  <a:srgbClr val="5B6B72"/>
                </a:solidFill>
                <a:latin typeface="Calibri" pitchFamily="34" charset="0"/>
                <a:ea typeface="Calibri" pitchFamily="34" charset="-122"/>
                <a:cs typeface="Calibri" pitchFamily="34" charset="-120"/>
              </a:rPr>
              <a:t>Reusable base for the planning engine (axis 1)</a:t>
            </a:r>
            <a:endParaRPr xmlns:a="http://schemas.openxmlformats.org/drawingml/2006/main" lang="en-US" sz="1300" dirty="0"/>
          </a:p>
        </p:txBody>
      </p:sp>
      <p:sp>
        <p:nvSpPr>
          <p:cNvPr id="4" name="Text 2"/>
          <p:cNvSpPr/>
          <p:nvPr/>
        </p:nvSpPr>
        <p:spPr>
          <a:xfrm>
            <a:off x="548640" y="1417320"/>
            <a:ext cx="530352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500" b="1" dirty="0">
                <a:solidFill>
                  <a:srgbClr val="065A82"/>
                </a:solidFill>
                <a:latin typeface="Cambria" pitchFamily="34" charset="0"/>
                <a:ea typeface="Cambria" pitchFamily="34" charset="-122"/>
                <a:cs typeface="Cambria" pitchFamily="34" charset="-120"/>
              </a:rPr>
              <a:t>Water requirements per season</a:t>
            </a:r>
            <a:endParaRPr xmlns:a="http://schemas.openxmlformats.org/drawingml/2006/main"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5303520" cy="914400"/>
        </p:xfrm>
        <a:graphic>
          <a:graphicData uri="http://schemas.openxmlformats.org/drawingml/2006/table">
            <a:tbl>
              <a:tblPr/>
              <a:tblGrid>
                <a:gridCol w="1737360"/>
                <a:gridCol w="1463040"/>
                <a:gridCol w="640080"/>
                <a:gridCol w="1463040"/>
              </a:tblGrid>
              <a:tr h="384048">
                <a:tc>
                  <a:txBody>
                    <a:bodyPr/>
                    <a:lstStyle/>
                    <a:p>
                      <a:pPr xmlns:a="http://schemas.openxmlformats.org/drawingml/2006/main" indent="0" marL="0">
                        <a:buNone/>
                      </a:pPr>
                      <a:r xmlns:a="http://schemas.openxmlformats.org/drawingml/2006/main">
                        <a:rPr lang="en" sz="1100" b="1" dirty="0">
                          <a:solidFill>
                            <a:srgbClr val="FFFFFF"/>
                          </a:solidFill>
                          <a:latin typeface="Calibri" pitchFamily="34" charset="0"/>
                          <a:ea typeface="Calibri" pitchFamily="34" charset="-122"/>
                          <a:cs typeface="Calibri" pitchFamily="34" charset="-120"/>
                        </a:rPr>
                        <a:t>Season</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solidFill>
                      <a:srgbClr val="065A82"/>
                    </a:solidFill>
                  </a:tcPr>
                </a:tc>
                <a:tc>
                  <a:txBody>
                    <a:bodyPr/>
                    <a:lstStyle/>
                    <a:p>
                      <a:pPr xmlns:a="http://schemas.openxmlformats.org/drawingml/2006/main" indent="0" marL="0">
                        <a:buNone/>
                      </a:pPr>
                      <a:r xmlns:a="http://schemas.openxmlformats.org/drawingml/2006/main">
                        <a:rPr lang="en" sz="1100" b="1" dirty="0">
                          <a:solidFill>
                            <a:srgbClr val="FFFFFF"/>
                          </a:solidFill>
                          <a:latin typeface="Calibri" pitchFamily="34" charset="0"/>
                          <a:ea typeface="Calibri" pitchFamily="34" charset="-122"/>
                          <a:cs typeface="Calibri" pitchFamily="34" charset="-120"/>
                        </a:rPr>
                        <a:t>Period</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solidFill>
                      <a:srgbClr val="065A82"/>
                    </a:solidFill>
                  </a:tcPr>
                </a:tc>
                <a:tc>
                  <a:txBody>
                    <a:bodyPr/>
                    <a:lstStyle/>
                    <a:p>
                      <a:pPr xmlns:a="http://schemas.openxmlformats.org/drawingml/2006/main" indent="0" marL="0">
                        <a:buNone/>
                      </a:pPr>
                      <a:r xmlns:a="http://schemas.openxmlformats.org/drawingml/2006/main">
                        <a:rPr lang="en" sz="1100" b="1" dirty="0">
                          <a:solidFill>
                            <a:srgbClr val="FFFFFF"/>
                          </a:solidFill>
                          <a:latin typeface="Calibri" pitchFamily="34" charset="0"/>
                          <a:ea typeface="Calibri" pitchFamily="34" charset="-122"/>
                          <a:cs typeface="Calibri" pitchFamily="34" charset="-120"/>
                        </a:rPr>
                        <a:t>fₛ</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solidFill>
                      <a:srgbClr val="065A82"/>
                    </a:solidFill>
                  </a:tcPr>
                </a:tc>
                <a:tc>
                  <a:txBody>
                    <a:bodyPr/>
                    <a:lstStyle/>
                    <a:p>
                      <a:pPr xmlns:a="http://schemas.openxmlformats.org/drawingml/2006/main" indent="0" marL="0">
                        <a:buNone/>
                      </a:pPr>
                      <a:r xmlns:a="http://schemas.openxmlformats.org/drawingml/2006/main">
                        <a:rPr lang="en" sz="1100" b="1" dirty="0">
                          <a:solidFill>
                            <a:srgbClr val="FFFFFF"/>
                          </a:solidFill>
                          <a:latin typeface="Calibri" pitchFamily="34" charset="0"/>
                          <a:ea typeface="Calibri" pitchFamily="34" charset="-122"/>
                          <a:cs typeface="Calibri" pitchFamily="34" charset="-120"/>
                        </a:rPr>
                        <a:t>m³/day</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solidFill>
                      <a:srgbClr val="065A82"/>
                    </a:solidFill>
                  </a:tcPr>
                </a:tc>
              </a:tr>
              <a:tr h="384048">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Rainy</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May – Oct</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0.5</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10</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r>
              <a:tr h="384048">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Transition</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Oct – Nov</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0.8</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16</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r>
              <a:tr h="384048">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Fresh dried</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Nov – Feb</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0.9</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18</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r>
              <a:tr h="384048">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Hot and dry (peak)</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March – April</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1.0</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20</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r>
            </a:tbl>
          </a:graphicData>
        </a:graphic>
      </p:graphicFrame>
      <p:sp>
        <p:nvSpPr>
          <p:cNvPr id="6" name="Text 3"/>
          <p:cNvSpPr/>
          <p:nvPr/>
        </p:nvSpPr>
        <p:spPr>
          <a:xfrm>
            <a:off x="6309360" y="1417320"/>
            <a:ext cx="530352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500" b="1" dirty="0">
                <a:solidFill>
                  <a:srgbClr val="065A82"/>
                </a:solidFill>
                <a:latin typeface="Cambria" pitchFamily="34" charset="0"/>
                <a:ea typeface="Cambria" pitchFamily="34" charset="-122"/>
                <a:cs typeface="Cambria" pitchFamily="34" charset="-120"/>
              </a:rPr>
              <a:t>Water requirements per growth stage</a:t>
            </a:r>
            <a:endParaRPr xmlns:a="http://schemas.openxmlformats.org/drawingml/2006/main" lang="en-US" sz="15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309360" y="1828800"/>
          <a:ext cx="5303520" cy="914400"/>
        </p:xfrm>
        <a:graphic>
          <a:graphicData uri="http://schemas.openxmlformats.org/drawingml/2006/table">
            <a:tbl>
              <a:tblPr/>
              <a:tblGrid>
                <a:gridCol w="1828800"/>
                <a:gridCol w="1188720"/>
                <a:gridCol w="1280160"/>
                <a:gridCol w="1005840"/>
              </a:tblGrid>
              <a:tr h="384048">
                <a:tc>
                  <a:txBody>
                    <a:bodyPr/>
                    <a:lstStyle/>
                    <a:p>
                      <a:pPr xmlns:a="http://schemas.openxmlformats.org/drawingml/2006/main" indent="0" marL="0">
                        <a:buNone/>
                      </a:pPr>
                      <a:r xmlns:a="http://schemas.openxmlformats.org/drawingml/2006/main">
                        <a:rPr lang="en" sz="1100" b="1" dirty="0">
                          <a:solidFill>
                            <a:srgbClr val="FFFFFF"/>
                          </a:solidFill>
                          <a:latin typeface="Calibri" pitchFamily="34" charset="0"/>
                          <a:ea typeface="Calibri" pitchFamily="34" charset="-122"/>
                          <a:cs typeface="Calibri" pitchFamily="34" charset="-120"/>
                        </a:rPr>
                        <a:t>Stadium</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solidFill>
                      <a:srgbClr val="1C7293"/>
                    </a:solidFill>
                  </a:tcPr>
                </a:tc>
                <a:tc>
                  <a:txBody>
                    <a:bodyPr/>
                    <a:lstStyle/>
                    <a:p>
                      <a:pPr xmlns:a="http://schemas.openxmlformats.org/drawingml/2006/main" indent="0" marL="0">
                        <a:buNone/>
                      </a:pPr>
                      <a:r xmlns:a="http://schemas.openxmlformats.org/drawingml/2006/main">
                        <a:rPr lang="en" sz="1100" b="1" dirty="0">
                          <a:solidFill>
                            <a:srgbClr val="FFFFFF"/>
                          </a:solidFill>
                          <a:latin typeface="Calibri" pitchFamily="34" charset="0"/>
                          <a:ea typeface="Calibri" pitchFamily="34" charset="-122"/>
                          <a:cs typeface="Calibri" pitchFamily="34" charset="-120"/>
                        </a:rPr>
                        <a:t>Age</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solidFill>
                      <a:srgbClr val="1C7293"/>
                    </a:solidFill>
                  </a:tcPr>
                </a:tc>
                <a:tc>
                  <a:txBody>
                    <a:bodyPr/>
                    <a:lstStyle/>
                    <a:p>
                      <a:pPr xmlns:a="http://schemas.openxmlformats.org/drawingml/2006/main" indent="0" marL="0">
                        <a:buNone/>
                      </a:pPr>
                      <a:r xmlns:a="http://schemas.openxmlformats.org/drawingml/2006/main">
                        <a:rPr lang="en" sz="1100" b="1" dirty="0">
                          <a:solidFill>
                            <a:srgbClr val="FFFFFF"/>
                          </a:solidFill>
                          <a:latin typeface="Calibri" pitchFamily="34" charset="0"/>
                          <a:ea typeface="Calibri" pitchFamily="34" charset="-122"/>
                          <a:cs typeface="Calibri" pitchFamily="34" charset="-120"/>
                        </a:rPr>
                        <a:t>L/day/tree</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solidFill>
                      <a:srgbClr val="1C7293"/>
                    </a:solidFill>
                  </a:tcPr>
                </a:tc>
                <a:tc>
                  <a:txBody>
                    <a:bodyPr/>
                    <a:lstStyle/>
                    <a:p>
                      <a:pPr xmlns:a="http://schemas.openxmlformats.org/drawingml/2006/main" indent="0" marL="0">
                        <a:buNone/>
                      </a:pPr>
                      <a:r xmlns:a="http://schemas.openxmlformats.org/drawingml/2006/main">
                        <a:rPr lang="en" sz="1100" b="1" dirty="0">
                          <a:solidFill>
                            <a:srgbClr val="FFFFFF"/>
                          </a:solidFill>
                          <a:latin typeface="Calibri" pitchFamily="34" charset="0"/>
                          <a:ea typeface="Calibri" pitchFamily="34" charset="-122"/>
                          <a:cs typeface="Calibri" pitchFamily="34" charset="-120"/>
                        </a:rPr>
                        <a:t>Frequency</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solidFill>
                      <a:srgbClr val="1C7293"/>
                    </a:solidFill>
                  </a:tcPr>
                </a:tc>
              </a:tr>
              <a:tr h="384048">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Establishment</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0–2 years</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5–10</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2–3 days</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r>
              <a:tr h="384048">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Growth</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2–5 years</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20–50</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3–5 days</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r>
              <a:tr h="384048">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Maturity</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5–10 years</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80–120</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5–7 days</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r>
              <a:tr h="384048">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Full production</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&gt;10 years</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100–150</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00" dirty="0">
                          <a:solidFill>
                            <a:srgbClr val="1E2A32"/>
                          </a:solidFill>
                          <a:latin typeface="Calibri" pitchFamily="34" charset="0"/>
                          <a:ea typeface="Calibri" pitchFamily="34" charset="-122"/>
                          <a:cs typeface="Calibri" pitchFamily="34" charset="-120"/>
                        </a:rPr>
                        <a:t>5–7 days</a:t>
                      </a:r>
                      <a:endParaRPr xmlns:a="http://schemas.openxmlformats.org/drawingml/2006/main" lang="en-US" sz="110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r>
            </a:tbl>
          </a:graphicData>
        </a:graphic>
      </p:graphicFrame>
      <p:sp>
        <p:nvSpPr>
          <p:cNvPr id="8" name="Shape 4"/>
          <p:cNvSpPr/>
          <p:nvPr/>
        </p:nvSpPr>
        <p:spPr>
          <a:xfrm>
            <a:off x="548640" y="4343400"/>
            <a:ext cx="11064240" cy="1371600"/>
          </a:xfrm>
          <a:prstGeom prst="roundRect">
            <a:avLst>
              <a:gd name="adj" fmla="val 5333"/>
            </a:avLst>
          </a:prstGeom>
          <a:solidFill>
            <a:srgbClr val="F4F8F9"/>
          </a:solidFill>
          <a:ln/>
        </p:spPr>
      </p:sp>
      <p:sp>
        <p:nvSpPr>
          <p:cNvPr id="9" name="Text 5"/>
          <p:cNvSpPr/>
          <p:nvPr/>
        </p:nvSpPr>
        <p:spPr>
          <a:xfrm>
            <a:off x="822960" y="4480560"/>
            <a:ext cx="5486400" cy="320040"/>
          </a:xfrm>
          <a:prstGeom prst="rect">
            <a:avLst/>
          </a:prstGeom>
          <a:noFill/>
          <a:ln/>
        </p:spPr>
        <p:txBody>
          <a:bodyPr wrap="square" rtlCol="0" anchor="ctr"/>
          <a:lstStyle/>
          <a:p>
            <a:pPr xmlns:a="http://schemas.openxmlformats.org/drawingml/2006/main" indent="0" marL="0">
              <a:buNone/>
            </a:pPr>
            <a:r xmlns:a="http://schemas.openxmlformats.org/drawingml/2006/main">
              <a:rPr lang="en" sz="1250" b="1" dirty="0">
                <a:solidFill>
                  <a:srgbClr val="21295C"/>
                </a:solidFill>
                <a:latin typeface="Calibri" pitchFamily="34" charset="0"/>
                <a:ea typeface="Calibri" pitchFamily="34" charset="-122"/>
                <a:cs typeface="Calibri" pitchFamily="34" charset="-120"/>
              </a:rPr>
              <a:t>Sizing references (2 ha, 200 trees)</a:t>
            </a:r>
            <a:endParaRPr xmlns:a="http://schemas.openxmlformats.org/drawingml/2006/main" lang="en-US" sz="1250" dirty="0"/>
          </a:p>
        </p:txBody>
      </p:sp>
      <p:sp>
        <p:nvSpPr>
          <p:cNvPr id="10" name="Text 6"/>
          <p:cNvSpPr/>
          <p:nvPr/>
        </p:nvSpPr>
        <p:spPr>
          <a:xfrm>
            <a:off x="822960" y="4800600"/>
            <a:ext cx="10515600" cy="868680"/>
          </a:xfrm>
          <a:prstGeom prst="rect">
            <a:avLst/>
          </a:prstGeom>
          <a:noFill/>
          <a:ln/>
        </p:spPr>
        <p:txBody>
          <a:bodyPr wrap="square" rtlCol="0" anchor="ctr"/>
          <a:lstStyle/>
          <a:p>
            <a:pPr xmlns:a="http://schemas.openxmlformats.org/drawingml/2006/main" indent="0" marL="0">
              <a:lnSpc>
                <a:spcPts val="20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Peak demand: 20 m³/day · Flow rate: 4 m³/h (66.7 L/min)</a:t>
            </a:r>
            <a:endParaRPr xmlns:a="http://schemas.openxmlformats.org/drawingml/2006/main" lang="en-US" sz="1200" dirty="0"/>
          </a:p>
          <a:p>
            <a:pPr xmlns:a="http://schemas.openxmlformats.org/drawingml/2006/main" indent="0" marL="0">
              <a:lnSpc>
                <a:spcPts val="20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Buffer tank: 30 m³ (≈ 1.5 days of autonomy)</a:t>
            </a:r>
            <a:endParaRPr xmlns:a="http://schemas.openxmlformats.org/drawingml/2006/main" lang="en-US" sz="1200" dirty="0"/>
          </a:p>
          <a:p>
            <a:pPr xmlns:a="http://schemas.openxmlformats.org/drawingml/2006/main" indent="0" marL="0">
              <a:lnSpc>
                <a:spcPts val="20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Reference irrigation duration: 5 hours/day</a:t>
            </a:r>
            <a:endParaRPr xmlns:a="http://schemas.openxmlformats.org/drawingml/2006/main" lang="en-US" sz="1200" dirty="0"/>
          </a:p>
        </p:txBody>
      </p:sp>
      <p:sp>
        <p:nvSpPr>
          <p:cNvPr id="11" name="Text 7"/>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12" name="Text 8"/>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5</a:t>
            </a:r>
            <a:endParaRPr xmlns:a="http://schemas.openxmlformats.org/drawingml/2006/main"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789920" cy="548640"/>
          </a:xfrm>
          <a:prstGeom prst="rect">
            <a:avLst/>
          </a:prstGeom>
          <a:noFill/>
          <a:ln/>
        </p:spPr>
        <p:txBody>
          <a:bodyPr wrap="square" rtlCol="0" anchor="ctr"/>
          <a:lstStyle/>
          <a:p>
            <a:pPr xmlns:a="http://schemas.openxmlformats.org/drawingml/2006/main" indent="0" marL="0">
              <a:buNone/>
            </a:pPr>
            <a:r xmlns:a="http://schemas.openxmlformats.org/drawingml/2006/main">
              <a:rPr lang="en" sz="2400" b="1" dirty="0">
                <a:solidFill>
                  <a:srgbClr val="21295C"/>
                </a:solidFill>
                <a:latin typeface="Cambria" pitchFamily="34" charset="0"/>
                <a:ea typeface="Cambria" pitchFamily="34" charset="-122"/>
                <a:cs typeface="Cambria" pitchFamily="34" charset="-120"/>
              </a:rPr>
              <a:t>Extracted data — regional comparison</a:t>
            </a:r>
            <a:endParaRPr xmlns:a="http://schemas.openxmlformats.org/drawingml/2006/main" lang="en-US" sz="2400" dirty="0"/>
          </a:p>
        </p:txBody>
      </p:sp>
      <p:sp>
        <p:nvSpPr>
          <p:cNvPr id="3" name="Text 1"/>
          <p:cNvSpPr/>
          <p:nvPr/>
        </p:nvSpPr>
        <p:spPr>
          <a:xfrm>
            <a:off x="548640" y="868680"/>
            <a:ext cx="1005840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300" dirty="0">
                <a:solidFill>
                  <a:srgbClr val="5B6B72"/>
                </a:solidFill>
                <a:latin typeface="Calibri" pitchFamily="34" charset="0"/>
                <a:ea typeface="Calibri" pitchFamily="34" charset="-122"/>
                <a:cs typeface="Calibri" pitchFamily="34" charset="-120"/>
              </a:rPr>
              <a:t>Reusable base for Drought Alert and Rainwater Harvesting axes</a:t>
            </a:r>
            <a:endParaRPr xmlns:a="http://schemas.openxmlformats.org/drawingml/2006/main"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120640" cy="914400"/>
        </p:xfrm>
        <a:graphic>
          <a:graphicData uri="http://schemas.openxmlformats.org/drawingml/2006/table">
            <a:tbl>
              <a:tblPr/>
              <a:tblGrid>
                <a:gridCol w="2194560"/>
                <a:gridCol w="1645920"/>
                <a:gridCol w="1280160"/>
              </a:tblGrid>
              <a:tr h="402336">
                <a:tc>
                  <a:txBody>
                    <a:bodyPr/>
                    <a:lstStyle/>
                    <a:p>
                      <a:pPr xmlns:a="http://schemas.openxmlformats.org/drawingml/2006/main" indent="0" marL="0">
                        <a:buNone/>
                      </a:pPr>
                      <a:r xmlns:a="http://schemas.openxmlformats.org/drawingml/2006/main">
                        <a:rPr lang="en" sz="1150" b="1" dirty="0">
                          <a:solidFill>
                            <a:srgbClr val="FFFFFF"/>
                          </a:solidFill>
                          <a:latin typeface="Calibri" pitchFamily="34" charset="0"/>
                          <a:ea typeface="Calibri" pitchFamily="34" charset="-122"/>
                          <a:cs typeface="Calibri" pitchFamily="34" charset="-120"/>
                        </a:rPr>
                        <a:t>Region</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solidFill>
                      <a:srgbClr val="065A82"/>
                    </a:solidFill>
                  </a:tcPr>
                </a:tc>
                <a:tc>
                  <a:txBody>
                    <a:bodyPr/>
                    <a:lstStyle/>
                    <a:p>
                      <a:pPr xmlns:a="http://schemas.openxmlformats.org/drawingml/2006/main" indent="0" marL="0">
                        <a:buNone/>
                      </a:pPr>
                      <a:r xmlns:a="http://schemas.openxmlformats.org/drawingml/2006/main">
                        <a:rPr lang="en" sz="1150" b="1" dirty="0">
                          <a:solidFill>
                            <a:srgbClr val="FFFFFF"/>
                          </a:solidFill>
                          <a:latin typeface="Calibri" pitchFamily="34" charset="0"/>
                          <a:ea typeface="Calibri" pitchFamily="34" charset="-122"/>
                          <a:cs typeface="Calibri" pitchFamily="34" charset="-120"/>
                        </a:rPr>
                        <a:t>Rainfall (mm/year)</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solidFill>
                      <a:srgbClr val="065A82"/>
                    </a:solidFill>
                  </a:tcPr>
                </a:tc>
                <a:tc>
                  <a:txBody>
                    <a:bodyPr/>
                    <a:lstStyle/>
                    <a:p>
                      <a:pPr xmlns:a="http://schemas.openxmlformats.org/drawingml/2006/main" indent="0" marL="0">
                        <a:buNone/>
                      </a:pPr>
                      <a:r xmlns:a="http://schemas.openxmlformats.org/drawingml/2006/main">
                        <a:rPr lang="en" sz="1150" b="1" dirty="0">
                          <a:solidFill>
                            <a:srgbClr val="FFFFFF"/>
                          </a:solidFill>
                          <a:latin typeface="Calibri" pitchFamily="34" charset="0"/>
                          <a:ea typeface="Calibri" pitchFamily="34" charset="-122"/>
                          <a:cs typeface="Calibri" pitchFamily="34" charset="-120"/>
                        </a:rPr>
                        <a:t>Dry days/year</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solidFill>
                      <a:srgbClr val="065A82"/>
                    </a:solidFill>
                  </a:tcPr>
                </a:tc>
              </a:tr>
              <a:tr h="402336">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Koubri</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750 – 850</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245</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r>
              <a:tr h="402336">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Bobo-Dioulasso</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950 – 1100</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215</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r>
              <a:tr h="402336">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Banfora</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1000 – 1200</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185</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r>
              <a:tr h="402336">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Kaya</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600 – 700</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275</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r>
              <a:tr h="402336">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Ouahigouya</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500 – 600</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c>
                  <a:txBody>
                    <a:bodyPr/>
                    <a:lstStyle/>
                    <a:p>
                      <a:pPr xmlns:a="http://schemas.openxmlformats.org/drawingml/2006/main" indent="0" marL="0">
                        <a:buNone/>
                      </a:pPr>
                      <a:r xmlns:a="http://schemas.openxmlformats.org/drawingml/2006/main">
                        <a:rPr lang="en" sz="1150" dirty="0">
                          <a:solidFill>
                            <a:srgbClr val="1E2A32"/>
                          </a:solidFill>
                          <a:latin typeface="Calibri" pitchFamily="34" charset="0"/>
                          <a:ea typeface="Calibri" pitchFamily="34" charset="-122"/>
                          <a:cs typeface="Calibri" pitchFamily="34" charset="-120"/>
                        </a:rPr>
                        <a:t>275</a:t>
                      </a:r>
                      <a:endParaRPr xmlns:a="http://schemas.openxmlformats.org/drawingml/2006/main" lang="en-US" sz="1150" dirty="0">
                        <a:latin typeface="Calibri" charset="0"/>
                        <a:ea typeface="Calibri" charset="0"/>
                        <a:cs typeface="Calibri" charset="0"/>
                      </a:endParaRPr>
                    </a:p>
                  </a:txBody>
                  <a:tcPr marL="91440" marR="91440" marT="45720" marB="45720" anchor="ctr">
                    <a:lnL w="9525" cap="flat" cmpd="sng" algn="ctr">
                      <a:solidFill>
                        <a:srgbClr val="DCE4E6"/>
                      </a:solidFill>
                      <a:prstDash val="solid"/>
                      <a:round/>
                      <a:headEnd type="none" w="med" len="med"/>
                      <a:tailEnd type="none" w="med" len="med"/>
                    </a:lnL>
                    <a:lnR w="9525" cap="flat" cmpd="sng" algn="ctr">
                      <a:solidFill>
                        <a:srgbClr val="DCE4E6"/>
                      </a:solidFill>
                      <a:prstDash val="solid"/>
                      <a:round/>
                      <a:headEnd type="none" w="med" len="med"/>
                      <a:tailEnd type="none" w="med" len="med"/>
                    </a:lnR>
                    <a:lnT w="9525" cap="flat" cmpd="sng" algn="ctr">
                      <a:solidFill>
                        <a:srgbClr val="DCE4E6"/>
                      </a:solidFill>
                      <a:prstDash val="solid"/>
                      <a:round/>
                      <a:headEnd type="none" w="med" len="med"/>
                      <a:tailEnd type="none" w="med" len="med"/>
                    </a:lnT>
                    <a:lnB w="9525" cap="flat" cmpd="sng" algn="ctr">
                      <a:solidFill>
                        <a:srgbClr val="DCE4E6"/>
                      </a:solidFill>
                      <a:prstDash val="solid"/>
                      <a:round/>
                      <a:headEnd type="none" w="med" len="med"/>
                      <a:tailEnd type="none" w="med" len="med"/>
                    </a:lnB>
                  </a:tcPr>
                </a:tc>
              </a:tr>
            </a:tbl>
          </a:graphicData>
        </a:graphic>
      </p:graphicFrame>
      <p:graphicFrame>
        <p:nvGraphicFramePr>
          <p:cNvPr id="5" name="Chart 0" descr=""/>
          <p:cNvGraphicFramePr/>
          <p:nvPr/>
        </p:nvGraphicFramePr>
        <p:xfrm>
          <a:off x="6126480" y="141732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p:nvPr/>
        </p:nvSpPr>
        <p:spPr>
          <a:xfrm>
            <a:off x="548640" y="5897880"/>
            <a:ext cx="11064240" cy="457200"/>
          </a:xfrm>
          <a:prstGeom prst="rect">
            <a:avLst/>
          </a:prstGeom>
          <a:noFill/>
          <a:ln/>
        </p:spPr>
        <p:txBody>
          <a:bodyPr wrap="square" rtlCol="0" anchor="ctr"/>
          <a:lstStyle/>
          <a:p>
            <a:pPr xmlns:a="http://schemas.openxmlformats.org/drawingml/2006/main" indent="0" marL="0">
              <a:buNone/>
            </a:pPr>
            <a:r xmlns:a="http://schemas.openxmlformats.org/drawingml/2006/main">
              <a:rPr lang="en" sz="1150" i="1" dirty="0">
                <a:solidFill>
                  <a:srgbClr val="5B6B72"/>
                </a:solidFill>
                <a:latin typeface="Calibri" pitchFamily="34" charset="0"/>
                <a:ea typeface="Calibri" pitchFamily="34" charset="-122"/>
                <a:cs typeface="Calibri" pitchFamily="34" charset="-120"/>
              </a:rPr>
              <a:t>This data places each region on a risk of water stress — starting point for alert thresholds (axis 6).</a:t>
            </a:r>
            <a:endParaRPr xmlns:a="http://schemas.openxmlformats.org/drawingml/2006/main" lang="en-US" sz="1150" dirty="0"/>
          </a:p>
        </p:txBody>
      </p:sp>
      <p:sp>
        <p:nvSpPr>
          <p:cNvPr id="7" name="Text 3"/>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8" name="Text 4"/>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6</a:t>
            </a:r>
            <a:endParaRPr xmlns:a="http://schemas.openxmlformats.org/drawingml/2006/main"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789920" cy="548640"/>
          </a:xfrm>
          <a:prstGeom prst="rect">
            <a:avLst/>
          </a:prstGeom>
          <a:noFill/>
          <a:ln/>
        </p:spPr>
        <p:txBody>
          <a:bodyPr wrap="square" rtlCol="0" anchor="ctr"/>
          <a:lstStyle/>
          <a:p>
            <a:pPr xmlns:a="http://schemas.openxmlformats.org/drawingml/2006/main" indent="0" marL="0">
              <a:buNone/>
            </a:pPr>
            <a:r xmlns:a="http://schemas.openxmlformats.org/drawingml/2006/main">
              <a:rPr lang="en" sz="2600" b="1" dirty="0">
                <a:solidFill>
                  <a:srgbClr val="21295C"/>
                </a:solidFill>
                <a:latin typeface="Cambria" pitchFamily="34" charset="0"/>
                <a:ea typeface="Cambria" pitchFamily="34" charset="-122"/>
                <a:cs typeface="Cambria" pitchFamily="34" charset="-120"/>
              </a:rPr>
              <a:t>Observation: from a fixed calculation to a living tool</a:t>
            </a:r>
            <a:endParaRPr xmlns:a="http://schemas.openxmlformats.org/drawingml/2006/main" lang="en-US" sz="2600" dirty="0"/>
          </a:p>
        </p:txBody>
      </p:sp>
      <p:sp>
        <p:nvSpPr>
          <p:cNvPr id="3" name="Shape 1"/>
          <p:cNvSpPr/>
          <p:nvPr/>
        </p:nvSpPr>
        <p:spPr>
          <a:xfrm>
            <a:off x="548640" y="1234440"/>
            <a:ext cx="5349240" cy="4709160"/>
          </a:xfrm>
          <a:prstGeom prst="roundRect">
            <a:avLst>
              <a:gd name="adj" fmla="val 1553"/>
            </a:avLst>
          </a:prstGeom>
          <a:solidFill>
            <a:srgbClr val="F4F8F9"/>
          </a:solidFill>
          <a:ln/>
        </p:spPr>
      </p:sp>
      <p:sp>
        <p:nvSpPr>
          <p:cNvPr id="4" name="Shape 2"/>
          <p:cNvSpPr/>
          <p:nvPr/>
        </p:nvSpPr>
        <p:spPr>
          <a:xfrm>
            <a:off x="6172200" y="1234440"/>
            <a:ext cx="5468112" cy="4709160"/>
          </a:xfrm>
          <a:prstGeom prst="roundRect">
            <a:avLst>
              <a:gd name="adj" fmla="val 1553"/>
            </a:avLst>
          </a:prstGeom>
          <a:solidFill>
            <a:srgbClr val="EAF3F6"/>
          </a:solidFill>
          <a:ln/>
        </p:spPr>
      </p:sp>
      <p:sp>
        <p:nvSpPr>
          <p:cNvPr id="5" name="Text 3"/>
          <p:cNvSpPr/>
          <p:nvPr/>
        </p:nvSpPr>
        <p:spPr>
          <a:xfrm>
            <a:off x="914400" y="1463040"/>
            <a:ext cx="457200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700" b="1" dirty="0">
                <a:solidFill>
                  <a:srgbClr val="5B6B72"/>
                </a:solidFill>
                <a:latin typeface="Cambria" pitchFamily="34" charset="0"/>
                <a:ea typeface="Cambria" pitchFamily="34" charset="-122"/>
                <a:cs typeface="Cambria" pitchFamily="34" charset="-120"/>
              </a:rPr>
              <a:t>2025 Study</a:t>
            </a:r>
            <a:endParaRPr xmlns:a="http://schemas.openxmlformats.org/drawingml/2006/main" lang="en-US" sz="1700" dirty="0"/>
          </a:p>
        </p:txBody>
      </p:sp>
      <p:sp>
        <p:nvSpPr>
          <p:cNvPr id="6" name="Text 4"/>
          <p:cNvSpPr/>
          <p:nvPr/>
        </p:nvSpPr>
        <p:spPr>
          <a:xfrm>
            <a:off x="914400" y="1965960"/>
            <a:ext cx="4754880" cy="3657600"/>
          </a:xfrm>
          <a:prstGeom prst="rect">
            <a:avLst/>
          </a:prstGeom>
          <a:noFill/>
          <a:ln/>
        </p:spPr>
        <p:txBody>
          <a:bodyPr wrap="square" rtlCol="0" anchor="ctr"/>
          <a:lstStyle/>
          <a:p>
            <a:pPr xmlns:a="http://schemas.openxmlformats.org/drawingml/2006/main" indent="0" marL="0">
              <a:lnSpc>
                <a:spcPts val="2600"/>
              </a:lnSpc>
              <a:buNone/>
            </a:pPr>
            <a:r xmlns:a="http://schemas.openxmlformats.org/drawingml/2006/main">
              <a:rPr lang="en" sz="1350" dirty="0">
                <a:solidFill>
                  <a:srgbClr val="1E2A32"/>
                </a:solidFill>
                <a:latin typeface="Calibri" pitchFamily="34" charset="0"/>
                <a:ea typeface="Calibri" pitchFamily="34" charset="-122"/>
                <a:cs typeface="Calibri" pitchFamily="34" charset="-120"/>
              </a:rPr>
              <a:t>• One static Excel spreadsheet per building block</a:t>
            </a:r>
            <a:endParaRPr xmlns:a="http://schemas.openxmlformats.org/drawingml/2006/main" lang="en-US" sz="1350" dirty="0"/>
          </a:p>
          <a:p>
            <a:pPr xmlns:a="http://schemas.openxmlformats.org/drawingml/2006/main" indent="0" marL="0">
              <a:lnSpc>
                <a:spcPts val="2600"/>
              </a:lnSpc>
              <a:buNone/>
            </a:pPr>
            <a:r xmlns:a="http://schemas.openxmlformats.org/drawingml/2006/main">
              <a:rPr lang="en" sz="1350" dirty="0">
                <a:solidFill>
                  <a:srgbClr val="1E2A32"/>
                </a:solidFill>
                <a:latin typeface="Calibri" pitchFamily="34" charset="0"/>
                <a:ea typeface="Calibri" pitchFamily="34" charset="-122"/>
                <a:cs typeface="Calibri" pitchFamily="34" charset="-120"/>
              </a:rPr>
              <a:t>• Averages and theoretical assumptions</a:t>
            </a:r>
            <a:endParaRPr xmlns:a="http://schemas.openxmlformats.org/drawingml/2006/main" lang="en-US" sz="1350" dirty="0"/>
          </a:p>
          <a:p>
            <a:pPr xmlns:a="http://schemas.openxmlformats.org/drawingml/2006/main" indent="0" marL="0">
              <a:lnSpc>
                <a:spcPts val="2600"/>
              </a:lnSpc>
              <a:buNone/>
            </a:pPr>
            <a:r xmlns:a="http://schemas.openxmlformats.org/drawingml/2006/main">
              <a:rPr lang="en" sz="1350" dirty="0">
                <a:solidFill>
                  <a:srgbClr val="1E2A32"/>
                </a:solidFill>
                <a:latin typeface="Calibri" pitchFamily="34" charset="0"/>
                <a:ea typeface="Calibri" pitchFamily="34" charset="-122"/>
                <a:cs typeface="Calibri" pitchFamily="34" charset="-120"/>
              </a:rPr>
              <a:t>• No dynamic link between modules</a:t>
            </a:r>
            <a:endParaRPr xmlns:a="http://schemas.openxmlformats.org/drawingml/2006/main" lang="en-US" sz="1350" dirty="0"/>
          </a:p>
          <a:p>
            <a:pPr xmlns:a="http://schemas.openxmlformats.org/drawingml/2006/main" indent="0" marL="0">
              <a:lnSpc>
                <a:spcPts val="2600"/>
              </a:lnSpc>
              <a:buNone/>
            </a:pPr>
            <a:r xmlns:a="http://schemas.openxmlformats.org/drawingml/2006/main">
              <a:rPr lang="en" sz="1350" dirty="0">
                <a:solidFill>
                  <a:srgbClr val="1E2A32"/>
                </a:solidFill>
                <a:latin typeface="Calibri" pitchFamily="34" charset="0"/>
                <a:ea typeface="Calibri" pitchFamily="34" charset="-122"/>
                <a:cs typeface="Calibri" pitchFamily="34" charset="-120"/>
              </a:rPr>
              <a:t>• No real tracking or alerts</a:t>
            </a:r>
            <a:endParaRPr xmlns:a="http://schemas.openxmlformats.org/drawingml/2006/main" lang="en-US" sz="1350" dirty="0"/>
          </a:p>
          <a:p>
            <a:pPr xmlns:a="http://schemas.openxmlformats.org/drawingml/2006/main" indent="0" marL="0">
              <a:lnSpc>
                <a:spcPts val="2600"/>
              </a:lnSpc>
              <a:buNone/>
            </a:pPr>
            <a:r xmlns:a="http://schemas.openxmlformats.org/drawingml/2006/main">
              <a:rPr lang="en" sz="1350" dirty="0">
                <a:solidFill>
                  <a:srgbClr val="1E2A32"/>
                </a:solidFill>
                <a:latin typeface="Calibri" pitchFamily="34" charset="0"/>
                <a:ea typeface="Calibri" pitchFamily="34" charset="-122"/>
                <a:cs typeface="Calibri" pitchFamily="34" charset="-120"/>
              </a:rPr>
              <a:t>• Objective: to assess feasibility</a:t>
            </a:r>
            <a:endParaRPr xmlns:a="http://schemas.openxmlformats.org/drawingml/2006/main" lang="en-US" sz="1350" dirty="0"/>
          </a:p>
        </p:txBody>
      </p:sp>
      <p:sp>
        <p:nvSpPr>
          <p:cNvPr id="7" name="Text 5"/>
          <p:cNvSpPr/>
          <p:nvPr/>
        </p:nvSpPr>
        <p:spPr>
          <a:xfrm>
            <a:off x="6537960" y="1463040"/>
            <a:ext cx="457200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700" b="1" dirty="0">
                <a:solidFill>
                  <a:srgbClr val="065A82"/>
                </a:solidFill>
                <a:latin typeface="Cambria" pitchFamily="34" charset="0"/>
                <a:ea typeface="Cambria" pitchFamily="34" charset="-122"/>
                <a:cs typeface="Cambria" pitchFamily="34" charset="-120"/>
              </a:rPr>
              <a:t>Project 2026</a:t>
            </a:r>
            <a:endParaRPr xmlns:a="http://schemas.openxmlformats.org/drawingml/2006/main" lang="en-US" sz="1700" dirty="0"/>
          </a:p>
        </p:txBody>
      </p:sp>
      <p:sp>
        <p:nvSpPr>
          <p:cNvPr id="8" name="Text 6"/>
          <p:cNvSpPr/>
          <p:nvPr/>
        </p:nvSpPr>
        <p:spPr>
          <a:xfrm>
            <a:off x="6537960" y="1965960"/>
            <a:ext cx="4846320" cy="3657600"/>
          </a:xfrm>
          <a:prstGeom prst="rect">
            <a:avLst/>
          </a:prstGeom>
          <a:noFill/>
          <a:ln/>
        </p:spPr>
        <p:txBody>
          <a:bodyPr wrap="square" rtlCol="0" anchor="ctr"/>
          <a:lstStyle/>
          <a:p>
            <a:pPr xmlns:a="http://schemas.openxmlformats.org/drawingml/2006/main" indent="0" marL="0">
              <a:lnSpc>
                <a:spcPts val="2600"/>
              </a:lnSpc>
              <a:buNone/>
            </a:pPr>
            <a:r xmlns:a="http://schemas.openxmlformats.org/drawingml/2006/main">
              <a:rPr lang="en" sz="1350" dirty="0">
                <a:solidFill>
                  <a:srgbClr val="1E2A32"/>
                </a:solidFill>
                <a:latin typeface="Calibri" pitchFamily="34" charset="0"/>
                <a:ea typeface="Calibri" pitchFamily="34" charset="-122"/>
                <a:cs typeface="Calibri" pitchFamily="34" charset="-120"/>
              </a:rPr>
              <a:t>• A software module connected to the other components</a:t>
            </a:r>
            <a:endParaRPr xmlns:a="http://schemas.openxmlformats.org/drawingml/2006/main" lang="en-US" sz="1350" dirty="0"/>
          </a:p>
          <a:p>
            <a:pPr xmlns:a="http://schemas.openxmlformats.org/drawingml/2006/main" indent="0" marL="0">
              <a:lnSpc>
                <a:spcPts val="2600"/>
              </a:lnSpc>
              <a:buNone/>
            </a:pPr>
            <a:r xmlns:a="http://schemas.openxmlformats.org/drawingml/2006/main">
              <a:rPr lang="en" sz="1350" dirty="0">
                <a:solidFill>
                  <a:srgbClr val="1E2A32"/>
                </a:solidFill>
                <a:latin typeface="Calibri" pitchFamily="34" charset="0"/>
                <a:ea typeface="Calibri" pitchFamily="34" charset="-122"/>
                <a:cs typeface="Calibri" pitchFamily="34" charset="-120"/>
              </a:rPr>
              <a:t>• Real data tracked over time</a:t>
            </a:r>
            <a:endParaRPr xmlns:a="http://schemas.openxmlformats.org/drawingml/2006/main" lang="en-US" sz="1350" dirty="0"/>
          </a:p>
          <a:p>
            <a:pPr xmlns:a="http://schemas.openxmlformats.org/drawingml/2006/main" indent="0" marL="0">
              <a:lnSpc>
                <a:spcPts val="2600"/>
              </a:lnSpc>
              <a:buNone/>
            </a:pPr>
            <a:r xmlns:a="http://schemas.openxmlformats.org/drawingml/2006/main">
              <a:rPr lang="en" sz="1350" dirty="0">
                <a:solidFill>
                  <a:srgbClr val="1E2A32"/>
                </a:solidFill>
                <a:latin typeface="Calibri" pitchFamily="34" charset="0"/>
                <a:ea typeface="Calibri" pitchFamily="34" charset="-122"/>
                <a:cs typeface="Calibri" pitchFamily="34" charset="-120"/>
              </a:rPr>
              <a:t>• Automated triggering and alerts</a:t>
            </a:r>
            <a:endParaRPr xmlns:a="http://schemas.openxmlformats.org/drawingml/2006/main" lang="en-US" sz="1350" dirty="0"/>
          </a:p>
          <a:p>
            <a:pPr xmlns:a="http://schemas.openxmlformats.org/drawingml/2006/main" indent="0" marL="0">
              <a:lnSpc>
                <a:spcPts val="2600"/>
              </a:lnSpc>
              <a:buNone/>
            </a:pPr>
            <a:r xmlns:a="http://schemas.openxmlformats.org/drawingml/2006/main">
              <a:rPr lang="en" sz="1350" dirty="0">
                <a:solidFill>
                  <a:srgbClr val="1E2A32"/>
                </a:solidFill>
                <a:latin typeface="Calibri" pitchFamily="34" charset="0"/>
                <a:ea typeface="Calibri" pitchFamily="34" charset="-122"/>
                <a:cs typeface="Calibri" pitchFamily="34" charset="-120"/>
              </a:rPr>
              <a:t>• Logging and traceability (quality, consumption)</a:t>
            </a:r>
            <a:endParaRPr xmlns:a="http://schemas.openxmlformats.org/drawingml/2006/main" lang="en-US" sz="1350" dirty="0"/>
          </a:p>
          <a:p>
            <a:pPr xmlns:a="http://schemas.openxmlformats.org/drawingml/2006/main" indent="0" marL="0">
              <a:lnSpc>
                <a:spcPts val="2600"/>
              </a:lnSpc>
              <a:buNone/>
            </a:pPr>
            <a:r xmlns:a="http://schemas.openxmlformats.org/drawingml/2006/main">
              <a:rPr lang="en" sz="1350" dirty="0">
                <a:solidFill>
                  <a:srgbClr val="1E2A32"/>
                </a:solidFill>
                <a:latin typeface="Calibri" pitchFamily="34" charset="0"/>
                <a:ea typeface="Calibri" pitchFamily="34" charset="-122"/>
                <a:cs typeface="Calibri" pitchFamily="34" charset="-120"/>
              </a:rPr>
              <a:t>• Objective: to manage the farm on a daily basis</a:t>
            </a:r>
            <a:endParaRPr xmlns:a="http://schemas.openxmlformats.org/drawingml/2006/main" lang="en-US" sz="1350" dirty="0"/>
          </a:p>
        </p:txBody>
      </p:sp>
      <p:sp>
        <p:nvSpPr>
          <p:cNvPr id="9" name="Text 7"/>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10" name="Text 8"/>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7</a:t>
            </a:r>
            <a:endParaRPr xmlns:a="http://schemas.openxmlformats.org/drawingml/2006/main"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9692640" y="-2011680"/>
            <a:ext cx="6400800" cy="6400800"/>
          </a:xfrm>
          <a:prstGeom prst="ellipse">
            <a:avLst/>
          </a:prstGeom>
          <a:solidFill>
            <a:srgbClr val="1C7293">
              <a:alpha val="45000"/>
            </a:srgbClr>
          </a:solidFill>
          <a:ln/>
        </p:spPr>
      </p:sp>
      <p:sp>
        <p:nvSpPr>
          <p:cNvPr id="3" name="Text 1"/>
          <p:cNvSpPr/>
          <p:nvPr/>
        </p:nvSpPr>
        <p:spPr>
          <a:xfrm>
            <a:off x="731520" y="2331720"/>
            <a:ext cx="2743200" cy="1280160"/>
          </a:xfrm>
          <a:prstGeom prst="rect">
            <a:avLst/>
          </a:prstGeom>
          <a:noFill/>
          <a:ln/>
        </p:spPr>
        <p:txBody>
          <a:bodyPr wrap="square" rtlCol="0" anchor="ctr"/>
          <a:lstStyle/>
          <a:p>
            <a:pPr xmlns:a="http://schemas.openxmlformats.org/drawingml/2006/main" indent="0" marL="0">
              <a:buNone/>
            </a:pPr>
            <a:r xmlns:a="http://schemas.openxmlformats.org/drawingml/2006/main">
              <a:rPr lang="en" sz="9000" b="1" dirty="0">
                <a:solidFill>
                  <a:srgbClr val="3E85A8"/>
                </a:solidFill>
                <a:latin typeface="Cambria" pitchFamily="34" charset="0"/>
                <a:ea typeface="Cambria" pitchFamily="34" charset="-122"/>
                <a:cs typeface="Cambria" pitchFamily="34" charset="-120"/>
              </a:rPr>
              <a:t>02</a:t>
            </a:r>
            <a:endParaRPr xmlns:a="http://schemas.openxmlformats.org/drawingml/2006/main" lang="en-US" sz="9000" dirty="0"/>
          </a:p>
        </p:txBody>
      </p:sp>
      <p:sp>
        <p:nvSpPr>
          <p:cNvPr id="4" name="Text 2"/>
          <p:cNvSpPr/>
          <p:nvPr/>
        </p:nvSpPr>
        <p:spPr>
          <a:xfrm>
            <a:off x="777240" y="3429000"/>
            <a:ext cx="9601200" cy="914400"/>
          </a:xfrm>
          <a:prstGeom prst="rect">
            <a:avLst/>
          </a:prstGeom>
          <a:noFill/>
          <a:ln/>
        </p:spPr>
        <p:txBody>
          <a:bodyPr wrap="square" rtlCol="0" anchor="ctr"/>
          <a:lstStyle/>
          <a:p>
            <a:pPr xmlns:a="http://schemas.openxmlformats.org/drawingml/2006/main" indent="0" marL="0">
              <a:buNone/>
            </a:pPr>
            <a:r xmlns:a="http://schemas.openxmlformats.org/drawingml/2006/main">
              <a:rPr lang="en" sz="3400" b="1" dirty="0">
                <a:solidFill>
                  <a:srgbClr val="FFFFFF"/>
                </a:solidFill>
                <a:latin typeface="Cambria" pitchFamily="34" charset="0"/>
                <a:ea typeface="Cambria" pitchFamily="34" charset="-122"/>
                <a:cs typeface="Cambria" pitchFamily="34" charset="-120"/>
              </a:rPr>
              <a:t>Detailed software database by axis</a:t>
            </a:r>
            <a:endParaRPr xmlns:a="http://schemas.openxmlformats.org/drawingml/2006/main" lang="en-US" sz="3400" dirty="0"/>
          </a:p>
        </p:txBody>
      </p:sp>
      <p:sp>
        <p:nvSpPr>
          <p:cNvPr id="5" name="Text 3"/>
          <p:cNvSpPr/>
          <p:nvPr/>
        </p:nvSpPr>
        <p:spPr>
          <a:xfrm>
            <a:off x="777240" y="4160520"/>
            <a:ext cx="9144000" cy="548640"/>
          </a:xfrm>
          <a:prstGeom prst="rect">
            <a:avLst/>
          </a:prstGeom>
          <a:noFill/>
          <a:ln/>
        </p:spPr>
        <p:txBody>
          <a:bodyPr wrap="square" rtlCol="0" anchor="ctr"/>
          <a:lstStyle/>
          <a:p>
            <a:pPr xmlns:a="http://schemas.openxmlformats.org/drawingml/2006/main" indent="0" marL="0">
              <a:buNone/>
            </a:pPr>
            <a:r xmlns:a="http://schemas.openxmlformats.org/drawingml/2006/main">
              <a:rPr lang="en" sz="1400" dirty="0">
                <a:solidFill>
                  <a:srgbClr val="CADCFC"/>
                </a:solidFill>
                <a:latin typeface="Calibri" pitchFamily="34" charset="0"/>
                <a:ea typeface="Calibri" pitchFamily="34" charset="-122"/>
                <a:cs typeface="Calibri" pitchFamily="34" charset="-120"/>
              </a:rPr>
              <a:t>6 key areas entrusted — objective, reused data, engine logic, inputs/outputs</a:t>
            </a:r>
            <a:endParaRPr xmlns:a="http://schemas.openxmlformats.org/drawingml/2006/main" lang="en-US" sz="1400" dirty="0"/>
          </a:p>
        </p:txBody>
      </p:sp>
      <p:sp>
        <p:nvSpPr>
          <p:cNvPr id="6" name="Text 4"/>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7" name="Text 5"/>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8</a:t>
            </a:r>
            <a:endParaRPr xmlns:a="http://schemas.openxmlformats.org/drawingml/2006/main"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065A82"/>
          </a:solidFill>
          <a:ln/>
        </p:spPr>
      </p:sp>
      <p:sp>
        <p:nvSpPr>
          <p:cNvPr id="3" name="Text 1"/>
          <p:cNvSpPr/>
          <p:nvPr/>
        </p:nvSpPr>
        <p:spPr>
          <a:xfrm>
            <a:off x="548640" y="457200"/>
            <a:ext cx="640080" cy="640080"/>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2000" b="1" dirty="0">
                <a:solidFill>
                  <a:srgbClr val="FFFFFF"/>
                </a:solidFill>
                <a:latin typeface="Cambria" pitchFamily="34" charset="0"/>
                <a:ea typeface="Cambria" pitchFamily="34" charset="-122"/>
                <a:cs typeface="Cambria" pitchFamily="34" charset="-120"/>
              </a:rPr>
              <a:t>1</a:t>
            </a:r>
            <a:endParaRPr xmlns:a="http://schemas.openxmlformats.org/drawingml/2006/main" lang="en-US" sz="2000" dirty="0"/>
          </a:p>
        </p:txBody>
      </p:sp>
      <p:sp>
        <p:nvSpPr>
          <p:cNvPr id="4" name="Text 2"/>
          <p:cNvSpPr/>
          <p:nvPr/>
        </p:nvSpPr>
        <p:spPr>
          <a:xfrm>
            <a:off x="1371600" y="438912"/>
            <a:ext cx="10241280" cy="640080"/>
          </a:xfrm>
          <a:prstGeom prst="rect">
            <a:avLst/>
          </a:prstGeom>
          <a:noFill/>
          <a:ln/>
        </p:spPr>
        <p:txBody>
          <a:bodyPr wrap="square" rtlCol="0" anchor="ctr"/>
          <a:lstStyle/>
          <a:p>
            <a:pPr xmlns:a="http://schemas.openxmlformats.org/drawingml/2006/main" indent="0" marL="0">
              <a:buNone/>
            </a:pPr>
            <a:r xmlns:a="http://schemas.openxmlformats.org/drawingml/2006/main">
              <a:rPr lang="en" sz="2200" b="1" dirty="0">
                <a:solidFill>
                  <a:srgbClr val="21295C"/>
                </a:solidFill>
                <a:latin typeface="Cambria" pitchFamily="34" charset="0"/>
                <a:ea typeface="Cambria" pitchFamily="34" charset="-122"/>
                <a:cs typeface="Cambria" pitchFamily="34" charset="-120"/>
              </a:rPr>
              <a:t>Irrigation scheduling &amp; automation</a:t>
            </a:r>
            <a:endParaRPr xmlns:a="http://schemas.openxmlformats.org/drawingml/2006/main" lang="en-US" sz="2200" dirty="0"/>
          </a:p>
        </p:txBody>
      </p:sp>
      <p:sp>
        <p:nvSpPr>
          <p:cNvPr id="5" name="Text 3"/>
          <p:cNvSpPr/>
          <p:nvPr/>
        </p:nvSpPr>
        <p:spPr>
          <a:xfrm>
            <a:off x="1371600" y="1005840"/>
            <a:ext cx="1024128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200" i="1" dirty="0">
                <a:solidFill>
                  <a:srgbClr val="5B6B72"/>
                </a:solidFill>
                <a:latin typeface="Calibri" pitchFamily="34" charset="0"/>
                <a:ea typeface="Calibri" pitchFamily="34" charset="-122"/>
                <a:cs typeface="Calibri" pitchFamily="34" charset="-120"/>
              </a:rPr>
              <a:t>Moving from an average theoretical water requirement to an automatic and differentiated triggering.</a:t>
            </a:r>
            <a:endParaRPr xmlns:a="http://schemas.openxmlformats.org/drawingml/2006/main" lang="en-US" sz="1200" dirty="0"/>
          </a:p>
        </p:txBody>
      </p:sp>
      <p:sp>
        <p:nvSpPr>
          <p:cNvPr id="6" name="Shape 4"/>
          <p:cNvSpPr/>
          <p:nvPr/>
        </p:nvSpPr>
        <p:spPr>
          <a:xfrm>
            <a:off x="548640" y="1481328"/>
            <a:ext cx="11109960" cy="0"/>
          </a:xfrm>
          <a:prstGeom prst="line">
            <a:avLst/>
          </a:prstGeom>
          <a:noFill/>
          <a:ln w="12700">
            <a:solidFill>
              <a:srgbClr val="DCE4E6"/>
            </a:solidFill>
            <a:prstDash val="solid"/>
          </a:ln>
        </p:spPr>
      </p:sp>
      <p:sp>
        <p:nvSpPr>
          <p:cNvPr id="7" name="Shape 5"/>
          <p:cNvSpPr/>
          <p:nvPr/>
        </p:nvSpPr>
        <p:spPr>
          <a:xfrm>
            <a:off x="548640" y="1691640"/>
            <a:ext cx="5120640" cy="4480560"/>
          </a:xfrm>
          <a:prstGeom prst="roundRect">
            <a:avLst>
              <a:gd name="adj" fmla="val 1633"/>
            </a:avLst>
          </a:prstGeom>
          <a:solidFill>
            <a:srgbClr val="F4F8F9"/>
          </a:solidFill>
          <a:ln/>
        </p:spPr>
      </p:sp>
      <p:sp>
        <p:nvSpPr>
          <p:cNvPr id="8" name="Text 6"/>
          <p:cNvSpPr/>
          <p:nvPr/>
        </p:nvSpPr>
        <p:spPr>
          <a:xfrm>
            <a:off x="822960" y="1874520"/>
            <a:ext cx="466344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400" b="1" dirty="0">
                <a:solidFill>
                  <a:srgbClr val="065A82"/>
                </a:solidFill>
                <a:latin typeface="Cambria" pitchFamily="34" charset="0"/>
                <a:ea typeface="Cambria" pitchFamily="34" charset="-122"/>
                <a:cs typeface="Cambria" pitchFamily="34" charset="-120"/>
              </a:rPr>
              <a:t>Reused data from the 2025 study</a:t>
            </a:r>
            <a:endParaRPr xmlns:a="http://schemas.openxmlformats.org/drawingml/2006/main" lang="en-US" sz="1400" dirty="0"/>
          </a:p>
        </p:txBody>
      </p:sp>
      <p:sp>
        <p:nvSpPr>
          <p:cNvPr id="9" name="Text 7"/>
          <p:cNvSpPr/>
          <p:nvPr/>
        </p:nvSpPr>
        <p:spPr>
          <a:xfrm>
            <a:off x="822960" y="2286000"/>
            <a:ext cx="4617720" cy="3794760"/>
          </a:xfrm>
          <a:prstGeom prst="rect">
            <a:avLst/>
          </a:prstGeom>
          <a:noFill/>
          <a:ln/>
        </p:spPr>
        <p:txBody>
          <a:bodyPr wrap="square" rtlCol="0" anchor="t"/>
          <a:lstStyle/>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Seasonal coefficient fₛ (0.5 to 1.0 depending on the season)</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Daily requirement in liters per tree per growth stage</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Reference flow rate: 4 m³/h</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Reference irrigation duration: 5 hours/day</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Buffer tank capacity: 30 m³</a:t>
            </a:r>
            <a:endParaRPr xmlns:a="http://schemas.openxmlformats.org/drawingml/2006/main" lang="en-US" sz="1200" dirty="0"/>
          </a:p>
        </p:txBody>
      </p:sp>
      <p:sp>
        <p:nvSpPr>
          <p:cNvPr id="10" name="Shape 8"/>
          <p:cNvSpPr/>
          <p:nvPr/>
        </p:nvSpPr>
        <p:spPr>
          <a:xfrm>
            <a:off x="5852160" y="1691640"/>
            <a:ext cx="5806440" cy="2743200"/>
          </a:xfrm>
          <a:prstGeom prst="roundRect">
            <a:avLst>
              <a:gd name="adj" fmla="val 2667"/>
            </a:avLst>
          </a:prstGeom>
          <a:solidFill>
            <a:srgbClr val="EAF3F6"/>
          </a:solidFill>
          <a:ln/>
        </p:spPr>
      </p:sp>
      <p:sp>
        <p:nvSpPr>
          <p:cNvPr id="11" name="Text 9"/>
          <p:cNvSpPr/>
          <p:nvPr/>
        </p:nvSpPr>
        <p:spPr>
          <a:xfrm>
            <a:off x="6126480" y="1874520"/>
            <a:ext cx="539496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400" b="1" dirty="0">
                <a:solidFill>
                  <a:srgbClr val="065A82"/>
                </a:solidFill>
                <a:latin typeface="Cambria" pitchFamily="34" charset="0"/>
                <a:ea typeface="Cambria" pitchFamily="34" charset="-122"/>
                <a:cs typeface="Cambria" pitchFamily="34" charset="-120"/>
              </a:rPr>
              <a:t>Engine logic (in business terminology)</a:t>
            </a:r>
            <a:endParaRPr xmlns:a="http://schemas.openxmlformats.org/drawingml/2006/main" lang="en-US" sz="1400" dirty="0"/>
          </a:p>
        </p:txBody>
      </p:sp>
      <p:sp>
        <p:nvSpPr>
          <p:cNvPr id="12" name="Text 10"/>
          <p:cNvSpPr/>
          <p:nvPr/>
        </p:nvSpPr>
        <p:spPr>
          <a:xfrm>
            <a:off x="6126480" y="2286000"/>
            <a:ext cx="5394960" cy="2057400"/>
          </a:xfrm>
          <a:prstGeom prst="rect">
            <a:avLst/>
          </a:prstGeom>
          <a:noFill/>
          <a:ln/>
        </p:spPr>
        <p:txBody>
          <a:bodyPr wrap="square" rtlCol="0" anchor="t"/>
          <a:lstStyle/>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The system combines the current season and the growth stage of each plot to calculate a daily target volume. This volume is then translated into an irrigation window (start time, duration) based on the available flow rate. If the reservoir level is below a critical threshold, irrigation is delayed and an alert is sent (link to axis 6).</a:t>
            </a:r>
            <a:endParaRPr xmlns:a="http://schemas.openxmlformats.org/drawingml/2006/main" lang="en-US" sz="1200" dirty="0"/>
          </a:p>
        </p:txBody>
      </p:sp>
      <p:sp>
        <p:nvSpPr>
          <p:cNvPr id="13" name="Shape 11"/>
          <p:cNvSpPr/>
          <p:nvPr/>
        </p:nvSpPr>
        <p:spPr>
          <a:xfrm>
            <a:off x="5852160" y="4572000"/>
            <a:ext cx="2816352" cy="1600200"/>
          </a:xfrm>
          <a:prstGeom prst="roundRect">
            <a:avLst>
              <a:gd name="adj" fmla="val 4571"/>
            </a:avLst>
          </a:prstGeom>
          <a:solidFill>
            <a:srgbClr val="FFFFFF"/>
          </a:solidFill>
          <a:ln w="12700">
            <a:solidFill>
              <a:srgbClr val="DCE4E6"/>
            </a:solidFill>
            <a:prstDash val="solid"/>
          </a:ln>
        </p:spPr>
      </p:sp>
      <p:sp>
        <p:nvSpPr>
          <p:cNvPr id="14" name="Text 12"/>
          <p:cNvSpPr/>
          <p:nvPr/>
        </p:nvSpPr>
        <p:spPr>
          <a:xfrm>
            <a:off x="6035040" y="4681728"/>
            <a:ext cx="246888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1250" b="1" dirty="0">
                <a:solidFill>
                  <a:srgbClr val="1C7293"/>
                </a:solidFill>
                <a:latin typeface="Cambria" pitchFamily="34" charset="0"/>
                <a:ea typeface="Cambria" pitchFamily="34" charset="-122"/>
                <a:cs typeface="Cambria" pitchFamily="34" charset="-120"/>
              </a:rPr>
              <a:t>Entrances</a:t>
            </a:r>
            <a:endParaRPr xmlns:a="http://schemas.openxmlformats.org/drawingml/2006/main" lang="en-US" sz="1250" dirty="0"/>
          </a:p>
        </p:txBody>
      </p:sp>
      <p:sp>
        <p:nvSpPr>
          <p:cNvPr id="15" name="Text 13"/>
          <p:cNvSpPr/>
          <p:nvPr/>
        </p:nvSpPr>
        <p:spPr>
          <a:xfrm>
            <a:off x="6035040" y="4956048"/>
            <a:ext cx="2514600" cy="1170432"/>
          </a:xfrm>
          <a:prstGeom prst="rect">
            <a:avLst/>
          </a:prstGeom>
          <a:noFill/>
          <a:ln/>
        </p:spPr>
        <p:txBody>
          <a:bodyPr wrap="square" rtlCol="0" anchor="ctr"/>
          <a:lstStyle/>
          <a:p>
            <a:pPr xmlns:a="http://schemas.openxmlformats.org/drawingml/2006/main" indent="0" marL="0">
              <a:lnSpc>
                <a:spcPts val="1400"/>
              </a:lnSpc>
              <a:buNone/>
            </a:pPr>
            <a:r xmlns:a="http://schemas.openxmlformats.org/drawingml/2006/main">
              <a:rPr lang="en" sz="1050" dirty="0">
                <a:solidFill>
                  <a:srgbClr val="1E2A32"/>
                </a:solidFill>
                <a:latin typeface="Calibri" pitchFamily="34" charset="0"/>
                <a:ea typeface="Calibri" pitchFamily="34" charset="-122"/>
                <a:cs typeface="Calibri" pitchFamily="34" charset="-120"/>
              </a:rPr>
              <a:t>Date/season, growth stage per zone, reservoir level, (optional) soil moisture</a:t>
            </a:r>
            <a:endParaRPr xmlns:a="http://schemas.openxmlformats.org/drawingml/2006/main" lang="en-US" sz="1050" dirty="0"/>
          </a:p>
        </p:txBody>
      </p:sp>
      <p:sp>
        <p:nvSpPr>
          <p:cNvPr id="16" name="Shape 14"/>
          <p:cNvSpPr/>
          <p:nvPr/>
        </p:nvSpPr>
        <p:spPr>
          <a:xfrm>
            <a:off x="8842248" y="4572000"/>
            <a:ext cx="2816352" cy="1600200"/>
          </a:xfrm>
          <a:prstGeom prst="roundRect">
            <a:avLst>
              <a:gd name="adj" fmla="val 4571"/>
            </a:avLst>
          </a:prstGeom>
          <a:solidFill>
            <a:srgbClr val="FFFFFF"/>
          </a:solidFill>
          <a:ln w="12700">
            <a:solidFill>
              <a:srgbClr val="DCE4E6"/>
            </a:solidFill>
            <a:prstDash val="solid"/>
          </a:ln>
        </p:spPr>
      </p:sp>
      <p:sp>
        <p:nvSpPr>
          <p:cNvPr id="17" name="Text 15"/>
          <p:cNvSpPr/>
          <p:nvPr/>
        </p:nvSpPr>
        <p:spPr>
          <a:xfrm>
            <a:off x="9025128" y="4681728"/>
            <a:ext cx="25146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1250" b="1" dirty="0">
                <a:solidFill>
                  <a:srgbClr val="1C7293"/>
                </a:solidFill>
                <a:latin typeface="Cambria" pitchFamily="34" charset="0"/>
                <a:ea typeface="Cambria" pitchFamily="34" charset="-122"/>
                <a:cs typeface="Cambria" pitchFamily="34" charset="-120"/>
              </a:rPr>
              <a:t>Expected releases</a:t>
            </a:r>
            <a:endParaRPr xmlns:a="http://schemas.openxmlformats.org/drawingml/2006/main" lang="en-US" sz="1250" dirty="0"/>
          </a:p>
        </p:txBody>
      </p:sp>
      <p:sp>
        <p:nvSpPr>
          <p:cNvPr id="18" name="Text 16"/>
          <p:cNvSpPr/>
          <p:nvPr/>
        </p:nvSpPr>
        <p:spPr>
          <a:xfrm>
            <a:off x="9025128" y="4956048"/>
            <a:ext cx="2514600" cy="1170432"/>
          </a:xfrm>
          <a:prstGeom prst="rect">
            <a:avLst/>
          </a:prstGeom>
          <a:noFill/>
          <a:ln/>
        </p:spPr>
        <p:txBody>
          <a:bodyPr wrap="square" rtlCol="0" anchor="ctr"/>
          <a:lstStyle/>
          <a:p>
            <a:pPr xmlns:a="http://schemas.openxmlformats.org/drawingml/2006/main" indent="0" marL="0">
              <a:lnSpc>
                <a:spcPts val="1400"/>
              </a:lnSpc>
              <a:buNone/>
            </a:pPr>
            <a:r xmlns:a="http://schemas.openxmlformats.org/drawingml/2006/main">
              <a:rPr lang="en" sz="1050" dirty="0">
                <a:solidFill>
                  <a:srgbClr val="1E2A32"/>
                </a:solidFill>
                <a:latin typeface="Calibri" pitchFamily="34" charset="0"/>
                <a:ea typeface="Calibri" pitchFamily="34" charset="-122"/>
                <a:cs typeface="Calibri" pitchFamily="34" charset="-120"/>
              </a:rPr>
              <a:t>Irrigation schedule by zone, trigger time, target volume, status (executed / postponed)</a:t>
            </a:r>
            <a:endParaRPr xmlns:a="http://schemas.openxmlformats.org/drawingml/2006/main" lang="en-US" sz="1050" dirty="0"/>
          </a:p>
        </p:txBody>
      </p:sp>
      <p:sp>
        <p:nvSpPr>
          <p:cNvPr id="19" name="Text 17"/>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20" name="Text 18"/>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9</a:t>
            </a:r>
            <a:endParaRPr xmlns:a="http://schemas.openxmlformats.org/drawingml/2006/main"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065A82"/>
          </a:solidFill>
          <a:ln/>
        </p:spPr>
      </p:sp>
      <p:sp>
        <p:nvSpPr>
          <p:cNvPr id="3" name="Text 1"/>
          <p:cNvSpPr/>
          <p:nvPr/>
        </p:nvSpPr>
        <p:spPr>
          <a:xfrm>
            <a:off x="548640" y="457200"/>
            <a:ext cx="640080" cy="640080"/>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2000" b="1" dirty="0">
                <a:solidFill>
                  <a:srgbClr val="FFFFFF"/>
                </a:solidFill>
                <a:latin typeface="Cambria" pitchFamily="34" charset="0"/>
                <a:ea typeface="Cambria" pitchFamily="34" charset="-122"/>
                <a:cs typeface="Cambria" pitchFamily="34" charset="-120"/>
              </a:rPr>
              <a:t>2</a:t>
            </a:r>
            <a:endParaRPr xmlns:a="http://schemas.openxmlformats.org/drawingml/2006/main" lang="en-US" sz="2000" dirty="0"/>
          </a:p>
        </p:txBody>
      </p:sp>
      <p:sp>
        <p:nvSpPr>
          <p:cNvPr id="4" name="Text 2"/>
          <p:cNvSpPr/>
          <p:nvPr/>
        </p:nvSpPr>
        <p:spPr>
          <a:xfrm>
            <a:off x="1371600" y="438912"/>
            <a:ext cx="10241280" cy="640080"/>
          </a:xfrm>
          <a:prstGeom prst="rect">
            <a:avLst/>
          </a:prstGeom>
          <a:noFill/>
          <a:ln/>
        </p:spPr>
        <p:txBody>
          <a:bodyPr wrap="square" rtlCol="0" anchor="ctr"/>
          <a:lstStyle/>
          <a:p>
            <a:pPr xmlns:a="http://schemas.openxmlformats.org/drawingml/2006/main" indent="0" marL="0">
              <a:buNone/>
            </a:pPr>
            <a:r xmlns:a="http://schemas.openxmlformats.org/drawingml/2006/main">
              <a:rPr lang="en" sz="2200" b="1" dirty="0">
                <a:solidFill>
                  <a:srgbClr val="21295C"/>
                </a:solidFill>
                <a:latin typeface="Cambria" pitchFamily="34" charset="0"/>
                <a:ea typeface="Cambria" pitchFamily="34" charset="-122"/>
                <a:cs typeface="Cambria" pitchFamily="34" charset="-120"/>
              </a:rPr>
              <a:t>Water consumption tracking</a:t>
            </a:r>
            <a:endParaRPr xmlns:a="http://schemas.openxmlformats.org/drawingml/2006/main" lang="en-US" sz="2200" dirty="0"/>
          </a:p>
        </p:txBody>
      </p:sp>
      <p:sp>
        <p:nvSpPr>
          <p:cNvPr id="5" name="Text 3"/>
          <p:cNvSpPr/>
          <p:nvPr/>
        </p:nvSpPr>
        <p:spPr>
          <a:xfrm>
            <a:off x="1371600" y="1005840"/>
            <a:ext cx="1024128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200" i="1" dirty="0">
                <a:solidFill>
                  <a:srgbClr val="5B6B72"/>
                </a:solidFill>
                <a:latin typeface="Calibri" pitchFamily="34" charset="0"/>
                <a:ea typeface="Calibri" pitchFamily="34" charset="-122"/>
                <a:cs typeface="Calibri" pitchFamily="34" charset="-120"/>
              </a:rPr>
              <a:t>Replace the theoretical average with actual monitoring of consumption, item by item.</a:t>
            </a:r>
            <a:endParaRPr xmlns:a="http://schemas.openxmlformats.org/drawingml/2006/main" lang="en-US" sz="1200" dirty="0"/>
          </a:p>
        </p:txBody>
      </p:sp>
      <p:sp>
        <p:nvSpPr>
          <p:cNvPr id="6" name="Shape 4"/>
          <p:cNvSpPr/>
          <p:nvPr/>
        </p:nvSpPr>
        <p:spPr>
          <a:xfrm>
            <a:off x="548640" y="1481328"/>
            <a:ext cx="11109960" cy="0"/>
          </a:xfrm>
          <a:prstGeom prst="line">
            <a:avLst/>
          </a:prstGeom>
          <a:noFill/>
          <a:ln w="12700">
            <a:solidFill>
              <a:srgbClr val="DCE4E6"/>
            </a:solidFill>
            <a:prstDash val="solid"/>
          </a:ln>
        </p:spPr>
      </p:sp>
      <p:sp>
        <p:nvSpPr>
          <p:cNvPr id="7" name="Shape 5"/>
          <p:cNvSpPr/>
          <p:nvPr/>
        </p:nvSpPr>
        <p:spPr>
          <a:xfrm>
            <a:off x="548640" y="1691640"/>
            <a:ext cx="5120640" cy="4480560"/>
          </a:xfrm>
          <a:prstGeom prst="roundRect">
            <a:avLst>
              <a:gd name="adj" fmla="val 1633"/>
            </a:avLst>
          </a:prstGeom>
          <a:solidFill>
            <a:srgbClr val="F4F8F9"/>
          </a:solidFill>
          <a:ln/>
        </p:spPr>
      </p:sp>
      <p:sp>
        <p:nvSpPr>
          <p:cNvPr id="8" name="Text 6"/>
          <p:cNvSpPr/>
          <p:nvPr/>
        </p:nvSpPr>
        <p:spPr>
          <a:xfrm>
            <a:off x="822960" y="1874520"/>
            <a:ext cx="466344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400" b="1" dirty="0">
                <a:solidFill>
                  <a:srgbClr val="065A82"/>
                </a:solidFill>
                <a:latin typeface="Cambria" pitchFamily="34" charset="0"/>
                <a:ea typeface="Cambria" pitchFamily="34" charset="-122"/>
                <a:cs typeface="Cambria" pitchFamily="34" charset="-120"/>
              </a:rPr>
              <a:t>Reused data from the 2025 study</a:t>
            </a:r>
            <a:endParaRPr xmlns:a="http://schemas.openxmlformats.org/drawingml/2006/main" lang="en-US" sz="1400" dirty="0"/>
          </a:p>
        </p:txBody>
      </p:sp>
      <p:sp>
        <p:nvSpPr>
          <p:cNvPr id="9" name="Text 7"/>
          <p:cNvSpPr/>
          <p:nvPr/>
        </p:nvSpPr>
        <p:spPr>
          <a:xfrm>
            <a:off x="822960" y="2286000"/>
            <a:ext cx="4617720" cy="3794760"/>
          </a:xfrm>
          <a:prstGeom prst="rect">
            <a:avLst/>
          </a:prstGeom>
          <a:noFill/>
          <a:ln/>
        </p:spPr>
        <p:txBody>
          <a:bodyPr wrap="square" rtlCol="0" anchor="t"/>
          <a:lstStyle/>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Theoretical reference: 20 m³/day at peak</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Breakdown by use:</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Irrigation: 20 m³/day</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Mango washing: 3 L/kg</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Cutting: 1.5 L/kg</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Dryer cleaning: 5 m³/batch</a:t>
            </a:r>
            <a:endParaRPr xmlns:a="http://schemas.openxmlformats.org/drawingml/2006/main" lang="en-US" sz="1200" dirty="0"/>
          </a:p>
        </p:txBody>
      </p:sp>
      <p:sp>
        <p:nvSpPr>
          <p:cNvPr id="10" name="Shape 8"/>
          <p:cNvSpPr/>
          <p:nvPr/>
        </p:nvSpPr>
        <p:spPr>
          <a:xfrm>
            <a:off x="5852160" y="1691640"/>
            <a:ext cx="5806440" cy="2743200"/>
          </a:xfrm>
          <a:prstGeom prst="roundRect">
            <a:avLst>
              <a:gd name="adj" fmla="val 2667"/>
            </a:avLst>
          </a:prstGeom>
          <a:solidFill>
            <a:srgbClr val="EAF3F6"/>
          </a:solidFill>
          <a:ln/>
        </p:spPr>
      </p:sp>
      <p:sp>
        <p:nvSpPr>
          <p:cNvPr id="11" name="Text 9"/>
          <p:cNvSpPr/>
          <p:nvPr/>
        </p:nvSpPr>
        <p:spPr>
          <a:xfrm>
            <a:off x="6126480" y="1874520"/>
            <a:ext cx="539496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400" b="1" dirty="0">
                <a:solidFill>
                  <a:srgbClr val="065A82"/>
                </a:solidFill>
                <a:latin typeface="Cambria" pitchFamily="34" charset="0"/>
                <a:ea typeface="Cambria" pitchFamily="34" charset="-122"/>
                <a:cs typeface="Cambria" pitchFamily="34" charset="-120"/>
              </a:rPr>
              <a:t>Engine logic (in business terminology)</a:t>
            </a:r>
            <a:endParaRPr xmlns:a="http://schemas.openxmlformats.org/drawingml/2006/main" lang="en-US" sz="1400" dirty="0"/>
          </a:p>
        </p:txBody>
      </p:sp>
      <p:sp>
        <p:nvSpPr>
          <p:cNvPr id="12" name="Text 10"/>
          <p:cNvSpPr/>
          <p:nvPr/>
        </p:nvSpPr>
        <p:spPr>
          <a:xfrm>
            <a:off x="6126480" y="2286000"/>
            <a:ext cx="5394960" cy="2057400"/>
          </a:xfrm>
          <a:prstGeom prst="rect">
            <a:avLst/>
          </a:prstGeom>
          <a:noFill/>
          <a:ln/>
        </p:spPr>
        <p:txBody>
          <a:bodyPr wrap="square" rtlCol="0" anchor="t"/>
          <a:lstStyle/>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Each consumption point (irrigation, washing, processing, cleaning) records an actual reading, either daily or per batch. The system accumulates these readings and continuously compares them to the theoretical reference of the 2025 study, in order to highlight significant differences rather than relying on a fixed average.</a:t>
            </a:r>
            <a:endParaRPr xmlns:a="http://schemas.openxmlformats.org/drawingml/2006/main" lang="en-US" sz="1200" dirty="0"/>
          </a:p>
        </p:txBody>
      </p:sp>
      <p:sp>
        <p:nvSpPr>
          <p:cNvPr id="13" name="Shape 11"/>
          <p:cNvSpPr/>
          <p:nvPr/>
        </p:nvSpPr>
        <p:spPr>
          <a:xfrm>
            <a:off x="5852160" y="4572000"/>
            <a:ext cx="2816352" cy="1600200"/>
          </a:xfrm>
          <a:prstGeom prst="roundRect">
            <a:avLst>
              <a:gd name="adj" fmla="val 4571"/>
            </a:avLst>
          </a:prstGeom>
          <a:solidFill>
            <a:srgbClr val="FFFFFF"/>
          </a:solidFill>
          <a:ln w="12700">
            <a:solidFill>
              <a:srgbClr val="DCE4E6"/>
            </a:solidFill>
            <a:prstDash val="solid"/>
          </a:ln>
        </p:spPr>
      </p:sp>
      <p:sp>
        <p:nvSpPr>
          <p:cNvPr id="14" name="Text 12"/>
          <p:cNvSpPr/>
          <p:nvPr/>
        </p:nvSpPr>
        <p:spPr>
          <a:xfrm>
            <a:off x="6035040" y="4681728"/>
            <a:ext cx="246888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1250" b="1" dirty="0">
                <a:solidFill>
                  <a:srgbClr val="1C7293"/>
                </a:solidFill>
                <a:latin typeface="Cambria" pitchFamily="34" charset="0"/>
                <a:ea typeface="Cambria" pitchFamily="34" charset="-122"/>
                <a:cs typeface="Cambria" pitchFamily="34" charset="-120"/>
              </a:rPr>
              <a:t>Entrances</a:t>
            </a:r>
            <a:endParaRPr xmlns:a="http://schemas.openxmlformats.org/drawingml/2006/main" lang="en-US" sz="1250" dirty="0"/>
          </a:p>
        </p:txBody>
      </p:sp>
      <p:sp>
        <p:nvSpPr>
          <p:cNvPr id="15" name="Text 13"/>
          <p:cNvSpPr/>
          <p:nvPr/>
        </p:nvSpPr>
        <p:spPr>
          <a:xfrm>
            <a:off x="6035040" y="4956048"/>
            <a:ext cx="2514600" cy="1170432"/>
          </a:xfrm>
          <a:prstGeom prst="rect">
            <a:avLst/>
          </a:prstGeom>
          <a:noFill/>
          <a:ln/>
        </p:spPr>
        <p:txBody>
          <a:bodyPr wrap="square" rtlCol="0" anchor="ctr"/>
          <a:lstStyle/>
          <a:p>
            <a:pPr xmlns:a="http://schemas.openxmlformats.org/drawingml/2006/main" indent="0" marL="0">
              <a:lnSpc>
                <a:spcPts val="1400"/>
              </a:lnSpc>
              <a:buNone/>
            </a:pPr>
            <a:r xmlns:a="http://schemas.openxmlformats.org/drawingml/2006/main">
              <a:rPr lang="en" sz="1050" dirty="0">
                <a:solidFill>
                  <a:srgbClr val="1E2A32"/>
                </a:solidFill>
                <a:latin typeface="Calibri" pitchFamily="34" charset="0"/>
                <a:ea typeface="Calibri" pitchFamily="34" charset="-122"/>
                <a:cs typeface="Calibri" pitchFamily="34" charset="-120"/>
              </a:rPr>
              <a:t>Consumption readings per station (manual or sensor), theoretical reference volume</a:t>
            </a:r>
            <a:endParaRPr xmlns:a="http://schemas.openxmlformats.org/drawingml/2006/main" lang="en-US" sz="1050" dirty="0"/>
          </a:p>
        </p:txBody>
      </p:sp>
      <p:sp>
        <p:nvSpPr>
          <p:cNvPr id="16" name="Shape 14"/>
          <p:cNvSpPr/>
          <p:nvPr/>
        </p:nvSpPr>
        <p:spPr>
          <a:xfrm>
            <a:off x="8842248" y="4572000"/>
            <a:ext cx="2816352" cy="1600200"/>
          </a:xfrm>
          <a:prstGeom prst="roundRect">
            <a:avLst>
              <a:gd name="adj" fmla="val 4571"/>
            </a:avLst>
          </a:prstGeom>
          <a:solidFill>
            <a:srgbClr val="FFFFFF"/>
          </a:solidFill>
          <a:ln w="12700">
            <a:solidFill>
              <a:srgbClr val="DCE4E6"/>
            </a:solidFill>
            <a:prstDash val="solid"/>
          </a:ln>
        </p:spPr>
      </p:sp>
      <p:sp>
        <p:nvSpPr>
          <p:cNvPr id="17" name="Text 15"/>
          <p:cNvSpPr/>
          <p:nvPr/>
        </p:nvSpPr>
        <p:spPr>
          <a:xfrm>
            <a:off x="9025128" y="4681728"/>
            <a:ext cx="25146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1250" b="1" dirty="0">
                <a:solidFill>
                  <a:srgbClr val="1C7293"/>
                </a:solidFill>
                <a:latin typeface="Cambria" pitchFamily="34" charset="0"/>
                <a:ea typeface="Cambria" pitchFamily="34" charset="-122"/>
                <a:cs typeface="Cambria" pitchFamily="34" charset="-120"/>
              </a:rPr>
              <a:t>Expected releases</a:t>
            </a:r>
            <a:endParaRPr xmlns:a="http://schemas.openxmlformats.org/drawingml/2006/main" lang="en-US" sz="1250" dirty="0"/>
          </a:p>
        </p:txBody>
      </p:sp>
      <p:sp>
        <p:nvSpPr>
          <p:cNvPr id="18" name="Text 16"/>
          <p:cNvSpPr/>
          <p:nvPr/>
        </p:nvSpPr>
        <p:spPr>
          <a:xfrm>
            <a:off x="9025128" y="4956048"/>
            <a:ext cx="2514600" cy="1170432"/>
          </a:xfrm>
          <a:prstGeom prst="rect">
            <a:avLst/>
          </a:prstGeom>
          <a:noFill/>
          <a:ln/>
        </p:spPr>
        <p:txBody>
          <a:bodyPr wrap="square" rtlCol="0" anchor="ctr"/>
          <a:lstStyle/>
          <a:p>
            <a:pPr xmlns:a="http://schemas.openxmlformats.org/drawingml/2006/main" indent="0" marL="0">
              <a:lnSpc>
                <a:spcPts val="1400"/>
              </a:lnSpc>
              <a:buNone/>
            </a:pPr>
            <a:r xmlns:a="http://schemas.openxmlformats.org/drawingml/2006/main">
              <a:rPr lang="en" sz="1050" dirty="0">
                <a:solidFill>
                  <a:srgbClr val="1E2A32"/>
                </a:solidFill>
                <a:latin typeface="Calibri" pitchFamily="34" charset="0"/>
                <a:ea typeface="Calibri" pitchFamily="34" charset="-122"/>
                <a:cs typeface="Calibri" pitchFamily="34" charset="-120"/>
              </a:rPr>
              <a:t>Consumption history, actual vs. reference variance, breakdown by category</a:t>
            </a:r>
            <a:endParaRPr xmlns:a="http://schemas.openxmlformats.org/drawingml/2006/main" lang="en-US" sz="1050" dirty="0"/>
          </a:p>
        </p:txBody>
      </p:sp>
      <p:sp>
        <p:nvSpPr>
          <p:cNvPr id="19" name="Text 17"/>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20" name="Text 18"/>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10</a:t>
            </a:r>
            <a:endParaRPr xmlns:a="http://schemas.openxmlformats.org/drawingml/2006/main"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065A82"/>
          </a:solidFill>
          <a:ln/>
        </p:spPr>
      </p:sp>
      <p:sp>
        <p:nvSpPr>
          <p:cNvPr id="3" name="Text 1"/>
          <p:cNvSpPr/>
          <p:nvPr/>
        </p:nvSpPr>
        <p:spPr>
          <a:xfrm>
            <a:off x="548640" y="457200"/>
            <a:ext cx="640080" cy="640080"/>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2000" b="1" dirty="0">
                <a:solidFill>
                  <a:srgbClr val="FFFFFF"/>
                </a:solidFill>
                <a:latin typeface="Cambria" pitchFamily="34" charset="0"/>
                <a:ea typeface="Cambria" pitchFamily="34" charset="-122"/>
                <a:cs typeface="Cambria" pitchFamily="34" charset="-120"/>
              </a:rPr>
              <a:t>3</a:t>
            </a:r>
            <a:endParaRPr xmlns:a="http://schemas.openxmlformats.org/drawingml/2006/main" lang="en-US" sz="2000" dirty="0"/>
          </a:p>
        </p:txBody>
      </p:sp>
      <p:sp>
        <p:nvSpPr>
          <p:cNvPr id="4" name="Text 2"/>
          <p:cNvSpPr/>
          <p:nvPr/>
        </p:nvSpPr>
        <p:spPr>
          <a:xfrm>
            <a:off x="1371600" y="438912"/>
            <a:ext cx="10241280" cy="640080"/>
          </a:xfrm>
          <a:prstGeom prst="rect">
            <a:avLst/>
          </a:prstGeom>
          <a:noFill/>
          <a:ln/>
        </p:spPr>
        <p:txBody>
          <a:bodyPr wrap="square" rtlCol="0" anchor="ctr"/>
          <a:lstStyle/>
          <a:p>
            <a:pPr xmlns:a="http://schemas.openxmlformats.org/drawingml/2006/main" indent="0" marL="0">
              <a:buNone/>
            </a:pPr>
            <a:r xmlns:a="http://schemas.openxmlformats.org/drawingml/2006/main">
              <a:rPr lang="en" sz="2200" b="1" dirty="0">
                <a:solidFill>
                  <a:srgbClr val="21295C"/>
                </a:solidFill>
                <a:latin typeface="Cambria" pitchFamily="34" charset="0"/>
                <a:ea typeface="Cambria" pitchFamily="34" charset="-122"/>
                <a:cs typeface="Cambria" pitchFamily="34" charset="-120"/>
              </a:rPr>
              <a:t>Rainwater harvesting monitoring</a:t>
            </a:r>
            <a:endParaRPr xmlns:a="http://schemas.openxmlformats.org/drawingml/2006/main" lang="en-US" sz="2200" dirty="0"/>
          </a:p>
        </p:txBody>
      </p:sp>
      <p:sp>
        <p:nvSpPr>
          <p:cNvPr id="5" name="Text 3"/>
          <p:cNvSpPr/>
          <p:nvPr/>
        </p:nvSpPr>
        <p:spPr>
          <a:xfrm>
            <a:off x="1371600" y="1005840"/>
            <a:ext cx="1024128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200" i="1" dirty="0">
                <a:solidFill>
                  <a:srgbClr val="5B6B72"/>
                </a:solidFill>
                <a:latin typeface="Calibri" pitchFamily="34" charset="0"/>
                <a:ea typeface="Calibri" pitchFamily="34" charset="-122"/>
                <a:cs typeface="Calibri" pitchFamily="34" charset="-120"/>
              </a:rPr>
              <a:t>Building a completely new brick: the 2025 study only deals with regional rainfall, not collection.</a:t>
            </a:r>
            <a:endParaRPr xmlns:a="http://schemas.openxmlformats.org/drawingml/2006/main" lang="en-US" sz="1200" dirty="0"/>
          </a:p>
        </p:txBody>
      </p:sp>
      <p:sp>
        <p:nvSpPr>
          <p:cNvPr id="6" name="Shape 4"/>
          <p:cNvSpPr/>
          <p:nvPr/>
        </p:nvSpPr>
        <p:spPr>
          <a:xfrm>
            <a:off x="548640" y="1481328"/>
            <a:ext cx="11109960" cy="0"/>
          </a:xfrm>
          <a:prstGeom prst="line">
            <a:avLst/>
          </a:prstGeom>
          <a:noFill/>
          <a:ln w="12700">
            <a:solidFill>
              <a:srgbClr val="DCE4E6"/>
            </a:solidFill>
            <a:prstDash val="solid"/>
          </a:ln>
        </p:spPr>
      </p:sp>
      <p:sp>
        <p:nvSpPr>
          <p:cNvPr id="7" name="Shape 5"/>
          <p:cNvSpPr/>
          <p:nvPr/>
        </p:nvSpPr>
        <p:spPr>
          <a:xfrm>
            <a:off x="548640" y="1691640"/>
            <a:ext cx="5120640" cy="4480560"/>
          </a:xfrm>
          <a:prstGeom prst="roundRect">
            <a:avLst>
              <a:gd name="adj" fmla="val 1633"/>
            </a:avLst>
          </a:prstGeom>
          <a:solidFill>
            <a:srgbClr val="F4F8F9"/>
          </a:solidFill>
          <a:ln/>
        </p:spPr>
      </p:sp>
      <p:sp>
        <p:nvSpPr>
          <p:cNvPr id="8" name="Text 6"/>
          <p:cNvSpPr/>
          <p:nvPr/>
        </p:nvSpPr>
        <p:spPr>
          <a:xfrm>
            <a:off x="822960" y="1874520"/>
            <a:ext cx="466344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400" b="1" dirty="0">
                <a:solidFill>
                  <a:srgbClr val="065A82"/>
                </a:solidFill>
                <a:latin typeface="Cambria" pitchFamily="34" charset="0"/>
                <a:ea typeface="Cambria" pitchFamily="34" charset="-122"/>
                <a:cs typeface="Cambria" pitchFamily="34" charset="-120"/>
              </a:rPr>
              <a:t>Reused data from the 2025 study</a:t>
            </a:r>
            <a:endParaRPr xmlns:a="http://schemas.openxmlformats.org/drawingml/2006/main" lang="en-US" sz="1400" dirty="0"/>
          </a:p>
        </p:txBody>
      </p:sp>
      <p:sp>
        <p:nvSpPr>
          <p:cNvPr id="9" name="Text 7"/>
          <p:cNvSpPr/>
          <p:nvPr/>
        </p:nvSpPr>
        <p:spPr>
          <a:xfrm>
            <a:off x="822960" y="2286000"/>
            <a:ext cx="4617720" cy="3794760"/>
          </a:xfrm>
          <a:prstGeom prst="rect">
            <a:avLst/>
          </a:prstGeom>
          <a:noFill/>
          <a:ln/>
        </p:spPr>
        <p:txBody>
          <a:bodyPr wrap="square" rtlCol="0" anchor="t"/>
          <a:lstStyle/>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Regional annual rainfall (e.g., Koubri 750–850 mm/year)</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Dry days/year per region (seasonality proxy)</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No collection or tank data exists in the 2025 study</a:t>
            </a:r>
            <a:endParaRPr xmlns:a="http://schemas.openxmlformats.org/drawingml/2006/main" lang="en-US" sz="1200" dirty="0"/>
          </a:p>
        </p:txBody>
      </p:sp>
      <p:sp>
        <p:nvSpPr>
          <p:cNvPr id="10" name="Shape 8"/>
          <p:cNvSpPr/>
          <p:nvPr/>
        </p:nvSpPr>
        <p:spPr>
          <a:xfrm>
            <a:off x="5852160" y="1691640"/>
            <a:ext cx="5806440" cy="2743200"/>
          </a:xfrm>
          <a:prstGeom prst="roundRect">
            <a:avLst>
              <a:gd name="adj" fmla="val 2667"/>
            </a:avLst>
          </a:prstGeom>
          <a:solidFill>
            <a:srgbClr val="EAF3F6"/>
          </a:solidFill>
          <a:ln/>
        </p:spPr>
      </p:sp>
      <p:sp>
        <p:nvSpPr>
          <p:cNvPr id="11" name="Text 9"/>
          <p:cNvSpPr/>
          <p:nvPr/>
        </p:nvSpPr>
        <p:spPr>
          <a:xfrm>
            <a:off x="6126480" y="1874520"/>
            <a:ext cx="539496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400" b="1" dirty="0">
                <a:solidFill>
                  <a:srgbClr val="065A82"/>
                </a:solidFill>
                <a:latin typeface="Cambria" pitchFamily="34" charset="0"/>
                <a:ea typeface="Cambria" pitchFamily="34" charset="-122"/>
                <a:cs typeface="Cambria" pitchFamily="34" charset="-120"/>
              </a:rPr>
              <a:t>Engine logic (in business terminology)</a:t>
            </a:r>
            <a:endParaRPr xmlns:a="http://schemas.openxmlformats.org/drawingml/2006/main" lang="en-US" sz="1400" dirty="0"/>
          </a:p>
        </p:txBody>
      </p:sp>
      <p:sp>
        <p:nvSpPr>
          <p:cNvPr id="12" name="Text 10"/>
          <p:cNvSpPr/>
          <p:nvPr/>
        </p:nvSpPr>
        <p:spPr>
          <a:xfrm>
            <a:off x="6126480" y="2286000"/>
            <a:ext cx="5394960" cy="2057400"/>
          </a:xfrm>
          <a:prstGeom prst="rect">
            <a:avLst/>
          </a:prstGeom>
          <a:noFill/>
          <a:ln/>
        </p:spPr>
        <p:txBody>
          <a:bodyPr wrap="square" rtlCol="0" anchor="t"/>
          <a:lstStyle/>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The module must first define a collection area (roof, basin) and a storage capacity. It then records the volume collected after each rainfall event and compares it to the expected regional rainfall to estimate the proportion that rainwater can cover in the daily need (20 m³/day at peak).</a:t>
            </a:r>
            <a:endParaRPr xmlns:a="http://schemas.openxmlformats.org/drawingml/2006/main" lang="en-US" sz="1200" dirty="0"/>
          </a:p>
        </p:txBody>
      </p:sp>
      <p:sp>
        <p:nvSpPr>
          <p:cNvPr id="13" name="Shape 11"/>
          <p:cNvSpPr/>
          <p:nvPr/>
        </p:nvSpPr>
        <p:spPr>
          <a:xfrm>
            <a:off x="5852160" y="4572000"/>
            <a:ext cx="2816352" cy="1600200"/>
          </a:xfrm>
          <a:prstGeom prst="roundRect">
            <a:avLst>
              <a:gd name="adj" fmla="val 4571"/>
            </a:avLst>
          </a:prstGeom>
          <a:solidFill>
            <a:srgbClr val="FFFFFF"/>
          </a:solidFill>
          <a:ln w="12700">
            <a:solidFill>
              <a:srgbClr val="DCE4E6"/>
            </a:solidFill>
            <a:prstDash val="solid"/>
          </a:ln>
        </p:spPr>
      </p:sp>
      <p:sp>
        <p:nvSpPr>
          <p:cNvPr id="14" name="Text 12"/>
          <p:cNvSpPr/>
          <p:nvPr/>
        </p:nvSpPr>
        <p:spPr>
          <a:xfrm>
            <a:off x="6035040" y="4681728"/>
            <a:ext cx="246888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1250" b="1" dirty="0">
                <a:solidFill>
                  <a:srgbClr val="1C7293"/>
                </a:solidFill>
                <a:latin typeface="Cambria" pitchFamily="34" charset="0"/>
                <a:ea typeface="Cambria" pitchFamily="34" charset="-122"/>
                <a:cs typeface="Cambria" pitchFamily="34" charset="-120"/>
              </a:rPr>
              <a:t>Entrances</a:t>
            </a:r>
            <a:endParaRPr xmlns:a="http://schemas.openxmlformats.org/drawingml/2006/main" lang="en-US" sz="1250" dirty="0"/>
          </a:p>
        </p:txBody>
      </p:sp>
      <p:sp>
        <p:nvSpPr>
          <p:cNvPr id="15" name="Text 13"/>
          <p:cNvSpPr/>
          <p:nvPr/>
        </p:nvSpPr>
        <p:spPr>
          <a:xfrm>
            <a:off x="6035040" y="4956048"/>
            <a:ext cx="2514600" cy="1170432"/>
          </a:xfrm>
          <a:prstGeom prst="rect">
            <a:avLst/>
          </a:prstGeom>
          <a:noFill/>
          <a:ln/>
        </p:spPr>
        <p:txBody>
          <a:bodyPr wrap="square" rtlCol="0" anchor="ctr"/>
          <a:lstStyle/>
          <a:p>
            <a:pPr xmlns:a="http://schemas.openxmlformats.org/drawingml/2006/main" indent="0" marL="0">
              <a:lnSpc>
                <a:spcPts val="1400"/>
              </a:lnSpc>
              <a:buNone/>
            </a:pPr>
            <a:r xmlns:a="http://schemas.openxmlformats.org/drawingml/2006/main">
              <a:rPr lang="en" sz="1050" dirty="0">
                <a:solidFill>
                  <a:srgbClr val="1E2A32"/>
                </a:solidFill>
                <a:latin typeface="Calibri" pitchFamily="34" charset="0"/>
                <a:ea typeface="Calibri" pitchFamily="34" charset="-122"/>
                <a:cs typeface="Calibri" pitchFamily="34" charset="-120"/>
              </a:rPr>
              <a:t>Catchment area, rainfall events (date, volume or height), storage capacity</a:t>
            </a:r>
            <a:endParaRPr xmlns:a="http://schemas.openxmlformats.org/drawingml/2006/main" lang="en-US" sz="1050" dirty="0"/>
          </a:p>
        </p:txBody>
      </p:sp>
      <p:sp>
        <p:nvSpPr>
          <p:cNvPr id="16" name="Shape 14"/>
          <p:cNvSpPr/>
          <p:nvPr/>
        </p:nvSpPr>
        <p:spPr>
          <a:xfrm>
            <a:off x="8842248" y="4572000"/>
            <a:ext cx="2816352" cy="1600200"/>
          </a:xfrm>
          <a:prstGeom prst="roundRect">
            <a:avLst>
              <a:gd name="adj" fmla="val 4571"/>
            </a:avLst>
          </a:prstGeom>
          <a:solidFill>
            <a:srgbClr val="FFFFFF"/>
          </a:solidFill>
          <a:ln w="12700">
            <a:solidFill>
              <a:srgbClr val="DCE4E6"/>
            </a:solidFill>
            <a:prstDash val="solid"/>
          </a:ln>
        </p:spPr>
      </p:sp>
      <p:sp>
        <p:nvSpPr>
          <p:cNvPr id="17" name="Text 15"/>
          <p:cNvSpPr/>
          <p:nvPr/>
        </p:nvSpPr>
        <p:spPr>
          <a:xfrm>
            <a:off x="9025128" y="4681728"/>
            <a:ext cx="25146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1250" b="1" dirty="0">
                <a:solidFill>
                  <a:srgbClr val="1C7293"/>
                </a:solidFill>
                <a:latin typeface="Cambria" pitchFamily="34" charset="0"/>
                <a:ea typeface="Cambria" pitchFamily="34" charset="-122"/>
                <a:cs typeface="Cambria" pitchFamily="34" charset="-120"/>
              </a:rPr>
              <a:t>Expected releases</a:t>
            </a:r>
            <a:endParaRPr xmlns:a="http://schemas.openxmlformats.org/drawingml/2006/main" lang="en-US" sz="1250" dirty="0"/>
          </a:p>
        </p:txBody>
      </p:sp>
      <p:sp>
        <p:nvSpPr>
          <p:cNvPr id="18" name="Text 16"/>
          <p:cNvSpPr/>
          <p:nvPr/>
        </p:nvSpPr>
        <p:spPr>
          <a:xfrm>
            <a:off x="9025128" y="4956048"/>
            <a:ext cx="2514600" cy="1170432"/>
          </a:xfrm>
          <a:prstGeom prst="rect">
            <a:avLst/>
          </a:prstGeom>
          <a:noFill/>
          <a:ln/>
        </p:spPr>
        <p:txBody>
          <a:bodyPr wrap="square" rtlCol="0" anchor="ctr"/>
          <a:lstStyle/>
          <a:p>
            <a:pPr xmlns:a="http://schemas.openxmlformats.org/drawingml/2006/main" indent="0" marL="0">
              <a:lnSpc>
                <a:spcPts val="1400"/>
              </a:lnSpc>
              <a:buNone/>
            </a:pPr>
            <a:r xmlns:a="http://schemas.openxmlformats.org/drawingml/2006/main">
              <a:rPr lang="en" sz="1050" dirty="0">
                <a:solidFill>
                  <a:srgbClr val="1E2A32"/>
                </a:solidFill>
                <a:latin typeface="Calibri" pitchFamily="34" charset="0"/>
                <a:ea typeface="Calibri" pitchFamily="34" charset="-122"/>
                <a:cs typeface="Calibri" pitchFamily="34" charset="-120"/>
              </a:rPr>
              <a:t>Cumulative collected volume, coverage rate of needs, full/empty tank alert</a:t>
            </a:r>
            <a:endParaRPr xmlns:a="http://schemas.openxmlformats.org/drawingml/2006/main" lang="en-US" sz="1050" dirty="0"/>
          </a:p>
        </p:txBody>
      </p:sp>
      <p:sp>
        <p:nvSpPr>
          <p:cNvPr id="19" name="Text 17"/>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20" name="Text 18"/>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11</a:t>
            </a:r>
            <a:endParaRPr xmlns:a="http://schemas.openxmlformats.org/drawingml/2006/main"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065A82"/>
          </a:solidFill>
          <a:ln/>
        </p:spPr>
      </p:sp>
      <p:sp>
        <p:nvSpPr>
          <p:cNvPr id="3" name="Text 1"/>
          <p:cNvSpPr/>
          <p:nvPr/>
        </p:nvSpPr>
        <p:spPr>
          <a:xfrm>
            <a:off x="548640" y="457200"/>
            <a:ext cx="640080" cy="640080"/>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2000" b="1" dirty="0">
                <a:solidFill>
                  <a:srgbClr val="FFFFFF"/>
                </a:solidFill>
                <a:latin typeface="Cambria" pitchFamily="34" charset="0"/>
                <a:ea typeface="Cambria" pitchFamily="34" charset="-122"/>
                <a:cs typeface="Cambria" pitchFamily="34" charset="-120"/>
              </a:rPr>
              <a:t>4</a:t>
            </a:r>
            <a:endParaRPr xmlns:a="http://schemas.openxmlformats.org/drawingml/2006/main" lang="en-US" sz="2000" dirty="0"/>
          </a:p>
        </p:txBody>
      </p:sp>
      <p:sp>
        <p:nvSpPr>
          <p:cNvPr id="4" name="Text 2"/>
          <p:cNvSpPr/>
          <p:nvPr/>
        </p:nvSpPr>
        <p:spPr>
          <a:xfrm>
            <a:off x="1371600" y="438912"/>
            <a:ext cx="10241280" cy="640080"/>
          </a:xfrm>
          <a:prstGeom prst="rect">
            <a:avLst/>
          </a:prstGeom>
          <a:noFill/>
          <a:ln/>
        </p:spPr>
        <p:txBody>
          <a:bodyPr wrap="square" rtlCol="0" anchor="ctr"/>
          <a:lstStyle/>
          <a:p>
            <a:pPr xmlns:a="http://schemas.openxmlformats.org/drawingml/2006/main" indent="0" marL="0">
              <a:buNone/>
            </a:pPr>
            <a:r xmlns:a="http://schemas.openxmlformats.org/drawingml/2006/main">
              <a:rPr lang="en" sz="2200" b="1" dirty="0">
                <a:solidFill>
                  <a:srgbClr val="21295C"/>
                </a:solidFill>
                <a:latin typeface="Cambria" pitchFamily="34" charset="0"/>
                <a:ea typeface="Cambria" pitchFamily="34" charset="-122"/>
                <a:cs typeface="Cambria" pitchFamily="34" charset="-120"/>
              </a:rPr>
              <a:t>Drip irrigation mgmt</a:t>
            </a:r>
            <a:endParaRPr xmlns:a="http://schemas.openxmlformats.org/drawingml/2006/main" lang="en-US" sz="2200" dirty="0"/>
          </a:p>
        </p:txBody>
      </p:sp>
      <p:sp>
        <p:nvSpPr>
          <p:cNvPr id="5" name="Text 3"/>
          <p:cNvSpPr/>
          <p:nvPr/>
        </p:nvSpPr>
        <p:spPr>
          <a:xfrm>
            <a:off x="1371600" y="1005840"/>
            <a:ext cx="1024128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200" i="1" dirty="0">
                <a:solidFill>
                  <a:srgbClr val="5B6B72"/>
                </a:solidFill>
                <a:latin typeface="Calibri" pitchFamily="34" charset="0"/>
                <a:ea typeface="Calibri" pitchFamily="34" charset="-122"/>
                <a:cs typeface="Calibri" pitchFamily="34" charset="-120"/>
              </a:rPr>
              <a:t>Moving from budgeted equipment to a zone-by-zone controlled system.</a:t>
            </a:r>
            <a:endParaRPr xmlns:a="http://schemas.openxmlformats.org/drawingml/2006/main" lang="en-US" sz="1200" dirty="0"/>
          </a:p>
        </p:txBody>
      </p:sp>
      <p:sp>
        <p:nvSpPr>
          <p:cNvPr id="6" name="Shape 4"/>
          <p:cNvSpPr/>
          <p:nvPr/>
        </p:nvSpPr>
        <p:spPr>
          <a:xfrm>
            <a:off x="548640" y="1481328"/>
            <a:ext cx="11109960" cy="0"/>
          </a:xfrm>
          <a:prstGeom prst="line">
            <a:avLst/>
          </a:prstGeom>
          <a:noFill/>
          <a:ln w="12700">
            <a:solidFill>
              <a:srgbClr val="DCE4E6"/>
            </a:solidFill>
            <a:prstDash val="solid"/>
          </a:ln>
        </p:spPr>
      </p:sp>
      <p:sp>
        <p:nvSpPr>
          <p:cNvPr id="7" name="Shape 5"/>
          <p:cNvSpPr/>
          <p:nvPr/>
        </p:nvSpPr>
        <p:spPr>
          <a:xfrm>
            <a:off x="548640" y="1691640"/>
            <a:ext cx="5120640" cy="4480560"/>
          </a:xfrm>
          <a:prstGeom prst="roundRect">
            <a:avLst>
              <a:gd name="adj" fmla="val 1633"/>
            </a:avLst>
          </a:prstGeom>
          <a:solidFill>
            <a:srgbClr val="F4F8F9"/>
          </a:solidFill>
          <a:ln/>
        </p:spPr>
      </p:sp>
      <p:sp>
        <p:nvSpPr>
          <p:cNvPr id="8" name="Text 6"/>
          <p:cNvSpPr/>
          <p:nvPr/>
        </p:nvSpPr>
        <p:spPr>
          <a:xfrm>
            <a:off x="822960" y="1874520"/>
            <a:ext cx="466344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400" b="1" dirty="0">
                <a:solidFill>
                  <a:srgbClr val="065A82"/>
                </a:solidFill>
                <a:latin typeface="Cambria" pitchFamily="34" charset="0"/>
                <a:ea typeface="Cambria" pitchFamily="34" charset="-122"/>
                <a:cs typeface="Cambria" pitchFamily="34" charset="-120"/>
              </a:rPr>
              <a:t>Reused data from the 2025 study</a:t>
            </a:r>
            <a:endParaRPr xmlns:a="http://schemas.openxmlformats.org/drawingml/2006/main" lang="en-US" sz="1400" dirty="0"/>
          </a:p>
        </p:txBody>
      </p:sp>
      <p:sp>
        <p:nvSpPr>
          <p:cNvPr id="9" name="Text 7"/>
          <p:cNvSpPr/>
          <p:nvPr/>
        </p:nvSpPr>
        <p:spPr>
          <a:xfrm>
            <a:off x="822960" y="2286000"/>
            <a:ext cx="4617720" cy="3794760"/>
          </a:xfrm>
          <a:prstGeom prst="rect">
            <a:avLst/>
          </a:prstGeom>
          <a:noFill/>
          <a:ln/>
        </p:spPr>
        <p:txBody>
          <a:bodyPr wrap="square" rtlCol="0" anchor="t"/>
          <a:lstStyle/>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Basic drip kit already identified as equipment</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2000 m of drip irrigation tubing included in the technical design</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Expected benefit (SWOT 2025): up to 40% water savings with humidity sensors</a:t>
            </a:r>
            <a:endParaRPr xmlns:a="http://schemas.openxmlformats.org/drawingml/2006/main" lang="en-US" sz="1200" dirty="0"/>
          </a:p>
        </p:txBody>
      </p:sp>
      <p:sp>
        <p:nvSpPr>
          <p:cNvPr id="10" name="Shape 8"/>
          <p:cNvSpPr/>
          <p:nvPr/>
        </p:nvSpPr>
        <p:spPr>
          <a:xfrm>
            <a:off x="5852160" y="1691640"/>
            <a:ext cx="5806440" cy="2743200"/>
          </a:xfrm>
          <a:prstGeom prst="roundRect">
            <a:avLst>
              <a:gd name="adj" fmla="val 2667"/>
            </a:avLst>
          </a:prstGeom>
          <a:solidFill>
            <a:srgbClr val="EAF3F6"/>
          </a:solidFill>
          <a:ln/>
        </p:spPr>
      </p:sp>
      <p:sp>
        <p:nvSpPr>
          <p:cNvPr id="11" name="Text 9"/>
          <p:cNvSpPr/>
          <p:nvPr/>
        </p:nvSpPr>
        <p:spPr>
          <a:xfrm>
            <a:off x="6126480" y="1874520"/>
            <a:ext cx="539496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400" b="1" dirty="0">
                <a:solidFill>
                  <a:srgbClr val="065A82"/>
                </a:solidFill>
                <a:latin typeface="Cambria" pitchFamily="34" charset="0"/>
                <a:ea typeface="Cambria" pitchFamily="34" charset="-122"/>
                <a:cs typeface="Cambria" pitchFamily="34" charset="-120"/>
              </a:rPr>
              <a:t>Engine logic (in business terminology)</a:t>
            </a:r>
            <a:endParaRPr xmlns:a="http://schemas.openxmlformats.org/drawingml/2006/main" lang="en-US" sz="1400" dirty="0"/>
          </a:p>
        </p:txBody>
      </p:sp>
      <p:sp>
        <p:nvSpPr>
          <p:cNvPr id="12" name="Text 10"/>
          <p:cNvSpPr/>
          <p:nvPr/>
        </p:nvSpPr>
        <p:spPr>
          <a:xfrm>
            <a:off x="6126480" y="2286000"/>
            <a:ext cx="5394960" cy="2057400"/>
          </a:xfrm>
          <a:prstGeom prst="rect">
            <a:avLst/>
          </a:prstGeom>
          <a:noFill/>
          <a:ln/>
        </p:spPr>
        <p:txBody>
          <a:bodyPr wrap="square" rtlCol="0" anchor="t"/>
          <a:lstStyle/>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The farm is divided into drip irrigation zones (by plot or row of trees). Each zone receives its own open/close instructions from the planning engine (axis 1). The module also monitors the status of each line (pressure, reported blockage) to distinguish between a lack of water and a hardware failure.</a:t>
            </a:r>
            <a:endParaRPr xmlns:a="http://schemas.openxmlformats.org/drawingml/2006/main" lang="en-US" sz="1200" dirty="0"/>
          </a:p>
        </p:txBody>
      </p:sp>
      <p:sp>
        <p:nvSpPr>
          <p:cNvPr id="13" name="Shape 11"/>
          <p:cNvSpPr/>
          <p:nvPr/>
        </p:nvSpPr>
        <p:spPr>
          <a:xfrm>
            <a:off x="5852160" y="4572000"/>
            <a:ext cx="2816352" cy="1600200"/>
          </a:xfrm>
          <a:prstGeom prst="roundRect">
            <a:avLst>
              <a:gd name="adj" fmla="val 4571"/>
            </a:avLst>
          </a:prstGeom>
          <a:solidFill>
            <a:srgbClr val="FFFFFF"/>
          </a:solidFill>
          <a:ln w="12700">
            <a:solidFill>
              <a:srgbClr val="DCE4E6"/>
            </a:solidFill>
            <a:prstDash val="solid"/>
          </a:ln>
        </p:spPr>
      </p:sp>
      <p:sp>
        <p:nvSpPr>
          <p:cNvPr id="14" name="Text 12"/>
          <p:cNvSpPr/>
          <p:nvPr/>
        </p:nvSpPr>
        <p:spPr>
          <a:xfrm>
            <a:off x="6035040" y="4681728"/>
            <a:ext cx="246888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1250" b="1" dirty="0">
                <a:solidFill>
                  <a:srgbClr val="1C7293"/>
                </a:solidFill>
                <a:latin typeface="Cambria" pitchFamily="34" charset="0"/>
                <a:ea typeface="Cambria" pitchFamily="34" charset="-122"/>
                <a:cs typeface="Cambria" pitchFamily="34" charset="-120"/>
              </a:rPr>
              <a:t>Entrances</a:t>
            </a:r>
            <a:endParaRPr xmlns:a="http://schemas.openxmlformats.org/drawingml/2006/main" lang="en-US" sz="1250" dirty="0"/>
          </a:p>
        </p:txBody>
      </p:sp>
      <p:sp>
        <p:nvSpPr>
          <p:cNvPr id="15" name="Text 13"/>
          <p:cNvSpPr/>
          <p:nvPr/>
        </p:nvSpPr>
        <p:spPr>
          <a:xfrm>
            <a:off x="6035040" y="4956048"/>
            <a:ext cx="2514600" cy="1170432"/>
          </a:xfrm>
          <a:prstGeom prst="rect">
            <a:avLst/>
          </a:prstGeom>
          <a:noFill/>
          <a:ln/>
        </p:spPr>
        <p:txBody>
          <a:bodyPr wrap="square" rtlCol="0" anchor="ctr"/>
          <a:lstStyle/>
          <a:p>
            <a:pPr xmlns:a="http://schemas.openxmlformats.org/drawingml/2006/main" indent="0" marL="0">
              <a:lnSpc>
                <a:spcPts val="1400"/>
              </a:lnSpc>
              <a:buNone/>
            </a:pPr>
            <a:r xmlns:a="http://schemas.openxmlformats.org/drawingml/2006/main">
              <a:rPr lang="en" sz="1050" dirty="0">
                <a:solidFill>
                  <a:srgbClr val="1E2A32"/>
                </a:solidFill>
                <a:latin typeface="Calibri" pitchFamily="34" charset="0"/>
                <a:ea typeface="Calibri" pitchFamily="34" charset="-122"/>
                <a:cs typeface="Calibri" pitchFamily="34" charset="-120"/>
              </a:rPr>
              <a:t>Zone division, planning engine instructions, field reports (pressure, leak, blockage)</a:t>
            </a:r>
            <a:endParaRPr xmlns:a="http://schemas.openxmlformats.org/drawingml/2006/main" lang="en-US" sz="1050" dirty="0"/>
          </a:p>
        </p:txBody>
      </p:sp>
      <p:sp>
        <p:nvSpPr>
          <p:cNvPr id="16" name="Shape 14"/>
          <p:cNvSpPr/>
          <p:nvPr/>
        </p:nvSpPr>
        <p:spPr>
          <a:xfrm>
            <a:off x="8842248" y="4572000"/>
            <a:ext cx="2816352" cy="1600200"/>
          </a:xfrm>
          <a:prstGeom prst="roundRect">
            <a:avLst>
              <a:gd name="adj" fmla="val 4571"/>
            </a:avLst>
          </a:prstGeom>
          <a:solidFill>
            <a:srgbClr val="FFFFFF"/>
          </a:solidFill>
          <a:ln w="12700">
            <a:solidFill>
              <a:srgbClr val="DCE4E6"/>
            </a:solidFill>
            <a:prstDash val="solid"/>
          </a:ln>
        </p:spPr>
      </p:sp>
      <p:sp>
        <p:nvSpPr>
          <p:cNvPr id="17" name="Text 15"/>
          <p:cNvSpPr/>
          <p:nvPr/>
        </p:nvSpPr>
        <p:spPr>
          <a:xfrm>
            <a:off x="9025128" y="4681728"/>
            <a:ext cx="25146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1250" b="1" dirty="0">
                <a:solidFill>
                  <a:srgbClr val="1C7293"/>
                </a:solidFill>
                <a:latin typeface="Cambria" pitchFamily="34" charset="0"/>
                <a:ea typeface="Cambria" pitchFamily="34" charset="-122"/>
                <a:cs typeface="Cambria" pitchFamily="34" charset="-120"/>
              </a:rPr>
              <a:t>Expected releases</a:t>
            </a:r>
            <a:endParaRPr xmlns:a="http://schemas.openxmlformats.org/drawingml/2006/main" lang="en-US" sz="1250" dirty="0"/>
          </a:p>
        </p:txBody>
      </p:sp>
      <p:sp>
        <p:nvSpPr>
          <p:cNvPr id="18" name="Text 16"/>
          <p:cNvSpPr/>
          <p:nvPr/>
        </p:nvSpPr>
        <p:spPr>
          <a:xfrm>
            <a:off x="9025128" y="4956048"/>
            <a:ext cx="2514600" cy="1170432"/>
          </a:xfrm>
          <a:prstGeom prst="rect">
            <a:avLst/>
          </a:prstGeom>
          <a:noFill/>
          <a:ln/>
        </p:spPr>
        <p:txBody>
          <a:bodyPr wrap="square" rtlCol="0" anchor="ctr"/>
          <a:lstStyle/>
          <a:p>
            <a:pPr xmlns:a="http://schemas.openxmlformats.org/drawingml/2006/main" indent="0" marL="0">
              <a:lnSpc>
                <a:spcPts val="1400"/>
              </a:lnSpc>
              <a:buNone/>
            </a:pPr>
            <a:r xmlns:a="http://schemas.openxmlformats.org/drawingml/2006/main">
              <a:rPr lang="en" sz="1050" dirty="0">
                <a:solidFill>
                  <a:srgbClr val="1E2A32"/>
                </a:solidFill>
                <a:latin typeface="Calibri" pitchFamily="34" charset="0"/>
                <a:ea typeface="Calibri" pitchFamily="34" charset="-122"/>
                <a:cs typeface="Calibri" pitchFamily="34" charset="-120"/>
              </a:rPr>
              <a:t>Status by zone (active/inactive/out of service), opening history, maintenance alerts</a:t>
            </a:r>
            <a:endParaRPr xmlns:a="http://schemas.openxmlformats.org/drawingml/2006/main" lang="en-US" sz="1050" dirty="0"/>
          </a:p>
        </p:txBody>
      </p:sp>
      <p:sp>
        <p:nvSpPr>
          <p:cNvPr id="19" name="Text 17"/>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20" name="Text 18"/>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12</a:t>
            </a:r>
            <a:endParaRPr xmlns:a="http://schemas.openxmlformats.org/drawingml/2006/main"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065A82"/>
          </a:solidFill>
          <a:ln/>
        </p:spPr>
      </p:sp>
      <p:sp>
        <p:nvSpPr>
          <p:cNvPr id="3" name="Text 1"/>
          <p:cNvSpPr/>
          <p:nvPr/>
        </p:nvSpPr>
        <p:spPr>
          <a:xfrm>
            <a:off x="548640" y="457200"/>
            <a:ext cx="640080" cy="640080"/>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2000" b="1" dirty="0">
                <a:solidFill>
                  <a:srgbClr val="FFFFFF"/>
                </a:solidFill>
                <a:latin typeface="Cambria" pitchFamily="34" charset="0"/>
                <a:ea typeface="Cambria" pitchFamily="34" charset="-122"/>
                <a:cs typeface="Cambria" pitchFamily="34" charset="-120"/>
              </a:rPr>
              <a:t>5</a:t>
            </a:r>
            <a:endParaRPr xmlns:a="http://schemas.openxmlformats.org/drawingml/2006/main" lang="en-US" sz="2000" dirty="0"/>
          </a:p>
        </p:txBody>
      </p:sp>
      <p:sp>
        <p:nvSpPr>
          <p:cNvPr id="4" name="Text 2"/>
          <p:cNvSpPr/>
          <p:nvPr/>
        </p:nvSpPr>
        <p:spPr>
          <a:xfrm>
            <a:off x="1371600" y="438912"/>
            <a:ext cx="10241280" cy="640080"/>
          </a:xfrm>
          <a:prstGeom prst="rect">
            <a:avLst/>
          </a:prstGeom>
          <a:noFill/>
          <a:ln/>
        </p:spPr>
        <p:txBody>
          <a:bodyPr wrap="square" rtlCol="0" anchor="ctr"/>
          <a:lstStyle/>
          <a:p>
            <a:pPr xmlns:a="http://schemas.openxmlformats.org/drawingml/2006/main" indent="0" marL="0">
              <a:buNone/>
            </a:pPr>
            <a:r xmlns:a="http://schemas.openxmlformats.org/drawingml/2006/main">
              <a:rPr lang="en" sz="2200" b="1" dirty="0">
                <a:solidFill>
                  <a:srgbClr val="21295C"/>
                </a:solidFill>
                <a:latin typeface="Cambria" pitchFamily="34" charset="0"/>
                <a:ea typeface="Cambria" pitchFamily="34" charset="-122"/>
                <a:cs typeface="Cambria" pitchFamily="34" charset="-120"/>
              </a:rPr>
              <a:t>Water quality testing logs</a:t>
            </a:r>
            <a:endParaRPr xmlns:a="http://schemas.openxmlformats.org/drawingml/2006/main" lang="en-US" sz="2200" dirty="0"/>
          </a:p>
        </p:txBody>
      </p:sp>
      <p:sp>
        <p:nvSpPr>
          <p:cNvPr id="5" name="Text 3"/>
          <p:cNvSpPr/>
          <p:nvPr/>
        </p:nvSpPr>
        <p:spPr>
          <a:xfrm>
            <a:off x="1371600" y="1005840"/>
            <a:ext cx="1024128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200" i="1" dirty="0">
                <a:solidFill>
                  <a:srgbClr val="5B6B72"/>
                </a:solidFill>
                <a:latin typeface="Calibri" pitchFamily="34" charset="0"/>
                <a:ea typeface="Calibri" pitchFamily="34" charset="-122"/>
                <a:cs typeface="Calibri" pitchFamily="34" charset="-120"/>
              </a:rPr>
              <a:t>Building an entirely new brick: a topic absent from the 2025 study.</a:t>
            </a:r>
            <a:endParaRPr xmlns:a="http://schemas.openxmlformats.org/drawingml/2006/main" lang="en-US" sz="1200" dirty="0"/>
          </a:p>
        </p:txBody>
      </p:sp>
      <p:sp>
        <p:nvSpPr>
          <p:cNvPr id="6" name="Shape 4"/>
          <p:cNvSpPr/>
          <p:nvPr/>
        </p:nvSpPr>
        <p:spPr>
          <a:xfrm>
            <a:off x="548640" y="1481328"/>
            <a:ext cx="11109960" cy="0"/>
          </a:xfrm>
          <a:prstGeom prst="line">
            <a:avLst/>
          </a:prstGeom>
          <a:noFill/>
          <a:ln w="12700">
            <a:solidFill>
              <a:srgbClr val="DCE4E6"/>
            </a:solidFill>
            <a:prstDash val="solid"/>
          </a:ln>
        </p:spPr>
      </p:sp>
      <p:sp>
        <p:nvSpPr>
          <p:cNvPr id="7" name="Shape 5"/>
          <p:cNvSpPr/>
          <p:nvPr/>
        </p:nvSpPr>
        <p:spPr>
          <a:xfrm>
            <a:off x="548640" y="1691640"/>
            <a:ext cx="5120640" cy="4480560"/>
          </a:xfrm>
          <a:prstGeom prst="roundRect">
            <a:avLst>
              <a:gd name="adj" fmla="val 1633"/>
            </a:avLst>
          </a:prstGeom>
          <a:solidFill>
            <a:srgbClr val="F4F8F9"/>
          </a:solidFill>
          <a:ln/>
        </p:spPr>
      </p:sp>
      <p:sp>
        <p:nvSpPr>
          <p:cNvPr id="8" name="Text 6"/>
          <p:cNvSpPr/>
          <p:nvPr/>
        </p:nvSpPr>
        <p:spPr>
          <a:xfrm>
            <a:off x="822960" y="1874520"/>
            <a:ext cx="466344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400" b="1" dirty="0">
                <a:solidFill>
                  <a:srgbClr val="065A82"/>
                </a:solidFill>
                <a:latin typeface="Cambria" pitchFamily="34" charset="0"/>
                <a:ea typeface="Cambria" pitchFamily="34" charset="-122"/>
                <a:cs typeface="Cambria" pitchFamily="34" charset="-120"/>
              </a:rPr>
              <a:t>Reused data from the 2025 study</a:t>
            </a:r>
            <a:endParaRPr xmlns:a="http://schemas.openxmlformats.org/drawingml/2006/main" lang="en-US" sz="1400" dirty="0"/>
          </a:p>
        </p:txBody>
      </p:sp>
      <p:sp>
        <p:nvSpPr>
          <p:cNvPr id="9" name="Text 7"/>
          <p:cNvSpPr/>
          <p:nvPr/>
        </p:nvSpPr>
        <p:spPr>
          <a:xfrm>
            <a:off x="822960" y="2286000"/>
            <a:ext cx="4617720" cy="3794760"/>
          </a:xfrm>
          <a:prstGeom prst="rect">
            <a:avLst/>
          </a:prstGeom>
          <a:noFill/>
          <a:ln/>
        </p:spPr>
        <p:txBody>
          <a:bodyPr wrap="square" rtlCol="0" anchor="t"/>
          <a:lstStyle/>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No data available in the 2025 study</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Identified point of contact with the Crop Storage / Product Transformation module (mango wash water)</a:t>
            </a:r>
            <a:endParaRPr xmlns:a="http://schemas.openxmlformats.org/drawingml/2006/main" lang="en-US" sz="1200" dirty="0"/>
          </a:p>
        </p:txBody>
      </p:sp>
      <p:sp>
        <p:nvSpPr>
          <p:cNvPr id="10" name="Shape 8"/>
          <p:cNvSpPr/>
          <p:nvPr/>
        </p:nvSpPr>
        <p:spPr>
          <a:xfrm>
            <a:off x="5852160" y="1691640"/>
            <a:ext cx="5806440" cy="2743200"/>
          </a:xfrm>
          <a:prstGeom prst="roundRect">
            <a:avLst>
              <a:gd name="adj" fmla="val 2667"/>
            </a:avLst>
          </a:prstGeom>
          <a:solidFill>
            <a:srgbClr val="EAF3F6"/>
          </a:solidFill>
          <a:ln/>
        </p:spPr>
      </p:sp>
      <p:sp>
        <p:nvSpPr>
          <p:cNvPr id="11" name="Text 9"/>
          <p:cNvSpPr/>
          <p:nvPr/>
        </p:nvSpPr>
        <p:spPr>
          <a:xfrm>
            <a:off x="6126480" y="1874520"/>
            <a:ext cx="539496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400" b="1" dirty="0">
                <a:solidFill>
                  <a:srgbClr val="065A82"/>
                </a:solidFill>
                <a:latin typeface="Cambria" pitchFamily="34" charset="0"/>
                <a:ea typeface="Cambria" pitchFamily="34" charset="-122"/>
                <a:cs typeface="Cambria" pitchFamily="34" charset="-120"/>
              </a:rPr>
              <a:t>Engine logic (in business terminology)</a:t>
            </a:r>
            <a:endParaRPr xmlns:a="http://schemas.openxmlformats.org/drawingml/2006/main" lang="en-US" sz="1400" dirty="0"/>
          </a:p>
        </p:txBody>
      </p:sp>
      <p:sp>
        <p:nvSpPr>
          <p:cNvPr id="12" name="Text 10"/>
          <p:cNvSpPr/>
          <p:nvPr/>
        </p:nvSpPr>
        <p:spPr>
          <a:xfrm>
            <a:off x="6126480" y="2286000"/>
            <a:ext cx="5394960" cy="2057400"/>
          </a:xfrm>
          <a:prstGeom prst="rect">
            <a:avLst/>
          </a:prstGeom>
          <a:noFill/>
          <a:ln/>
        </p:spPr>
        <p:txBody>
          <a:bodyPr wrap="square" rtlCol="0" anchor="t"/>
          <a:lstStyle/>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The module records a water quality test by source (borehole, reservoir, rainwater) and by date, with the measured parameters (to be defined: pH, turbidity, salinity, etc.) compared to compliance thresholds. A test exceeding the threshold triggers an alert, particularly before sensitive uses such as washing mangoes.</a:t>
            </a:r>
            <a:endParaRPr xmlns:a="http://schemas.openxmlformats.org/drawingml/2006/main" lang="en-US" sz="1200" dirty="0"/>
          </a:p>
        </p:txBody>
      </p:sp>
      <p:sp>
        <p:nvSpPr>
          <p:cNvPr id="13" name="Shape 11"/>
          <p:cNvSpPr/>
          <p:nvPr/>
        </p:nvSpPr>
        <p:spPr>
          <a:xfrm>
            <a:off x="5852160" y="4572000"/>
            <a:ext cx="2816352" cy="1600200"/>
          </a:xfrm>
          <a:prstGeom prst="roundRect">
            <a:avLst>
              <a:gd name="adj" fmla="val 4571"/>
            </a:avLst>
          </a:prstGeom>
          <a:solidFill>
            <a:srgbClr val="FFFFFF"/>
          </a:solidFill>
          <a:ln w="12700">
            <a:solidFill>
              <a:srgbClr val="DCE4E6"/>
            </a:solidFill>
            <a:prstDash val="solid"/>
          </a:ln>
        </p:spPr>
      </p:sp>
      <p:sp>
        <p:nvSpPr>
          <p:cNvPr id="14" name="Text 12"/>
          <p:cNvSpPr/>
          <p:nvPr/>
        </p:nvSpPr>
        <p:spPr>
          <a:xfrm>
            <a:off x="6035040" y="4681728"/>
            <a:ext cx="246888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1250" b="1" dirty="0">
                <a:solidFill>
                  <a:srgbClr val="1C7293"/>
                </a:solidFill>
                <a:latin typeface="Cambria" pitchFamily="34" charset="0"/>
                <a:ea typeface="Cambria" pitchFamily="34" charset="-122"/>
                <a:cs typeface="Cambria" pitchFamily="34" charset="-120"/>
              </a:rPr>
              <a:t>Entrances</a:t>
            </a:r>
            <a:endParaRPr xmlns:a="http://schemas.openxmlformats.org/drawingml/2006/main" lang="en-US" sz="1250" dirty="0"/>
          </a:p>
        </p:txBody>
      </p:sp>
      <p:sp>
        <p:nvSpPr>
          <p:cNvPr id="15" name="Text 13"/>
          <p:cNvSpPr/>
          <p:nvPr/>
        </p:nvSpPr>
        <p:spPr>
          <a:xfrm>
            <a:off x="6035040" y="4956048"/>
            <a:ext cx="2514600" cy="1170432"/>
          </a:xfrm>
          <a:prstGeom prst="rect">
            <a:avLst/>
          </a:prstGeom>
          <a:noFill/>
          <a:ln/>
        </p:spPr>
        <p:txBody>
          <a:bodyPr wrap="square" rtlCol="0" anchor="ctr"/>
          <a:lstStyle/>
          <a:p>
            <a:pPr xmlns:a="http://schemas.openxmlformats.org/drawingml/2006/main" indent="0" marL="0">
              <a:lnSpc>
                <a:spcPts val="1400"/>
              </a:lnSpc>
              <a:buNone/>
            </a:pPr>
            <a:r xmlns:a="http://schemas.openxmlformats.org/drawingml/2006/main">
              <a:rPr lang="en" sz="1050" dirty="0">
                <a:solidFill>
                  <a:srgbClr val="1E2A32"/>
                </a:solidFill>
                <a:latin typeface="Calibri" pitchFamily="34" charset="0"/>
                <a:ea typeface="Calibri" pitchFamily="34" charset="-122"/>
                <a:cs typeface="Calibri" pitchFamily="34" charset="-120"/>
              </a:rPr>
              <a:t>Source tested, date, measured parameters, reference thresholds</a:t>
            </a:r>
            <a:endParaRPr xmlns:a="http://schemas.openxmlformats.org/drawingml/2006/main" lang="en-US" sz="1050" dirty="0"/>
          </a:p>
        </p:txBody>
      </p:sp>
      <p:sp>
        <p:nvSpPr>
          <p:cNvPr id="16" name="Shape 14"/>
          <p:cNvSpPr/>
          <p:nvPr/>
        </p:nvSpPr>
        <p:spPr>
          <a:xfrm>
            <a:off x="8842248" y="4572000"/>
            <a:ext cx="2816352" cy="1600200"/>
          </a:xfrm>
          <a:prstGeom prst="roundRect">
            <a:avLst>
              <a:gd name="adj" fmla="val 4571"/>
            </a:avLst>
          </a:prstGeom>
          <a:solidFill>
            <a:srgbClr val="FFFFFF"/>
          </a:solidFill>
          <a:ln w="12700">
            <a:solidFill>
              <a:srgbClr val="DCE4E6"/>
            </a:solidFill>
            <a:prstDash val="solid"/>
          </a:ln>
        </p:spPr>
      </p:sp>
      <p:sp>
        <p:nvSpPr>
          <p:cNvPr id="17" name="Text 15"/>
          <p:cNvSpPr/>
          <p:nvPr/>
        </p:nvSpPr>
        <p:spPr>
          <a:xfrm>
            <a:off x="9025128" y="4681728"/>
            <a:ext cx="25146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1250" b="1" dirty="0">
                <a:solidFill>
                  <a:srgbClr val="1C7293"/>
                </a:solidFill>
                <a:latin typeface="Cambria" pitchFamily="34" charset="0"/>
                <a:ea typeface="Cambria" pitchFamily="34" charset="-122"/>
                <a:cs typeface="Cambria" pitchFamily="34" charset="-120"/>
              </a:rPr>
              <a:t>Expected releases</a:t>
            </a:r>
            <a:endParaRPr xmlns:a="http://schemas.openxmlformats.org/drawingml/2006/main" lang="en-US" sz="1250" dirty="0"/>
          </a:p>
        </p:txBody>
      </p:sp>
      <p:sp>
        <p:nvSpPr>
          <p:cNvPr id="18" name="Text 16"/>
          <p:cNvSpPr/>
          <p:nvPr/>
        </p:nvSpPr>
        <p:spPr>
          <a:xfrm>
            <a:off x="9025128" y="4956048"/>
            <a:ext cx="2514600" cy="1170432"/>
          </a:xfrm>
          <a:prstGeom prst="rect">
            <a:avLst/>
          </a:prstGeom>
          <a:noFill/>
          <a:ln/>
        </p:spPr>
        <p:txBody>
          <a:bodyPr wrap="square" rtlCol="0" anchor="ctr"/>
          <a:lstStyle/>
          <a:p>
            <a:pPr xmlns:a="http://schemas.openxmlformats.org/drawingml/2006/main" indent="0" marL="0">
              <a:lnSpc>
                <a:spcPts val="1400"/>
              </a:lnSpc>
              <a:buNone/>
            </a:pPr>
            <a:r xmlns:a="http://schemas.openxmlformats.org/drawingml/2006/main">
              <a:rPr lang="en" sz="1050" dirty="0">
                <a:solidFill>
                  <a:srgbClr val="1E2A32"/>
                </a:solidFill>
                <a:latin typeface="Calibri" pitchFamily="34" charset="0"/>
                <a:ea typeface="Calibri" pitchFamily="34" charset="-122"/>
                <a:cs typeface="Calibri" pitchFamily="34" charset="-120"/>
              </a:rPr>
              <a:t>Test history, compliance status, alerts when thresholds are exceeded</a:t>
            </a:r>
            <a:endParaRPr xmlns:a="http://schemas.openxmlformats.org/drawingml/2006/main" lang="en-US" sz="1050" dirty="0"/>
          </a:p>
        </p:txBody>
      </p:sp>
      <p:sp>
        <p:nvSpPr>
          <p:cNvPr id="19" name="Text 17"/>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20" name="Text 18"/>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13</a:t>
            </a:r>
            <a:endParaRPr xmlns:a="http://schemas.openxmlformats.org/drawingml/2006/main"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065A82"/>
          </a:solidFill>
          <a:ln/>
        </p:spPr>
      </p:sp>
      <p:sp>
        <p:nvSpPr>
          <p:cNvPr id="3" name="Text 1"/>
          <p:cNvSpPr/>
          <p:nvPr/>
        </p:nvSpPr>
        <p:spPr>
          <a:xfrm>
            <a:off x="548640" y="457200"/>
            <a:ext cx="640080" cy="640080"/>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2000" b="1" dirty="0">
                <a:solidFill>
                  <a:srgbClr val="FFFFFF"/>
                </a:solidFill>
                <a:latin typeface="Cambria" pitchFamily="34" charset="0"/>
                <a:ea typeface="Cambria" pitchFamily="34" charset="-122"/>
                <a:cs typeface="Cambria" pitchFamily="34" charset="-120"/>
              </a:rPr>
              <a:t>6</a:t>
            </a:r>
            <a:endParaRPr xmlns:a="http://schemas.openxmlformats.org/drawingml/2006/main" lang="en-US" sz="2000" dirty="0"/>
          </a:p>
        </p:txBody>
      </p:sp>
      <p:sp>
        <p:nvSpPr>
          <p:cNvPr id="4" name="Text 2"/>
          <p:cNvSpPr/>
          <p:nvPr/>
        </p:nvSpPr>
        <p:spPr>
          <a:xfrm>
            <a:off x="1371600" y="438912"/>
            <a:ext cx="10241280" cy="640080"/>
          </a:xfrm>
          <a:prstGeom prst="rect">
            <a:avLst/>
          </a:prstGeom>
          <a:noFill/>
          <a:ln/>
        </p:spPr>
        <p:txBody>
          <a:bodyPr wrap="square" rtlCol="0" anchor="ctr"/>
          <a:lstStyle/>
          <a:p>
            <a:pPr xmlns:a="http://schemas.openxmlformats.org/drawingml/2006/main" indent="0" marL="0">
              <a:buNone/>
            </a:pPr>
            <a:r xmlns:a="http://schemas.openxmlformats.org/drawingml/2006/main">
              <a:rPr lang="en" sz="2200" b="1" dirty="0">
                <a:solidFill>
                  <a:srgbClr val="21295C"/>
                </a:solidFill>
                <a:latin typeface="Cambria" pitchFamily="34" charset="0"/>
                <a:ea typeface="Cambria" pitchFamily="34" charset="-122"/>
                <a:cs typeface="Cambria" pitchFamily="34" charset="-120"/>
              </a:rPr>
              <a:t>Drought alert system</a:t>
            </a:r>
            <a:endParaRPr xmlns:a="http://schemas.openxmlformats.org/drawingml/2006/main" lang="en-US" sz="2200" dirty="0"/>
          </a:p>
        </p:txBody>
      </p:sp>
      <p:sp>
        <p:nvSpPr>
          <p:cNvPr id="5" name="Text 3"/>
          <p:cNvSpPr/>
          <p:nvPr/>
        </p:nvSpPr>
        <p:spPr>
          <a:xfrm>
            <a:off x="1371600" y="1005840"/>
            <a:ext cx="1024128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200" i="1" dirty="0">
                <a:solidFill>
                  <a:srgbClr val="5B6B72"/>
                </a:solidFill>
                <a:latin typeface="Calibri" pitchFamily="34" charset="0"/>
                <a:ea typeface="Calibri" pitchFamily="34" charset="-122"/>
                <a:cs typeface="Calibri" pitchFamily="34" charset="-120"/>
              </a:rPr>
              <a:t>Moving from historical regional statistics to dynamic and actionable alerts.</a:t>
            </a:r>
            <a:endParaRPr xmlns:a="http://schemas.openxmlformats.org/drawingml/2006/main" lang="en-US" sz="1200" dirty="0"/>
          </a:p>
        </p:txBody>
      </p:sp>
      <p:sp>
        <p:nvSpPr>
          <p:cNvPr id="6" name="Shape 4"/>
          <p:cNvSpPr/>
          <p:nvPr/>
        </p:nvSpPr>
        <p:spPr>
          <a:xfrm>
            <a:off x="548640" y="1481328"/>
            <a:ext cx="11109960" cy="0"/>
          </a:xfrm>
          <a:prstGeom prst="line">
            <a:avLst/>
          </a:prstGeom>
          <a:noFill/>
          <a:ln w="12700">
            <a:solidFill>
              <a:srgbClr val="DCE4E6"/>
            </a:solidFill>
            <a:prstDash val="solid"/>
          </a:ln>
        </p:spPr>
      </p:sp>
      <p:sp>
        <p:nvSpPr>
          <p:cNvPr id="7" name="Shape 5"/>
          <p:cNvSpPr/>
          <p:nvPr/>
        </p:nvSpPr>
        <p:spPr>
          <a:xfrm>
            <a:off x="548640" y="1691640"/>
            <a:ext cx="5120640" cy="4480560"/>
          </a:xfrm>
          <a:prstGeom prst="roundRect">
            <a:avLst>
              <a:gd name="adj" fmla="val 1633"/>
            </a:avLst>
          </a:prstGeom>
          <a:solidFill>
            <a:srgbClr val="F4F8F9"/>
          </a:solidFill>
          <a:ln/>
        </p:spPr>
      </p:sp>
      <p:sp>
        <p:nvSpPr>
          <p:cNvPr id="8" name="Text 6"/>
          <p:cNvSpPr/>
          <p:nvPr/>
        </p:nvSpPr>
        <p:spPr>
          <a:xfrm>
            <a:off x="822960" y="1874520"/>
            <a:ext cx="466344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400" b="1" dirty="0">
                <a:solidFill>
                  <a:srgbClr val="065A82"/>
                </a:solidFill>
                <a:latin typeface="Cambria" pitchFamily="34" charset="0"/>
                <a:ea typeface="Cambria" pitchFamily="34" charset="-122"/>
                <a:cs typeface="Cambria" pitchFamily="34" charset="-120"/>
              </a:rPr>
              <a:t>Reused data from the 2025 study</a:t>
            </a:r>
            <a:endParaRPr xmlns:a="http://schemas.openxmlformats.org/drawingml/2006/main" lang="en-US" sz="1400" dirty="0"/>
          </a:p>
        </p:txBody>
      </p:sp>
      <p:sp>
        <p:nvSpPr>
          <p:cNvPr id="9" name="Text 7"/>
          <p:cNvSpPr/>
          <p:nvPr/>
        </p:nvSpPr>
        <p:spPr>
          <a:xfrm>
            <a:off x="822960" y="2286000"/>
            <a:ext cx="4617720" cy="3794760"/>
          </a:xfrm>
          <a:prstGeom prst="rect">
            <a:avLst/>
          </a:prstGeom>
          <a:noFill/>
          <a:ln/>
        </p:spPr>
        <p:txBody>
          <a:bodyPr wrap="square" rtlCol="0" anchor="t"/>
          <a:lstStyle/>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Dry days per year, per region (e.g., Koubri 245, Kaya 275)</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Need at the peak of the dry season: 20 m³/day (March–April)</a:t>
            </a:r>
            <a:endParaRPr xmlns:a="http://schemas.openxmlformats.org/drawingml/2006/main" lang="en-US" sz="1200" dirty="0"/>
          </a:p>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 Tank capacity and autonomy: 30 m³ / ≈ 1.5 days</a:t>
            </a:r>
            <a:endParaRPr xmlns:a="http://schemas.openxmlformats.org/drawingml/2006/main" lang="en-US" sz="1200" dirty="0"/>
          </a:p>
        </p:txBody>
      </p:sp>
      <p:sp>
        <p:nvSpPr>
          <p:cNvPr id="10" name="Shape 8"/>
          <p:cNvSpPr/>
          <p:nvPr/>
        </p:nvSpPr>
        <p:spPr>
          <a:xfrm>
            <a:off x="5852160" y="1691640"/>
            <a:ext cx="5806440" cy="2743200"/>
          </a:xfrm>
          <a:prstGeom prst="roundRect">
            <a:avLst>
              <a:gd name="adj" fmla="val 2667"/>
            </a:avLst>
          </a:prstGeom>
          <a:solidFill>
            <a:srgbClr val="EAF3F6"/>
          </a:solidFill>
          <a:ln/>
        </p:spPr>
      </p:sp>
      <p:sp>
        <p:nvSpPr>
          <p:cNvPr id="11" name="Text 9"/>
          <p:cNvSpPr/>
          <p:nvPr/>
        </p:nvSpPr>
        <p:spPr>
          <a:xfrm>
            <a:off x="6126480" y="1874520"/>
            <a:ext cx="5394960" cy="365760"/>
          </a:xfrm>
          <a:prstGeom prst="rect">
            <a:avLst/>
          </a:prstGeom>
          <a:noFill/>
          <a:ln/>
        </p:spPr>
        <p:txBody>
          <a:bodyPr wrap="square" rtlCol="0" anchor="ctr"/>
          <a:lstStyle/>
          <a:p>
            <a:pPr xmlns:a="http://schemas.openxmlformats.org/drawingml/2006/main" indent="0" marL="0">
              <a:buNone/>
            </a:pPr>
            <a:r xmlns:a="http://schemas.openxmlformats.org/drawingml/2006/main">
              <a:rPr lang="en" sz="1400" b="1" dirty="0">
                <a:solidFill>
                  <a:srgbClr val="065A82"/>
                </a:solidFill>
                <a:latin typeface="Cambria" pitchFamily="34" charset="0"/>
                <a:ea typeface="Cambria" pitchFamily="34" charset="-122"/>
                <a:cs typeface="Cambria" pitchFamily="34" charset="-120"/>
              </a:rPr>
              <a:t>Engine logic (in business terminology)</a:t>
            </a:r>
            <a:endParaRPr xmlns:a="http://schemas.openxmlformats.org/drawingml/2006/main" lang="en-US" sz="1400" dirty="0"/>
          </a:p>
        </p:txBody>
      </p:sp>
      <p:sp>
        <p:nvSpPr>
          <p:cNvPr id="12" name="Text 10"/>
          <p:cNvSpPr/>
          <p:nvPr/>
        </p:nvSpPr>
        <p:spPr>
          <a:xfrm>
            <a:off x="6126480" y="2286000"/>
            <a:ext cx="5394960" cy="2057400"/>
          </a:xfrm>
          <a:prstGeom prst="rect">
            <a:avLst/>
          </a:prstGeom>
          <a:noFill/>
          <a:ln/>
        </p:spPr>
        <p:txBody>
          <a:bodyPr wrap="square" rtlCol="0" anchor="t"/>
          <a:lstStyle/>
          <a:p>
            <a:pPr xmlns:a="http://schemas.openxmlformats.org/drawingml/2006/main" indent="0" marL="0">
              <a:lnSpc>
                <a:spcPts val="1800"/>
              </a:lnSpc>
              <a:buNone/>
            </a:pPr>
            <a:r xmlns:a="http://schemas.openxmlformats.org/drawingml/2006/main">
              <a:rPr lang="en" sz="1200" dirty="0">
                <a:solidFill>
                  <a:srgbClr val="1E2A32"/>
                </a:solidFill>
                <a:latin typeface="Calibri" pitchFamily="34" charset="0"/>
                <a:ea typeface="Calibri" pitchFamily="34" charset="-122"/>
                <a:cs typeface="Calibri" pitchFamily="34" charset="-120"/>
              </a:rPr>
              <a:t>The system continuously monitors the level of the buffer tank and compares it to predefined alert thresholds (e.g., reserve below 30%). It can also cross-reference this data with the time of year (regional statistics on dry days serve as a risk reference) to anticipate rather than simply observe.</a:t>
            </a:r>
            <a:endParaRPr xmlns:a="http://schemas.openxmlformats.org/drawingml/2006/main" lang="en-US" sz="1200" dirty="0"/>
          </a:p>
        </p:txBody>
      </p:sp>
      <p:sp>
        <p:nvSpPr>
          <p:cNvPr id="13" name="Shape 11"/>
          <p:cNvSpPr/>
          <p:nvPr/>
        </p:nvSpPr>
        <p:spPr>
          <a:xfrm>
            <a:off x="5852160" y="4572000"/>
            <a:ext cx="2816352" cy="1600200"/>
          </a:xfrm>
          <a:prstGeom prst="roundRect">
            <a:avLst>
              <a:gd name="adj" fmla="val 4571"/>
            </a:avLst>
          </a:prstGeom>
          <a:solidFill>
            <a:srgbClr val="FFFFFF"/>
          </a:solidFill>
          <a:ln w="12700">
            <a:solidFill>
              <a:srgbClr val="DCE4E6"/>
            </a:solidFill>
            <a:prstDash val="solid"/>
          </a:ln>
        </p:spPr>
      </p:sp>
      <p:sp>
        <p:nvSpPr>
          <p:cNvPr id="14" name="Text 12"/>
          <p:cNvSpPr/>
          <p:nvPr/>
        </p:nvSpPr>
        <p:spPr>
          <a:xfrm>
            <a:off x="6035040" y="4681728"/>
            <a:ext cx="246888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1250" b="1" dirty="0">
                <a:solidFill>
                  <a:srgbClr val="1C7293"/>
                </a:solidFill>
                <a:latin typeface="Cambria" pitchFamily="34" charset="0"/>
                <a:ea typeface="Cambria" pitchFamily="34" charset="-122"/>
                <a:cs typeface="Cambria" pitchFamily="34" charset="-120"/>
              </a:rPr>
              <a:t>Entrances</a:t>
            </a:r>
            <a:endParaRPr xmlns:a="http://schemas.openxmlformats.org/drawingml/2006/main" lang="en-US" sz="1250" dirty="0"/>
          </a:p>
        </p:txBody>
      </p:sp>
      <p:sp>
        <p:nvSpPr>
          <p:cNvPr id="15" name="Text 13"/>
          <p:cNvSpPr/>
          <p:nvPr/>
        </p:nvSpPr>
        <p:spPr>
          <a:xfrm>
            <a:off x="6035040" y="4956048"/>
            <a:ext cx="2514600" cy="1170432"/>
          </a:xfrm>
          <a:prstGeom prst="rect">
            <a:avLst/>
          </a:prstGeom>
          <a:noFill/>
          <a:ln/>
        </p:spPr>
        <p:txBody>
          <a:bodyPr wrap="square" rtlCol="0" anchor="ctr"/>
          <a:lstStyle/>
          <a:p>
            <a:pPr xmlns:a="http://schemas.openxmlformats.org/drawingml/2006/main" indent="0" marL="0">
              <a:lnSpc>
                <a:spcPts val="1400"/>
              </a:lnSpc>
              <a:buNone/>
            </a:pPr>
            <a:r xmlns:a="http://schemas.openxmlformats.org/drawingml/2006/main">
              <a:rPr lang="en" sz="1050" dirty="0">
                <a:solidFill>
                  <a:srgbClr val="1E2A32"/>
                </a:solidFill>
                <a:latin typeface="Calibri" pitchFamily="34" charset="0"/>
                <a:ea typeface="Calibri" pitchFamily="34" charset="-122"/>
                <a:cs typeface="Calibri" pitchFamily="34" charset="-120"/>
              </a:rPr>
              <a:t>Continuous reservoir level, period/season, regional reference statistics</a:t>
            </a:r>
            <a:endParaRPr xmlns:a="http://schemas.openxmlformats.org/drawingml/2006/main" lang="en-US" sz="1050" dirty="0"/>
          </a:p>
        </p:txBody>
      </p:sp>
      <p:sp>
        <p:nvSpPr>
          <p:cNvPr id="16" name="Shape 14"/>
          <p:cNvSpPr/>
          <p:nvPr/>
        </p:nvSpPr>
        <p:spPr>
          <a:xfrm>
            <a:off x="8842248" y="4572000"/>
            <a:ext cx="2816352" cy="1600200"/>
          </a:xfrm>
          <a:prstGeom prst="roundRect">
            <a:avLst>
              <a:gd name="adj" fmla="val 4571"/>
            </a:avLst>
          </a:prstGeom>
          <a:solidFill>
            <a:srgbClr val="FFFFFF"/>
          </a:solidFill>
          <a:ln w="12700">
            <a:solidFill>
              <a:srgbClr val="DCE4E6"/>
            </a:solidFill>
            <a:prstDash val="solid"/>
          </a:ln>
        </p:spPr>
      </p:sp>
      <p:sp>
        <p:nvSpPr>
          <p:cNvPr id="17" name="Text 15"/>
          <p:cNvSpPr/>
          <p:nvPr/>
        </p:nvSpPr>
        <p:spPr>
          <a:xfrm>
            <a:off x="9025128" y="4681728"/>
            <a:ext cx="25146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1250" b="1" dirty="0">
                <a:solidFill>
                  <a:srgbClr val="1C7293"/>
                </a:solidFill>
                <a:latin typeface="Cambria" pitchFamily="34" charset="0"/>
                <a:ea typeface="Cambria" pitchFamily="34" charset="-122"/>
                <a:cs typeface="Cambria" pitchFamily="34" charset="-120"/>
              </a:rPr>
              <a:t>Expected releases</a:t>
            </a:r>
            <a:endParaRPr xmlns:a="http://schemas.openxmlformats.org/drawingml/2006/main" lang="en-US" sz="1250" dirty="0"/>
          </a:p>
        </p:txBody>
      </p:sp>
      <p:sp>
        <p:nvSpPr>
          <p:cNvPr id="18" name="Text 16"/>
          <p:cNvSpPr/>
          <p:nvPr/>
        </p:nvSpPr>
        <p:spPr>
          <a:xfrm>
            <a:off x="9025128" y="4956048"/>
            <a:ext cx="2514600" cy="1170432"/>
          </a:xfrm>
          <a:prstGeom prst="rect">
            <a:avLst/>
          </a:prstGeom>
          <a:noFill/>
          <a:ln/>
        </p:spPr>
        <p:txBody>
          <a:bodyPr wrap="square" rtlCol="0" anchor="ctr"/>
          <a:lstStyle/>
          <a:p>
            <a:pPr xmlns:a="http://schemas.openxmlformats.org/drawingml/2006/main" indent="0" marL="0">
              <a:lnSpc>
                <a:spcPts val="1400"/>
              </a:lnSpc>
              <a:buNone/>
            </a:pPr>
            <a:r xmlns:a="http://schemas.openxmlformats.org/drawingml/2006/main">
              <a:rPr lang="en" sz="1050" dirty="0">
                <a:solidFill>
                  <a:srgbClr val="1E2A32"/>
                </a:solidFill>
                <a:latin typeface="Calibri" pitchFamily="34" charset="0"/>
                <a:ea typeface="Calibri" pitchFamily="34" charset="-122"/>
                <a:cs typeface="Calibri" pitchFamily="34" charset="-120"/>
              </a:rPr>
              <a:t>Alert level (normal/vigilance/critical), notification, automatic postponement of irrigation (link axis 1)</a:t>
            </a:r>
            <a:endParaRPr xmlns:a="http://schemas.openxmlformats.org/drawingml/2006/main" lang="en-US" sz="1050" dirty="0"/>
          </a:p>
        </p:txBody>
      </p:sp>
      <p:sp>
        <p:nvSpPr>
          <p:cNvPr id="19" name="Text 17"/>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20" name="Text 18"/>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14</a:t>
            </a:r>
            <a:endParaRPr xmlns:a="http://schemas.openxmlformats.org/drawingml/2006/main"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828800" y="-2194560"/>
            <a:ext cx="5486400" cy="5486400"/>
          </a:xfrm>
          <a:prstGeom prst="ellipse">
            <a:avLst/>
          </a:prstGeom>
          <a:solidFill>
            <a:srgbClr val="065A82">
              <a:alpha val="45000"/>
            </a:srgbClr>
          </a:solidFill>
          <a:ln/>
        </p:spPr>
      </p:sp>
      <p:sp>
        <p:nvSpPr>
          <p:cNvPr id="3" name="Text 1"/>
          <p:cNvSpPr/>
          <p:nvPr/>
        </p:nvSpPr>
        <p:spPr>
          <a:xfrm>
            <a:off x="731520" y="640080"/>
            <a:ext cx="9601200" cy="640080"/>
          </a:xfrm>
          <a:prstGeom prst="rect">
            <a:avLst/>
          </a:prstGeom>
          <a:noFill/>
          <a:ln/>
        </p:spPr>
        <p:txBody>
          <a:bodyPr wrap="square" rtlCol="0" anchor="ctr"/>
          <a:lstStyle/>
          <a:p>
            <a:pPr xmlns:a="http://schemas.openxmlformats.org/drawingml/2006/main" indent="0" marL="0">
              <a:buNone/>
            </a:pPr>
            <a:r xmlns:a="http://schemas.openxmlformats.org/drawingml/2006/main">
              <a:rPr lang="en" sz="3000" b="1" dirty="0">
                <a:solidFill>
                  <a:srgbClr val="FFFFFF"/>
                </a:solidFill>
                <a:latin typeface="Cambria" pitchFamily="34" charset="0"/>
                <a:ea typeface="Cambria" pitchFamily="34" charset="-122"/>
                <a:cs typeface="Cambria" pitchFamily="34" charset="-120"/>
              </a:rPr>
              <a:t>Summary &amp; next steps</a:t>
            </a:r>
            <a:endParaRPr xmlns:a="http://schemas.openxmlformats.org/drawingml/2006/main" lang="en-US" sz="3000" dirty="0"/>
          </a:p>
        </p:txBody>
      </p:sp>
      <p:sp>
        <p:nvSpPr>
          <p:cNvPr id="4" name="Shape 2"/>
          <p:cNvSpPr/>
          <p:nvPr/>
        </p:nvSpPr>
        <p:spPr>
          <a:xfrm>
            <a:off x="731520" y="1737360"/>
            <a:ext cx="457200" cy="457200"/>
          </a:xfrm>
          <a:prstGeom prst="ellipse">
            <a:avLst/>
          </a:prstGeom>
          <a:solidFill>
            <a:srgbClr val="F2A541"/>
          </a:solidFill>
          <a:ln/>
        </p:spPr>
      </p:sp>
      <p:sp>
        <p:nvSpPr>
          <p:cNvPr id="5" name="Text 3"/>
          <p:cNvSpPr/>
          <p:nvPr/>
        </p:nvSpPr>
        <p:spPr>
          <a:xfrm>
            <a:off x="731520" y="1737360"/>
            <a:ext cx="457200" cy="457200"/>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1400" b="1" dirty="0">
                <a:solidFill>
                  <a:srgbClr val="21295C"/>
                </a:solidFill>
                <a:latin typeface="Cambria" pitchFamily="34" charset="0"/>
                <a:ea typeface="Cambria" pitchFamily="34" charset="-122"/>
                <a:cs typeface="Cambria" pitchFamily="34" charset="-120"/>
              </a:rPr>
              <a:t>1</a:t>
            </a:r>
            <a:endParaRPr xmlns:a="http://schemas.openxmlformats.org/drawingml/2006/main" lang="en-US" sz="1400" dirty="0"/>
          </a:p>
        </p:txBody>
      </p:sp>
      <p:sp>
        <p:nvSpPr>
          <p:cNvPr id="6" name="Text 4"/>
          <p:cNvSpPr/>
          <p:nvPr/>
        </p:nvSpPr>
        <p:spPr>
          <a:xfrm>
            <a:off x="1417320" y="1709928"/>
            <a:ext cx="9875520" cy="685800"/>
          </a:xfrm>
          <a:prstGeom prst="rect">
            <a:avLst/>
          </a:prstGeom>
          <a:noFill/>
          <a:ln/>
        </p:spPr>
        <p:txBody>
          <a:bodyPr wrap="square" rtlCol="0" anchor="ctr"/>
          <a:lstStyle/>
          <a:p>
            <a:pPr xmlns:a="http://schemas.openxmlformats.org/drawingml/2006/main" indent="0" marL="0">
              <a:buNone/>
            </a:pPr>
            <a:r xmlns:a="http://schemas.openxmlformats.org/drawingml/2006/main">
              <a:rPr lang="en" sz="1400" dirty="0">
                <a:solidFill>
                  <a:srgbClr val="E8EEF2"/>
                </a:solidFill>
                <a:latin typeface="Calibri" pitchFamily="34" charset="0"/>
                <a:ea typeface="Calibri" pitchFamily="34" charset="-122"/>
                <a:cs typeface="Calibri" pitchFamily="34" charset="-120"/>
              </a:rPr>
              <a:t>Prioritize the axis to be modeled first (recommended: Irrigation scheduling, the most mature basis)</a:t>
            </a:r>
            <a:endParaRPr xmlns:a="http://schemas.openxmlformats.org/drawingml/2006/main" lang="en-US" sz="1400" dirty="0"/>
          </a:p>
        </p:txBody>
      </p:sp>
      <p:sp>
        <p:nvSpPr>
          <p:cNvPr id="7" name="Shape 5"/>
          <p:cNvSpPr/>
          <p:nvPr/>
        </p:nvSpPr>
        <p:spPr>
          <a:xfrm>
            <a:off x="731520" y="2697480"/>
            <a:ext cx="457200" cy="457200"/>
          </a:xfrm>
          <a:prstGeom prst="ellipse">
            <a:avLst/>
          </a:prstGeom>
          <a:solidFill>
            <a:srgbClr val="F2A541"/>
          </a:solidFill>
          <a:ln/>
        </p:spPr>
      </p:sp>
      <p:sp>
        <p:nvSpPr>
          <p:cNvPr id="8" name="Text 6"/>
          <p:cNvSpPr/>
          <p:nvPr/>
        </p:nvSpPr>
        <p:spPr>
          <a:xfrm>
            <a:off x="731520" y="2697480"/>
            <a:ext cx="457200" cy="457200"/>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1400" b="1" dirty="0">
                <a:solidFill>
                  <a:srgbClr val="21295C"/>
                </a:solidFill>
                <a:latin typeface="Cambria" pitchFamily="34" charset="0"/>
                <a:ea typeface="Cambria" pitchFamily="34" charset="-122"/>
                <a:cs typeface="Cambria" pitchFamily="34" charset="-120"/>
              </a:rPr>
              <a:t>2</a:t>
            </a:r>
            <a:endParaRPr xmlns:a="http://schemas.openxmlformats.org/drawingml/2006/main" lang="en-US" sz="1400" dirty="0"/>
          </a:p>
        </p:txBody>
      </p:sp>
      <p:sp>
        <p:nvSpPr>
          <p:cNvPr id="9" name="Text 7"/>
          <p:cNvSpPr/>
          <p:nvPr/>
        </p:nvSpPr>
        <p:spPr>
          <a:xfrm>
            <a:off x="1417320" y="2670048"/>
            <a:ext cx="9875520" cy="685800"/>
          </a:xfrm>
          <a:prstGeom prst="rect">
            <a:avLst/>
          </a:prstGeom>
          <a:noFill/>
          <a:ln/>
        </p:spPr>
        <p:txBody>
          <a:bodyPr wrap="square" rtlCol="0" anchor="ctr"/>
          <a:lstStyle/>
          <a:p>
            <a:pPr xmlns:a="http://schemas.openxmlformats.org/drawingml/2006/main" indent="0" marL="0">
              <a:buNone/>
            </a:pPr>
            <a:r xmlns:a="http://schemas.openxmlformats.org/drawingml/2006/main">
              <a:rPr lang="en" sz="1400" dirty="0">
                <a:solidFill>
                  <a:srgbClr val="E8EEF2"/>
                </a:solidFill>
                <a:latin typeface="Calibri" pitchFamily="34" charset="0"/>
                <a:ea typeface="Calibri" pitchFamily="34" charset="-122"/>
                <a:cs typeface="Calibri" pitchFamily="34" charset="-120"/>
              </a:rPr>
              <a:t>Define the data structure of each module (based on the "Plants App" example)</a:t>
            </a:r>
            <a:endParaRPr xmlns:a="http://schemas.openxmlformats.org/drawingml/2006/main" lang="en-US" sz="1400" dirty="0"/>
          </a:p>
        </p:txBody>
      </p:sp>
      <p:sp>
        <p:nvSpPr>
          <p:cNvPr id="10" name="Shape 8"/>
          <p:cNvSpPr/>
          <p:nvPr/>
        </p:nvSpPr>
        <p:spPr>
          <a:xfrm>
            <a:off x="731520" y="3657600"/>
            <a:ext cx="457200" cy="457200"/>
          </a:xfrm>
          <a:prstGeom prst="ellipse">
            <a:avLst/>
          </a:prstGeom>
          <a:solidFill>
            <a:srgbClr val="F2A541"/>
          </a:solidFill>
          <a:ln/>
        </p:spPr>
      </p:sp>
      <p:sp>
        <p:nvSpPr>
          <p:cNvPr id="11" name="Text 9"/>
          <p:cNvSpPr/>
          <p:nvPr/>
        </p:nvSpPr>
        <p:spPr>
          <a:xfrm>
            <a:off x="731520" y="3657600"/>
            <a:ext cx="457200" cy="457200"/>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1400" b="1" dirty="0">
                <a:solidFill>
                  <a:srgbClr val="21295C"/>
                </a:solidFill>
                <a:latin typeface="Cambria" pitchFamily="34" charset="0"/>
                <a:ea typeface="Cambria" pitchFamily="34" charset="-122"/>
                <a:cs typeface="Cambria" pitchFamily="34" charset="-120"/>
              </a:rPr>
              <a:t>3</a:t>
            </a:r>
            <a:endParaRPr xmlns:a="http://schemas.openxmlformats.org/drawingml/2006/main" lang="en-US" sz="1400" dirty="0"/>
          </a:p>
        </p:txBody>
      </p:sp>
      <p:sp>
        <p:nvSpPr>
          <p:cNvPr id="12" name="Text 10"/>
          <p:cNvSpPr/>
          <p:nvPr/>
        </p:nvSpPr>
        <p:spPr>
          <a:xfrm>
            <a:off x="1417320" y="3630168"/>
            <a:ext cx="9875520" cy="685800"/>
          </a:xfrm>
          <a:prstGeom prst="rect">
            <a:avLst/>
          </a:prstGeom>
          <a:noFill/>
          <a:ln/>
        </p:spPr>
        <p:txBody>
          <a:bodyPr wrap="square" rtlCol="0" anchor="ctr"/>
          <a:lstStyle/>
          <a:p>
            <a:pPr xmlns:a="http://schemas.openxmlformats.org/drawingml/2006/main" indent="0" marL="0">
              <a:buNone/>
            </a:pPr>
            <a:r xmlns:a="http://schemas.openxmlformats.org/drawingml/2006/main">
              <a:rPr lang="en" sz="1400" dirty="0">
                <a:solidFill>
                  <a:srgbClr val="E8EEF2"/>
                </a:solidFill>
                <a:latin typeface="Calibri" pitchFamily="34" charset="0"/>
                <a:ea typeface="Calibri" pitchFamily="34" charset="-122"/>
                <a:cs typeface="Calibri" pitchFamily="34" charset="-120"/>
              </a:rPr>
              <a:t>Specify the connection points with the other modules of the farm (Energy, Plants, Crop Storage)</a:t>
            </a:r>
            <a:endParaRPr xmlns:a="http://schemas.openxmlformats.org/drawingml/2006/main" lang="en-US" sz="1400" dirty="0"/>
          </a:p>
        </p:txBody>
      </p:sp>
      <p:sp>
        <p:nvSpPr>
          <p:cNvPr id="13" name="Shape 11"/>
          <p:cNvSpPr/>
          <p:nvPr/>
        </p:nvSpPr>
        <p:spPr>
          <a:xfrm>
            <a:off x="731520" y="4617720"/>
            <a:ext cx="457200" cy="457200"/>
          </a:xfrm>
          <a:prstGeom prst="ellipse">
            <a:avLst/>
          </a:prstGeom>
          <a:solidFill>
            <a:srgbClr val="F2A541"/>
          </a:solidFill>
          <a:ln/>
        </p:spPr>
      </p:sp>
      <p:sp>
        <p:nvSpPr>
          <p:cNvPr id="14" name="Text 12"/>
          <p:cNvSpPr/>
          <p:nvPr/>
        </p:nvSpPr>
        <p:spPr>
          <a:xfrm>
            <a:off x="731520" y="4617720"/>
            <a:ext cx="457200" cy="457200"/>
          </a:xfrm>
          <a:prstGeom prst="rect">
            <a:avLst/>
          </a:prstGeom>
          <a:noFill/>
          <a:ln/>
        </p:spPr>
        <p:txBody>
          <a:bodyPr wrap="square" rtlCol="0" anchor="ctr"/>
          <a:lstStyle/>
          <a:p>
            <a:pPr xmlns:a="http://schemas.openxmlformats.org/drawingml/2006/main" algn="ctr" indent="0" marL="0">
              <a:buNone/>
            </a:pPr>
            <a:r xmlns:a="http://schemas.openxmlformats.org/drawingml/2006/main">
              <a:rPr lang="en" sz="1400" b="1" dirty="0">
                <a:solidFill>
                  <a:srgbClr val="21295C"/>
                </a:solidFill>
                <a:latin typeface="Cambria" pitchFamily="34" charset="0"/>
                <a:ea typeface="Cambria" pitchFamily="34" charset="-122"/>
                <a:cs typeface="Cambria" pitchFamily="34" charset="-120"/>
              </a:rPr>
              <a:t>4</a:t>
            </a:r>
            <a:endParaRPr xmlns:a="http://schemas.openxmlformats.org/drawingml/2006/main" lang="en-US" sz="1400" dirty="0"/>
          </a:p>
        </p:txBody>
      </p:sp>
      <p:sp>
        <p:nvSpPr>
          <p:cNvPr id="15" name="Text 13"/>
          <p:cNvSpPr/>
          <p:nvPr/>
        </p:nvSpPr>
        <p:spPr>
          <a:xfrm>
            <a:off x="1417320" y="4590288"/>
            <a:ext cx="9875520" cy="685800"/>
          </a:xfrm>
          <a:prstGeom prst="rect">
            <a:avLst/>
          </a:prstGeom>
          <a:noFill/>
          <a:ln/>
        </p:spPr>
        <p:txBody>
          <a:bodyPr wrap="square" rtlCol="0" anchor="ctr"/>
          <a:lstStyle/>
          <a:p>
            <a:pPr xmlns:a="http://schemas.openxmlformats.org/drawingml/2006/main" indent="0" marL="0">
              <a:buNone/>
            </a:pPr>
            <a:r xmlns:a="http://schemas.openxmlformats.org/drawingml/2006/main">
              <a:rPr lang="en" sz="1400" dirty="0">
                <a:solidFill>
                  <a:srgbClr val="E8EEF2"/>
                </a:solidFill>
                <a:latin typeface="Calibri" pitchFamily="34" charset="0"/>
                <a:ea typeface="Calibri" pitchFamily="34" charset="-122"/>
                <a:cs typeface="Calibri" pitchFamily="34" charset="-120"/>
              </a:rPr>
              <a:t>Identify the thresholds and business rules that still need to be validated with the team (water quality, alerts)</a:t>
            </a:r>
            <a:endParaRPr xmlns:a="http://schemas.openxmlformats.org/drawingml/2006/main" lang="en-US" sz="1400" dirty="0"/>
          </a:p>
        </p:txBody>
      </p:sp>
      <p:sp>
        <p:nvSpPr>
          <p:cNvPr id="16" name="Text 14"/>
          <p:cNvSpPr/>
          <p:nvPr/>
        </p:nvSpPr>
        <p:spPr>
          <a:xfrm>
            <a:off x="457200" y="6473952"/>
            <a:ext cx="7315200" cy="274320"/>
          </a:xfrm>
          <a:prstGeom prst="rect">
            <a:avLst/>
          </a:prstGeom>
          <a:noFill/>
          <a:ln/>
        </p:spPr>
        <p:txBody>
          <a:bodyPr wrap="square" rtlCol="0" anchor="ctr"/>
          <a:lstStyle/>
          <a:p>
            <a:pPr xmlns:a="http://schemas.openxmlformats.org/drawingml/2006/main"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Infineon/BIT Excellence Program 2026 — Water Supply</a:t>
            </a:r>
            <a:endParaRPr xmlns:a="http://schemas.openxmlformats.org/drawingml/2006/main" lang="en-US" sz="900" dirty="0"/>
          </a:p>
        </p:txBody>
      </p:sp>
      <p:sp>
        <p:nvSpPr>
          <p:cNvPr id="17" name="Text 15"/>
          <p:cNvSpPr/>
          <p:nvPr/>
        </p:nvSpPr>
        <p:spPr>
          <a:xfrm>
            <a:off x="11274552" y="6473952"/>
            <a:ext cx="457200" cy="274320"/>
          </a:xfrm>
          <a:prstGeom prst="rect">
            <a:avLst/>
          </a:prstGeom>
          <a:noFill/>
          <a:ln/>
        </p:spPr>
        <p:txBody>
          <a:bodyPr wrap="square" rtlCol="0" anchor="ctr"/>
          <a:lstStyle/>
          <a:p>
            <a:pPr xmlns:a="http://schemas.openxmlformats.org/drawingml/2006/main" algn="r" indent="0" marL="0">
              <a:buNone/>
            </a:pPr>
            <a:r xmlns:a="http://schemas.openxmlformats.org/drawingml/2006/main">
              <a:rPr lang="en" sz="900" dirty="0">
                <a:solidFill>
                  <a:srgbClr val="5B6B72"/>
                </a:solidFill>
                <a:latin typeface="Calibri" pitchFamily="34" charset="0"/>
                <a:ea typeface="Calibri" pitchFamily="34" charset="-122"/>
                <a:cs typeface="Calibri" pitchFamily="34" charset="-120"/>
              </a:rPr>
              <a:t>15</a:t>
            </a:r>
            <a:endParaRPr xmlns:a="http://schemas.openxmlformats.org/drawingml/2006/main"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2026-07-22T20:58:25Z</dcterms:created>
  <dcterms:modified xsi:type="dcterms:W3CDTF">2026-07-22T20:58:25Z</dcterms:modified>
</cp:coreProperties>
</file>