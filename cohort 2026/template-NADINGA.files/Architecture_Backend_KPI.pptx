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840480" cy="384048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182880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5" name="Image 0" descr="b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777240"/>
            <a:ext cx="603504" cy="352044"/>
          </a:xfrm>
          <a:prstGeom prst="rect">
            <a:avLst/>
          </a:prstGeom>
        </p:spPr>
      </p:pic>
      <p:pic>
        <p:nvPicPr>
          <p:cNvPr id="6" name="Image 1" descr="infineon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790956"/>
            <a:ext cx="868680" cy="3794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2606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00" b="1" spc="200" kern="0" dirty="0">
                <a:solidFill>
                  <a:srgbClr val="97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INFINEON / BIT EXCELLENCE PROGRAM — 2026</a:t>
            </a:r>
            <a:endParaRPr xmlns:a="http://schemas.openxmlformats.org/drawingml/2006/main"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22960" y="29443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Supply App</a:t>
            </a:r>
            <a:endParaRPr xmlns:a="http://schemas.openxmlformats.org/drawingml/2006/main"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95528" y="3337560"/>
            <a:ext cx="100584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lnSpc>
                <a:spcPts val="5200"/>
              </a:lnSpc>
              <a:buNone/>
            </a:pPr>
            <a:r xmlns:a="http://schemas.openxmlformats.org/drawingml/2006/main">
              <a:rPr lang="en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Architecture</a:t>
            </a:r>
            <a:endParaRPr xmlns:a="http://schemas.openxmlformats.org/drawingml/2006/main" lang="en-US" sz="4800" dirty="0"/>
          </a:p>
          <a:p>
            <a:pPr xmlns:a="http://schemas.openxmlformats.org/drawingml/2006/main" indent="0" marL="0">
              <a:lnSpc>
                <a:spcPts val="5200"/>
              </a:lnSpc>
              <a:buNone/>
            </a:pPr>
            <a:r xmlns:a="http://schemas.openxmlformats.org/drawingml/2006/main">
              <a:rPr lang="en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Central KPI</a:t>
            </a:r>
            <a:endParaRPr xmlns:a="http://schemas.openxmlformats.org/drawingml/2006/main"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822960" y="52578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i="1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layers, data model and pipeline of the "water saved" KPI</a:t>
            </a:r>
            <a:endParaRPr xmlns:a="http://schemas.openxmlformats.org/drawingml/2006/main"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78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Design Document — August 2026</a:t>
            </a:r>
            <a:endParaRPr xmlns:a="http://schemas.openxmlformats.org/drawingml/2006/main"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00" b="1" spc="200" kern="0" dirty="0">
                <a:solidFill>
                  <a:srgbClr val="C8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xmlns:a="http://schemas.openxmlformats.org/drawingml/2006/main"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xmlns:a="http://schemas.openxmlformats.org/drawingml/2006/main"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backend first?</a:t>
            </a:r>
            <a:endParaRPr xmlns:a="http://schemas.openxmlformats.org/drawingml/2006/main"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231343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channel that transforms raw data into business value</a:t>
            </a:r>
            <a:endParaRPr xmlns:a="http://schemas.openxmlformats.org/drawingml/2006/main"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611112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xmlns:a="http://schemas.openxmlformats.org/drawingml/2006/main"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60920" y="1874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objectives of architecture</a:t>
            </a:r>
            <a:endParaRPr xmlns:a="http://schemas.openxmlformats.org/drawingml/2006/main"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60920" y="231343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ingestion to application monitoring</a:t>
            </a:r>
            <a:endParaRPr xmlns:a="http://schemas.openxmlformats.org/drawingml/2006/main"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64992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62102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6210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xmlns:a="http://schemas.openxmlformats.org/drawingml/2006/main"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5478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KPI "volume of water saved"</a:t>
            </a:r>
            <a:endParaRPr xmlns:a="http://schemas.openxmlformats.org/drawingml/2006/main"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54480" y="398678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architectural anchor point and product of the system</a:t>
            </a:r>
            <a:endParaRPr xmlns:a="http://schemas.openxmlformats.org/drawingml/2006/main"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3364992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611112" y="362102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611112" y="36210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xmlns:a="http://schemas.openxmlformats.org/drawingml/2006/main"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60920" y="35478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pipeline &amp; data model</a:t>
            </a:r>
            <a:endParaRPr xmlns:a="http://schemas.openxmlformats.org/drawingml/2006/main"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60920" y="398678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journey, from source to REST API</a:t>
            </a:r>
            <a:endParaRPr xmlns:a="http://schemas.openxmlformats.org/drawingml/2006/main"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38344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" y="529437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2943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xmlns:a="http://schemas.openxmlformats.org/drawingml/2006/main"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54480" y="52212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constraints</a:t>
            </a:r>
            <a:endParaRPr xmlns:a="http://schemas.openxmlformats.org/drawingml/2006/main"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54480" y="5660136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fault tolerance, monitoring</a:t>
            </a:r>
            <a:endParaRPr xmlns:a="http://schemas.openxmlformats.org/drawingml/2006/main"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5038344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611112" y="529437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611112" y="52943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xmlns:a="http://schemas.openxmlformats.org/drawingml/2006/main"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60920" y="52212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perspectives</a:t>
            </a:r>
            <a:endParaRPr xmlns:a="http://schemas.openxmlformats.org/drawingml/2006/main"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360920" y="5660136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 and areas for improvement</a:t>
            </a:r>
            <a:endParaRPr xmlns:a="http://schemas.openxmlformats.org/drawingml/2006/main" lang="en-US" sz="1100" dirty="0"/>
          </a:p>
        </p:txBody>
      </p:sp>
      <p:pic>
        <p:nvPicPr>
          <p:cNvPr id="34" name="Image 0" descr="b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384048" cy="224028"/>
          </a:xfrm>
          <a:prstGeom prst="rect">
            <a:avLst/>
          </a:prstGeom>
        </p:spPr>
      </p:pic>
      <p:pic>
        <p:nvPicPr>
          <p:cNvPr id="35" name="Image 1" descr="infineon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492240"/>
            <a:ext cx="566928" cy="24688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5544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Infineon/BIT Excellence Program 2026</a:t>
            </a:r>
            <a:endParaRPr xmlns:a="http://schemas.openxmlformats.org/drawingml/2006/main"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9601200" y="6473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n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02/10</a:t>
            </a:r>
            <a:endParaRPr xmlns:a="http://schemas.openxmlformats.org/drawingml/2006/main"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00" b="1" spc="200" kern="0" dirty="0">
                <a:solidFill>
                  <a:srgbClr val="C8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"backend-first" approach?</a:t>
            </a:r>
            <a:endParaRPr xmlns:a="http://schemas.openxmlformats.org/drawingml/2006/main"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lnSpc>
                <a:spcPts val="2200"/>
              </a:lnSpc>
              <a:buNone/>
            </a:pPr>
            <a:r xmlns:a="http://schemas.openxmlformats.org/drawingml/2006/main">
              <a:rPr lang="en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is the main channel through which field data — consumption, reservoirs, irrigation, quality — are transformed into reliable and traceable business value, before any screen or user journey is built.</a:t>
            </a:r>
            <a:endParaRPr xmlns:a="http://schemas.openxmlformats.org/drawingml/2006/main"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5029200" cy="1737360"/>
          </a:xfrm>
          <a:prstGeom prst="roundRect">
            <a:avLst>
              <a:gd name="adj" fmla="val 4737"/>
            </a:avLst>
          </a:prstGeom>
          <a:solidFill>
            <a:srgbClr val="F4F6FB"/>
          </a:solidFill>
          <a:ln/>
        </p:spPr>
      </p:sp>
      <p:pic>
        <p:nvPicPr>
          <p:cNvPr id="6" name="Image 0" descr="Lu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8862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38587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responsibilities</a:t>
            </a:r>
            <a:endParaRPr xmlns:a="http://schemas.openxmlformats.org/drawingml/2006/main"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4224528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lnSpc>
                <a:spcPts val="1500"/>
              </a:lnSpc>
              <a:buNone/>
            </a:pPr>
            <a:r xmlns:a="http://schemas.openxmlformats.org/drawingml/2006/main">
              <a:rPr lang="en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are centralized and testable, independent of any graphical interface (layered/hexagonal architecture).</a:t>
            </a:r>
            <a:endParaRPr xmlns:a="http://schemas.openxmlformats.org/drawingml/2006/main"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35040" y="1417320"/>
            <a:ext cx="5577840" cy="749808"/>
          </a:xfrm>
          <a:prstGeom prst="roundRect">
            <a:avLst>
              <a:gd name="adj" fmla="val 8537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141732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</a:t>
            </a:r>
            <a:endParaRPr xmlns:a="http://schemas.openxmlformats.org/drawingml/2006/main"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03920" y="141732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REST endpoints (JSON)</a:t>
            </a:r>
            <a:endParaRPr xmlns:a="http://schemas.openxmlformats.org/drawingml/2006/main"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2276856"/>
            <a:ext cx="5577840" cy="749808"/>
          </a:xfrm>
          <a:prstGeom prst="roundRect">
            <a:avLst>
              <a:gd name="adj" fmla="val 8537"/>
            </a:avLst>
          </a:prstGeom>
          <a:solidFill>
            <a:srgbClr val="2C3A82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2276856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of work</a:t>
            </a:r>
            <a:endParaRPr xmlns:a="http://schemas.openxmlformats.org/drawingml/2006/main"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03920" y="2276856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rules &amp; decision</a:t>
            </a:r>
            <a:endParaRPr xmlns:a="http://schemas.openxmlformats.org/drawingml/2006/main"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3136392"/>
            <a:ext cx="5577840" cy="749808"/>
          </a:xfrm>
          <a:prstGeom prst="roundRect">
            <a:avLst>
              <a:gd name="adj" fmla="val 8537"/>
            </a:avLst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313639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layer</a:t>
            </a:r>
            <a:endParaRPr xmlns:a="http://schemas.openxmlformats.org/drawingml/2006/main"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503920" y="3136392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— SQLAlchemy</a:t>
            </a:r>
            <a:endParaRPr xmlns:a="http://schemas.openxmlformats.org/drawingml/2006/main"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35040" y="3995928"/>
            <a:ext cx="5577840" cy="749808"/>
          </a:xfrm>
          <a:prstGeom prst="roundRect">
            <a:avLst>
              <a:gd name="adj" fmla="val 8537"/>
            </a:avLst>
          </a:prstGeom>
          <a:solidFill>
            <a:srgbClr val="2C3A82"/>
          </a:solidFill>
          <a:ln/>
        </p:spPr>
      </p:sp>
      <p:sp>
        <p:nvSpPr>
          <p:cNvPr id="19" name="Text 16"/>
          <p:cNvSpPr/>
          <p:nvPr/>
        </p:nvSpPr>
        <p:spPr>
          <a:xfrm>
            <a:off x="6309360" y="3995928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layer</a:t>
            </a:r>
            <a:endParaRPr xmlns:a="http://schemas.openxmlformats.org/drawingml/2006/main"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03920" y="3995928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and validating data streams</a:t>
            </a:r>
            <a:endParaRPr xmlns:a="http://schemas.openxmlformats.org/drawingml/2006/main"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35040" y="4855464"/>
            <a:ext cx="5577840" cy="749808"/>
          </a:xfrm>
          <a:prstGeom prst="roundRect">
            <a:avLst>
              <a:gd name="adj" fmla="val 8537"/>
            </a:avLst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6309360" y="4855464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Supervisory layer</a:t>
            </a:r>
            <a:endParaRPr xmlns:a="http://schemas.openxmlformats.org/drawingml/2006/main"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503920" y="4855464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&amp; scheduled tasks</a:t>
            </a:r>
            <a:endParaRPr xmlns:a="http://schemas.openxmlformats.org/drawingml/2006/main" lang="en-US" sz="1100" dirty="0"/>
          </a:p>
        </p:txBody>
      </p:sp>
      <p:pic>
        <p:nvPicPr>
          <p:cNvPr id="24" name="Image 1" descr="bi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73952"/>
            <a:ext cx="384048" cy="224028"/>
          </a:xfrm>
          <a:prstGeom prst="rect">
            <a:avLst/>
          </a:prstGeom>
        </p:spPr>
      </p:pic>
      <p:pic>
        <p:nvPicPr>
          <p:cNvPr id="25" name="Image 2" descr="infineon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492240"/>
            <a:ext cx="566928" cy="2468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5544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Infineon/BIT Excellence Program 2026</a:t>
            </a:r>
            <a:endParaRPr xmlns:a="http://schemas.openxmlformats.org/drawingml/2006/main"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9601200" y="6473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n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03/10</a:t>
            </a:r>
            <a:endParaRPr xmlns:a="http://schemas.openxmlformats.org/drawingml/2006/main"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00" b="1" spc="200" kern="0" dirty="0">
                <a:solidFill>
                  <a:srgbClr val="C8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objectives of backend architecture</a:t>
            </a:r>
            <a:endParaRPr xmlns:a="http://schemas.openxmlformats.org/drawingml/2006/main"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xmlns:a="http://schemas.openxmlformats.org/drawingml/2006/main"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architecture</a:t>
            </a:r>
            <a:endParaRPr xmlns:a="http://schemas.openxmlformats.org/drawingml/2006/main"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862072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lnSpc>
                <a:spcPts val="1300"/>
              </a:lnSpc>
              <a:buNone/>
            </a:pPr>
            <a:r xmlns:a="http://schemas.openxmlformats.org/drawingml/2006/main">
              <a:rPr lang="en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layers: ingestion, business logic, persistence, API, monitoring</a:t>
            </a:r>
            <a:endParaRPr xmlns:a="http://schemas.openxmlformats.org/drawingml/2006/main"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16552" y="16002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xmlns:a="http://schemas.openxmlformats.org/drawingml/2006/main"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72584" y="246888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&amp; ingestion</a:t>
            </a:r>
            <a:endParaRPr xmlns:a="http://schemas.openxmlformats.org/drawingml/2006/main"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72584" y="2862072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lnSpc>
                <a:spcPts val="1300"/>
              </a:lnSpc>
              <a:buNone/>
            </a:pPr>
            <a:r xmlns:a="http://schemas.openxmlformats.org/drawingml/2006/main">
              <a:rPr lang="en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WaterConsumption, WaterSource, IrrigationSchedule, WaterQualityTest</a:t>
            </a:r>
            <a:endParaRPr xmlns:a="http://schemas.openxmlformats.org/drawingml/2006/main"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84464" y="16002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513064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513064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xmlns:a="http://schemas.openxmlformats.org/drawingml/2006/main"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40496" y="246888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xmlns:a="http://schemas.openxmlformats.org/drawingml/2006/main"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40496" y="2862072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lnSpc>
                <a:spcPts val="1300"/>
              </a:lnSpc>
              <a:buNone/>
            </a:pPr>
            <a:r xmlns:a="http://schemas.openxmlformats.org/drawingml/2006/main">
              <a:rPr lang="en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saving planning single responsibility services</a:t>
            </a:r>
            <a:endParaRPr xmlns:a="http://schemas.openxmlformats.org/drawingml/2006/main"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xmlns:a="http://schemas.openxmlformats.org/drawingml/2006/main"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466344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for restoring</a:t>
            </a:r>
            <a:endParaRPr xmlns:a="http://schemas.openxmlformats.org/drawingml/2006/main"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4672" y="5056632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lnSpc>
                <a:spcPts val="1300"/>
              </a:lnSpc>
              <a:buNone/>
            </a:pPr>
            <a:r xmlns:a="http://schemas.openxmlformats.org/drawingml/2006/main">
              <a:rPr lang="en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contracts: /dashboard/water-savings, /irrigations/&lt;id&gt;/start…</a:t>
            </a:r>
            <a:endParaRPr xmlns:a="http://schemas.openxmlformats.org/drawingml/2006/main"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16552" y="37947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645152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xmlns:a="http://schemas.openxmlformats.org/drawingml/2006/main"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72584" y="466344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alerts</a:t>
            </a:r>
            <a:endParaRPr xmlns:a="http://schemas.openxmlformats.org/drawingml/2006/main"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72584" y="5056632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lnSpc>
                <a:spcPts val="1300"/>
              </a:lnSpc>
              <a:buNone/>
            </a:pPr>
            <a:r xmlns:a="http://schemas.openxmlformats.org/drawingml/2006/main">
              <a:rPr lang="en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thresholds, abnormal flow rate, critical level</a:t>
            </a:r>
            <a:endParaRPr xmlns:a="http://schemas.openxmlformats.org/drawingml/2006/main"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84464" y="37947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8513064" y="4023360"/>
            <a:ext cx="502920" cy="502920"/>
          </a:xfrm>
          <a:prstGeom prst="ellipse">
            <a:avLst/>
          </a:prstGeom>
          <a:solidFill>
            <a:srgbClr val="C8365D"/>
          </a:solidFill>
          <a:ln/>
        </p:spPr>
      </p:sp>
      <p:sp>
        <p:nvSpPr>
          <p:cNvPr id="31" name="Text 29"/>
          <p:cNvSpPr/>
          <p:nvPr/>
        </p:nvSpPr>
        <p:spPr>
          <a:xfrm>
            <a:off x="8513064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xmlns:a="http://schemas.openxmlformats.org/drawingml/2006/main"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40496" y="466344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</a:t>
            </a:r>
            <a:endParaRPr xmlns:a="http://schemas.openxmlformats.org/drawingml/2006/main"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540496" y="5056632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xmlns:a="http://schemas.openxmlformats.org/drawingml/2006/main" indent="0" marL="0">
              <a:lnSpc>
                <a:spcPts val="1300"/>
              </a:lnSpc>
              <a:buNone/>
            </a:pPr>
            <a:r xmlns:a="http://schemas.openxmlformats.org/drawingml/2006/main">
              <a:rPr lang="en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“Water volume saved” — architectural anchor point</a:t>
            </a:r>
            <a:endParaRPr xmlns:a="http://schemas.openxmlformats.org/drawingml/2006/main" lang="en-US" sz="1050" dirty="0"/>
          </a:p>
        </p:txBody>
      </p:sp>
      <p:pic>
        <p:nvPicPr>
          <p:cNvPr id="34" name="Image 0" descr="b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384048" cy="224028"/>
          </a:xfrm>
          <a:prstGeom prst="rect">
            <a:avLst/>
          </a:prstGeom>
        </p:spPr>
      </p:pic>
      <p:pic>
        <p:nvPicPr>
          <p:cNvPr id="35" name="Image 1" descr="infineon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492240"/>
            <a:ext cx="566928" cy="24688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5544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Infineon/BIT Excellence Program 2026</a:t>
            </a:r>
            <a:endParaRPr xmlns:a="http://schemas.openxmlformats.org/drawingml/2006/main"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9601200" y="6473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n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04/10</a:t>
            </a:r>
            <a:endParaRPr xmlns:a="http://schemas.openxmlformats.org/drawingml/2006/main"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06240"/>
            <a:ext cx="4023360" cy="402336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00" b="1" spc="200" kern="0" dirty="0">
                <a:solidFill>
                  <a:srgbClr val="C8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6 — IN DETAIL</a:t>
            </a:r>
            <a:endParaRPr xmlns:a="http://schemas.openxmlformats.org/drawingml/2006/main"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KPI "volume of water saved"</a:t>
            </a:r>
            <a:endParaRPr xmlns:a="http://schemas.openxmlformats.org/drawingml/2006/main"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lnSpc>
                <a:spcPts val="2000"/>
              </a:lnSpc>
              <a:buNone/>
            </a:pPr>
            <a:r xmlns:a="http://schemas.openxmlformats.org/drawingml/2006/main">
              <a:rPr lang="en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just a number displayed on the screen: it is a structural calculation that proves that the backend transforms raw measurements into real and verifiable gains.</a:t>
            </a:r>
            <a:endParaRPr xmlns:a="http://schemas.openxmlformats.org/drawingml/2006/main"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53512"/>
            <a:ext cx="109728" cy="109728"/>
          </a:xfrm>
          <a:prstGeom prst="ellipse">
            <a:avLst/>
          </a:prstGeom>
          <a:solidFill>
            <a:srgbClr val="C8365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523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WaterConsumption</a:t>
            </a:r>
            <a:endParaRPr xmlns:a="http://schemas.openxmlformats.org/drawingml/2006/main"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794760" y="27523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measured volumes</a:t>
            </a:r>
            <a:endParaRPr xmlns:a="http://schemas.openxmlformats.org/drawingml/2006/main"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09728" cy="109728"/>
          </a:xfrm>
          <a:prstGeom prst="ellipse">
            <a:avLst/>
          </a:prstGeom>
          <a:solidFill>
            <a:srgbClr val="C8365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27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Schedule</a:t>
            </a:r>
            <a:endParaRPr xmlns:a="http://schemas.openxmlformats.org/drawingml/2006/main"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94760" y="32278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Watering Events &amp; Status</a:t>
            </a:r>
            <a:endParaRPr xmlns:a="http://schemas.openxmlformats.org/drawingml/2006/main"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04488"/>
            <a:ext cx="109728" cy="109728"/>
          </a:xfrm>
          <a:prstGeom prst="ellipse">
            <a:avLst/>
          </a:prstGeom>
          <a:solidFill>
            <a:srgbClr val="C8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033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WaterSource</a:t>
            </a:r>
            <a:endParaRPr xmlns:a="http://schemas.openxmlformats.org/drawingml/2006/main"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94760" y="37033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type &amp; capacities</a:t>
            </a:r>
            <a:endParaRPr xmlns:a="http://schemas.openxmlformats.org/drawingml/2006/main"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379976"/>
            <a:ext cx="109728" cy="109728"/>
          </a:xfrm>
          <a:prstGeom prst="ellipse">
            <a:avLst/>
          </a:prstGeom>
          <a:solidFill>
            <a:srgbClr val="C8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788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RainwaterHarvest + WaterQualityTest</a:t>
            </a:r>
            <a:endParaRPr xmlns:a="http://schemas.openxmlformats.org/drawingml/2006/main"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94760" y="41788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of effectiveness</a:t>
            </a:r>
            <a:endParaRPr xmlns:a="http://schemas.openxmlformats.org/drawingml/2006/main"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160020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b="1" spc="150" kern="0" dirty="0">
                <a:solidFill>
                  <a:srgbClr val="97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</a:t>
            </a:r>
            <a:endParaRPr xmlns:a="http://schemas.openxmlformats.org/drawingml/2006/main"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224028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xmlns:a="http://schemas.openxmlformats.org/drawingml/2006/main"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6858000" y="3337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water saved this month (example)</a:t>
            </a:r>
            <a:endParaRPr xmlns:a="http://schemas.openxmlformats.org/drawingml/2006/main"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0" y="3886200"/>
            <a:ext cx="443484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406908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lnSpc>
                <a:spcPts val="1900"/>
              </a:lnSpc>
              <a:buNone/>
            </a:pPr>
            <a:r xmlns:a="http://schemas.openxmlformats.org/drawingml/2006/main">
              <a:rPr lang="en" sz="125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 complete backend pipeline: collection → theoretical reference → gap → aggregation → cache/API.</a:t>
            </a:r>
            <a:endParaRPr xmlns:a="http://schemas.openxmlformats.org/drawingml/2006/main"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6428232"/>
            <a:ext cx="11430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pic>
        <p:nvPicPr>
          <p:cNvPr id="25" name="Image 0" descr="b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384048" cy="224028"/>
          </a:xfrm>
          <a:prstGeom prst="rect">
            <a:avLst/>
          </a:prstGeom>
        </p:spPr>
      </p:pic>
      <p:pic>
        <p:nvPicPr>
          <p:cNvPr id="26" name="Image 1" descr="infineon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492240"/>
            <a:ext cx="566928" cy="24688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5544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Infineon/BIT Excellence Program 2026</a:t>
            </a:r>
            <a:endParaRPr xmlns:a="http://schemas.openxmlformats.org/drawingml/2006/main"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9601200" y="6473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n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</a:t>
            </a:r>
            <a:endParaRPr xmlns:a="http://schemas.openxmlformats.org/drawingml/2006/main"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00" b="1" spc="200" kern="0" dirty="0">
                <a:solidFill>
                  <a:srgbClr val="C8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Processing Pipeline</a:t>
            </a:r>
            <a:endParaRPr xmlns:a="http://schemas.openxmlformats.org/drawingml/2006/main"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7512" y="210312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330452" y="23591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Lu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324" y="2478024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76272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n" sz="1400" b="1" dirty="0">
                <a:solidFill>
                  <a:srgbClr val="C8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xmlns:a="http://schemas.openxmlformats.org/drawingml/2006/main"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8952" y="3154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xmlns:a="http://schemas.openxmlformats.org/drawingml/2006/main"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8952" y="358444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lnSpc>
                <a:spcPts val="1300"/>
              </a:lnSpc>
              <a:buNone/>
            </a:pPr>
            <a:r xmlns:a="http://schemas.openxmlformats.org/drawingml/2006/main">
              <a:rPr lang="e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WaterConsumption</a:t>
            </a:r>
            <a:endParaRPr xmlns:a="http://schemas.openxmlformats.org/drawingml/2006/main" lang="en-US" sz="1000" dirty="0"/>
          </a:p>
          <a:p>
            <a:pPr xmlns:a="http://schemas.openxmlformats.org/drawingml/2006/main" algn="ctr" indent="0" marL="0">
              <a:lnSpc>
                <a:spcPts val="1300"/>
              </a:lnSpc>
              <a:buNone/>
            </a:pPr>
            <a:r xmlns:a="http://schemas.openxmlformats.org/drawingml/2006/main">
              <a:rPr lang="e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Irrigation Schedule</a:t>
            </a:r>
            <a:endParaRPr xmlns:a="http://schemas.openxmlformats.org/drawingml/2006/main"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633472" y="29718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000" b="1" dirty="0">
                <a:solidFill>
                  <a:srgbClr val="C8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xmlns:a="http://schemas.openxmlformats.org/drawingml/2006/main"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89504" y="210312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3552444" y="23591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Lu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16" y="247802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98264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n" sz="1400" b="1" dirty="0">
                <a:solidFill>
                  <a:srgbClr val="C8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xmlns:a="http://schemas.openxmlformats.org/drawingml/2006/main"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980944" y="3154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xmlns:a="http://schemas.openxmlformats.org/drawingml/2006/main"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980944" y="358444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lnSpc>
                <a:spcPts val="1300"/>
              </a:lnSpc>
              <a:buNone/>
            </a:pPr>
            <a:r xmlns:a="http://schemas.openxmlformats.org/drawingml/2006/main">
              <a:rPr lang="e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zone, area,</a:t>
            </a:r>
            <a:endParaRPr xmlns:a="http://schemas.openxmlformats.org/drawingml/2006/main" lang="en-US" sz="1000" dirty="0"/>
          </a:p>
          <a:p>
            <a:pPr xmlns:a="http://schemas.openxmlformats.org/drawingml/2006/main" algn="ctr" indent="0" marL="0">
              <a:lnSpc>
                <a:spcPts val="1300"/>
              </a:lnSpc>
              <a:buNone/>
            </a:pPr>
            <a:r xmlns:a="http://schemas.openxmlformats.org/drawingml/2006/main">
              <a:rPr lang="e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source</a:t>
            </a:r>
            <a:endParaRPr xmlns:a="http://schemas.openxmlformats.org/drawingml/2006/main"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55464" y="29718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000" b="1" dirty="0">
                <a:solidFill>
                  <a:srgbClr val="C8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xmlns:a="http://schemas.openxmlformats.org/drawingml/2006/main"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111496" y="210312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9" name="Shape 15"/>
          <p:cNvSpPr/>
          <p:nvPr/>
        </p:nvSpPr>
        <p:spPr>
          <a:xfrm>
            <a:off x="5774436" y="23591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Lu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308" y="2478024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20256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n" sz="1400" b="1" dirty="0">
                <a:solidFill>
                  <a:srgbClr val="C8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xmlns:a="http://schemas.openxmlformats.org/drawingml/2006/main"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202936" y="3154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reference</a:t>
            </a:r>
            <a:endParaRPr xmlns:a="http://schemas.openxmlformats.org/drawingml/2006/main"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202936" y="358444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lnSpc>
                <a:spcPts val="1300"/>
              </a:lnSpc>
              <a:buNone/>
            </a:pPr>
            <a:r xmlns:a="http://schemas.openxmlformats.org/drawingml/2006/main">
              <a:rPr lang="e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Area-based model</a:t>
            </a:r>
            <a:endParaRPr xmlns:a="http://schemas.openxmlformats.org/drawingml/2006/main" lang="en-US" sz="1000" dirty="0"/>
          </a:p>
          <a:p>
            <a:pPr xmlns:a="http://schemas.openxmlformats.org/drawingml/2006/main" algn="ctr" indent="0" marL="0">
              <a:lnSpc>
                <a:spcPts val="1300"/>
              </a:lnSpc>
              <a:buNone/>
            </a:pPr>
            <a:r xmlns:a="http://schemas.openxmlformats.org/drawingml/2006/main">
              <a:rPr lang="e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by season</a:t>
            </a:r>
            <a:endParaRPr xmlns:a="http://schemas.openxmlformats.org/drawingml/2006/main"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077456" y="29718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000" b="1" dirty="0">
                <a:solidFill>
                  <a:srgbClr val="C8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xmlns:a="http://schemas.openxmlformats.org/drawingml/2006/main"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7333488" y="210312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26" name="Shape 21"/>
          <p:cNvSpPr/>
          <p:nvPr/>
        </p:nvSpPr>
        <p:spPr>
          <a:xfrm>
            <a:off x="7996428" y="23591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LuGitBra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2478024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842248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n" sz="1400" b="1" dirty="0">
                <a:solidFill>
                  <a:srgbClr val="C8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xmlns:a="http://schemas.openxmlformats.org/drawingml/2006/main"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424928" y="3154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xmlns:a="http://schemas.openxmlformats.org/drawingml/2006/main"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424928" y="358444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lnSpc>
                <a:spcPts val="1300"/>
              </a:lnSpc>
              <a:buNone/>
            </a:pPr>
            <a:r xmlns:a="http://schemas.openxmlformats.org/drawingml/2006/main">
              <a:rPr lang="e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gap vs</a:t>
            </a:r>
            <a:endParaRPr xmlns:a="http://schemas.openxmlformats.org/drawingml/2006/main" lang="en-US" sz="1000" dirty="0"/>
          </a:p>
          <a:p>
            <a:pPr xmlns:a="http://schemas.openxmlformats.org/drawingml/2006/main" algn="ctr" indent="0" marL="0">
              <a:lnSpc>
                <a:spcPts val="1300"/>
              </a:lnSpc>
              <a:buNone/>
            </a:pPr>
            <a:r xmlns:a="http://schemas.openxmlformats.org/drawingml/2006/main">
              <a:rPr lang="e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(%, L)</a:t>
            </a:r>
            <a:endParaRPr xmlns:a="http://schemas.openxmlformats.org/drawingml/2006/main"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9299448" y="29718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000" b="1" dirty="0">
                <a:solidFill>
                  <a:srgbClr val="C8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xmlns:a="http://schemas.openxmlformats.org/drawingml/2006/main"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9555480" y="210312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33" name="Shape 27"/>
          <p:cNvSpPr/>
          <p:nvPr/>
        </p:nvSpPr>
        <p:spPr>
          <a:xfrm>
            <a:off x="10218420" y="23591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Lu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7292" y="2478024"/>
            <a:ext cx="402336" cy="40233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106424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n" sz="1400" b="1" dirty="0">
                <a:solidFill>
                  <a:srgbClr val="C8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xmlns:a="http://schemas.openxmlformats.org/drawingml/2006/main"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9646920" y="31546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API</a:t>
            </a:r>
            <a:endParaRPr xmlns:a="http://schemas.openxmlformats.org/drawingml/2006/main"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646920" y="358444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lnSpc>
                <a:spcPts val="1300"/>
              </a:lnSpc>
              <a:buNone/>
            </a:pPr>
            <a:r xmlns:a="http://schemas.openxmlformats.org/drawingml/2006/main">
              <a:rPr lang="e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endpoint</a:t>
            </a:r>
            <a:endParaRPr xmlns:a="http://schemas.openxmlformats.org/drawingml/2006/main" lang="en-US" sz="1000" dirty="0"/>
          </a:p>
          <a:p>
            <a:pPr xmlns:a="http://schemas.openxmlformats.org/drawingml/2006/main" algn="ctr" indent="0" marL="0">
              <a:lnSpc>
                <a:spcPts val="1300"/>
              </a:lnSpc>
              <a:buNone/>
            </a:pPr>
            <a:r xmlns:a="http://schemas.openxmlformats.org/drawingml/2006/main">
              <a:rPr lang="en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JSON</a:t>
            </a:r>
            <a:endParaRPr xmlns:a="http://schemas.openxmlformats.org/drawingml/2006/main"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(synchronous) or scheduled (APScheduler / Celery) calculation, depending on the volume of data in production.</a:t>
            </a:r>
            <a:endParaRPr xmlns:a="http://schemas.openxmlformats.org/drawingml/2006/main" lang="en-US" sz="1250" dirty="0"/>
          </a:p>
        </p:txBody>
      </p:sp>
      <p:pic>
        <p:nvPicPr>
          <p:cNvPr id="39" name="Image 5" descr="bit_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6473952"/>
            <a:ext cx="384048" cy="224028"/>
          </a:xfrm>
          <a:prstGeom prst="rect">
            <a:avLst/>
          </a:prstGeom>
        </p:spPr>
      </p:pic>
      <p:pic>
        <p:nvPicPr>
          <p:cNvPr id="40" name="Image 6" descr="infineon_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6492240"/>
            <a:ext cx="566928" cy="24688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5544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Infineon/BIT Excellence Program 2026</a:t>
            </a:r>
            <a:endParaRPr xmlns:a="http://schemas.openxmlformats.org/drawingml/2006/main"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9601200" y="6473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n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06/10</a:t>
            </a:r>
            <a:endParaRPr xmlns:a="http://schemas.openxmlformats.org/drawingml/2006/main"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00" b="1" spc="200" kern="0" dirty="0">
                <a:solidFill>
                  <a:srgbClr val="C8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xmlns:a="http://schemas.openxmlformats.org/drawingml/2006/main"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577840" cy="3291840"/>
        </p:xfrm>
        <a:graphic>
          <a:graphicData uri="http://schemas.openxmlformats.org/drawingml/2006/table">
            <a:tbl>
              <a:tblPr/>
              <a:tblGrid>
                <a:gridCol w="2103120"/>
                <a:gridCol w="3474720"/>
              </a:tblGrid>
              <a:tr h="548640">
                <a:tc>
                  <a:txBody>
                    <a:bodyPr/>
                    <a:lstStyle/>
                    <a:p>
                      <a:pPr xmlns:a="http://schemas.openxmlformats.org/drawingml/2006/main" indent="0" marL="0">
                        <a:buNone/>
                      </a:pPr>
                      <a:r xmlns:a="http://schemas.openxmlformats.org/drawingml/2006/main">
                        <a:rPr lang="en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xmlns:a="http://schemas.openxmlformats.org/drawingml/2006/main"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indent="0" marL="0">
                        <a:buNone/>
                      </a:pPr>
                      <a:r xmlns:a="http://schemas.openxmlformats.org/drawingml/2006/main">
                        <a:rPr lang="en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fields</a:t>
                      </a:r>
                      <a:endParaRPr xmlns:a="http://schemas.openxmlformats.org/drawingml/2006/main"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xmlns:a="http://schemas.openxmlformats.org/drawingml/2006/main" indent="0" marL="0">
                        <a:buNone/>
                      </a:pPr>
                      <a:r xmlns:a="http://schemas.openxmlformats.org/drawingml/2006/main">
                        <a:rPr lang="en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WaterConsumption</a:t>
                      </a:r>
                      <a:endParaRPr xmlns:a="http://schemas.openxmlformats.org/drawingml/2006/main"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indent="0" marL="0">
                        <a:buNone/>
                      </a:pPr>
                      <a:r xmlns:a="http://schemas.openxmlformats.org/drawingml/2006/main">
                        <a:rPr lang="en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volume, source, area, irrigation link</a:t>
                      </a:r>
                      <a:endParaRPr xmlns:a="http://schemas.openxmlformats.org/drawingml/2006/main"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xmlns:a="http://schemas.openxmlformats.org/drawingml/2006/main" indent="0" marL="0">
                        <a:buNone/>
                      </a:pPr>
                      <a:r xmlns:a="http://schemas.openxmlformats.org/drawingml/2006/main">
                        <a:rPr lang="en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WaterSource</a:t>
                      </a:r>
                      <a:endParaRPr xmlns:a="http://schemas.openxmlformats.org/drawingml/2006/main"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indent="0" marL="0">
                        <a:buNone/>
                      </a:pPr>
                      <a:r xmlns:a="http://schemas.openxmlformats.org/drawingml/2006/main">
                        <a:rPr lang="en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type, capacity, current level</a:t>
                      </a:r>
                      <a:endParaRPr xmlns:a="http://schemas.openxmlformats.org/drawingml/2006/main"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xmlns:a="http://schemas.openxmlformats.org/drawingml/2006/main" indent="0" marL="0">
                        <a:buNone/>
                      </a:pPr>
                      <a:r xmlns:a="http://schemas.openxmlformats.org/drawingml/2006/main">
                        <a:rPr lang="en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Irrigation Schedule</a:t>
                      </a:r>
                      <a:endParaRPr xmlns:a="http://schemas.openxmlformats.org/drawingml/2006/main"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indent="0" marL="0">
                        <a:buNone/>
                      </a:pPr>
                      <a:r xmlns:a="http://schemas.openxmlformats.org/drawingml/2006/main">
                        <a:rPr lang="en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time, duration, status</a:t>
                      </a:r>
                      <a:endParaRPr xmlns:a="http://schemas.openxmlformats.org/drawingml/2006/main"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xmlns:a="http://schemas.openxmlformats.org/drawingml/2006/main" indent="0" marL="0">
                        <a:buNone/>
                      </a:pPr>
                      <a:r xmlns:a="http://schemas.openxmlformats.org/drawingml/2006/main">
                        <a:rPr lang="en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Rainwater Harvest</a:t>
                      </a:r>
                      <a:endParaRPr xmlns:a="http://schemas.openxmlformats.org/drawingml/2006/main"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indent="0" marL="0">
                        <a:buNone/>
                      </a:pPr>
                      <a:r xmlns:a="http://schemas.openxmlformats.org/drawingml/2006/main">
                        <a:rPr lang="en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captured, date</a:t>
                      </a:r>
                      <a:endParaRPr xmlns:a="http://schemas.openxmlformats.org/drawingml/2006/main"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xmlns:a="http://schemas.openxmlformats.org/drawingml/2006/main" indent="0" marL="0">
                        <a:buNone/>
                      </a:pPr>
                      <a:r xmlns:a="http://schemas.openxmlformats.org/drawingml/2006/main">
                        <a:rPr lang="en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WaterQualityTest</a:t>
                      </a:r>
                      <a:endParaRPr xmlns:a="http://schemas.openxmlformats.org/drawingml/2006/main"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indent="0" marL="0">
                        <a:buNone/>
                      </a:pPr>
                      <a:r xmlns:a="http://schemas.openxmlformats.org/drawingml/2006/main">
                        <a:rPr lang="en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pH, turbidity, source</a:t>
                      </a:r>
                      <a:endParaRPr xmlns:a="http://schemas.openxmlformats.org/drawingml/2006/main"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92240" y="1600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mobilized by the KPI</a:t>
            </a:r>
            <a:endParaRPr xmlns:a="http://schemas.openxmlformats.org/drawingml/2006/main"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92240" y="2103120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/>
          <p:nvPr/>
        </p:nvSpPr>
        <p:spPr>
          <a:xfrm>
            <a:off x="6675120" y="21579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WaterConsumption → IrrigationSchedule</a:t>
            </a:r>
            <a:endParaRPr xmlns:a="http://schemas.openxmlformats.org/drawingml/2006/main"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75120" y="24505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consumption related to irrigation from other uses</a:t>
            </a:r>
            <a:endParaRPr xmlns:a="http://schemas.openxmlformats.org/drawingml/2006/main"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92240" y="2953512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300837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WaterConsumption → WaterSource</a:t>
            </a:r>
            <a:endParaRPr xmlns:a="http://schemas.openxmlformats.org/drawingml/2006/main"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75120" y="330098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consumption by source type</a:t>
            </a:r>
            <a:endParaRPr xmlns:a="http://schemas.openxmlformats.org/drawingml/2006/main"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92240" y="3803904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0" y="38587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RainwaterHarvest → WaterSource</a:t>
            </a:r>
            <a:endParaRPr xmlns:a="http://schemas.openxmlformats.org/drawingml/2006/main"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75120" y="415137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current level of the rainwater tanks</a:t>
            </a:r>
            <a:endParaRPr xmlns:a="http://schemas.openxmlformats.org/drawingml/2006/main"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92240" y="4654296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4F6FB"/>
          </a:solidFill>
          <a:ln/>
        </p:spPr>
      </p:sp>
      <p:sp>
        <p:nvSpPr>
          <p:cNvPr id="16" name="Text 13"/>
          <p:cNvSpPr/>
          <p:nvPr/>
        </p:nvSpPr>
        <p:spPr>
          <a:xfrm>
            <a:off x="6675120" y="47091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WaterQualityTest → WaterSource</a:t>
            </a:r>
            <a:endParaRPr xmlns:a="http://schemas.openxmlformats.org/drawingml/2006/main"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75120" y="50017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conformity of the water used</a:t>
            </a:r>
            <a:endParaRPr xmlns:a="http://schemas.openxmlformats.org/drawingml/2006/main" lang="en-US" sz="950" dirty="0"/>
          </a:p>
        </p:txBody>
      </p:sp>
      <p:pic>
        <p:nvPicPr>
          <p:cNvPr id="18" name="Image 0" descr="b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384048" cy="224028"/>
          </a:xfrm>
          <a:prstGeom prst="rect">
            <a:avLst/>
          </a:prstGeom>
        </p:spPr>
      </p:pic>
      <p:pic>
        <p:nvPicPr>
          <p:cNvPr id="19" name="Image 1" descr="infineon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492240"/>
            <a:ext cx="56692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Infineon/BIT Excellence Program 2026</a:t>
            </a:r>
            <a:endParaRPr xmlns:a="http://schemas.openxmlformats.org/drawingml/2006/main"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9601200" y="6473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n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07/10</a:t>
            </a:r>
            <a:endParaRPr xmlns:a="http://schemas.openxmlformats.org/drawingml/2006/main"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00" b="1" spc="200" kern="0" dirty="0">
                <a:solidFill>
                  <a:srgbClr val="C8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SERVICE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constraints</a:t>
            </a:r>
            <a:endParaRPr xmlns:a="http://schemas.openxmlformats.org/drawingml/2006/main"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Lu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9293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6888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xmlns:a="http://schemas.openxmlformats.org/drawingml/2006/main"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lnSpc>
                <a:spcPts val="1300"/>
              </a:lnSpc>
              <a:buNone/>
            </a:pPr>
            <a:r xmlns:a="http://schemas.openxmlformats.org/drawingml/2006/main">
              <a:rPr lang="en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&lt; 500ms, including over extended periods (via cache).</a:t>
            </a:r>
            <a:endParaRPr xmlns:a="http://schemas.openxmlformats.org/drawingml/2006/main"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16552" y="16002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4645152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LuShield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19293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2584" y="246888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xmlns:a="http://schemas.openxmlformats.org/drawingml/2006/main"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72584" y="2834640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lnSpc>
                <a:spcPts val="1300"/>
              </a:lnSpc>
              <a:buNone/>
            </a:pPr>
            <a:r xmlns:a="http://schemas.openxmlformats.org/drawingml/2006/main">
              <a:rPr lang="en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result + completeness indicator rather than blocking error.</a:t>
            </a:r>
            <a:endParaRPr xmlns:a="http://schemas.openxmlformats.org/drawingml/2006/main"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84464" y="16002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513064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Lu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92938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0496" y="246888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xmlns:a="http://schemas.openxmlformats.org/drawingml/2006/main"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540496" y="2834640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lnSpc>
                <a:spcPts val="1300"/>
              </a:lnSpc>
              <a:buNone/>
            </a:pPr>
            <a:r xmlns:a="http://schemas.openxmlformats.org/drawingml/2006/main">
              <a:rPr lang="en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filters (zone, period, source) applied to all endpoints.</a:t>
            </a:r>
            <a:endParaRPr xmlns:a="http://schemas.openxmlformats.org/drawingml/2006/main"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LuNetwo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12394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6344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xmlns:a="http://schemas.openxmlformats.org/drawingml/2006/main"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lnSpc>
                <a:spcPts val="1300"/>
              </a:lnSpc>
              <a:buNone/>
            </a:pPr>
            <a:r xmlns:a="http://schemas.openxmlformats.org/drawingml/2006/main">
              <a:rPr lang="en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alerts on any abnormal variation of the KPI.</a:t>
            </a:r>
            <a:endParaRPr xmlns:a="http://schemas.openxmlformats.org/drawingml/2006/main"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16552" y="37947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25" name="Shape 19"/>
          <p:cNvSpPr/>
          <p:nvPr/>
        </p:nvSpPr>
        <p:spPr>
          <a:xfrm>
            <a:off x="4645152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LuClipboard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412394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72584" y="466344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xmlns:a="http://schemas.openxmlformats.org/drawingml/2006/main"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72584" y="5029200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lnSpc>
                <a:spcPts val="1300"/>
              </a:lnSpc>
              <a:buNone/>
            </a:pPr>
            <a:r xmlns:a="http://schemas.openxmlformats.org/drawingml/2006/main">
              <a:rPr lang="en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 on write endpoints.</a:t>
            </a:r>
            <a:endParaRPr xmlns:a="http://schemas.openxmlformats.org/drawingml/2006/main"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84464" y="37947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</p:spPr>
      </p:sp>
      <p:sp>
        <p:nvSpPr>
          <p:cNvPr id="30" name="Shape 23"/>
          <p:cNvSpPr/>
          <p:nvPr/>
        </p:nvSpPr>
        <p:spPr>
          <a:xfrm>
            <a:off x="8513064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LuWork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412394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40496" y="466344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xmlns:a="http://schemas.openxmlformats.org/drawingml/2006/main"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540496" y="5029200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lnSpc>
                <a:spcPts val="1300"/>
              </a:lnSpc>
              <a:buNone/>
            </a:pPr>
            <a:r xmlns:a="http://schemas.openxmlformats.org/drawingml/2006/main">
              <a:rPr lang="en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queries and reconstructions of results are documented.</a:t>
            </a:r>
            <a:endParaRPr xmlns:a="http://schemas.openxmlformats.org/drawingml/2006/main" lang="en-US" sz="1050" dirty="0"/>
          </a:p>
        </p:txBody>
      </p:sp>
      <p:pic>
        <p:nvPicPr>
          <p:cNvPr id="34" name="Image 6" descr="bit_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6473952"/>
            <a:ext cx="384048" cy="224028"/>
          </a:xfrm>
          <a:prstGeom prst="rect">
            <a:avLst/>
          </a:prstGeom>
        </p:spPr>
      </p:pic>
      <p:pic>
        <p:nvPicPr>
          <p:cNvPr id="35" name="Image 7" descr="infineon_log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6492240"/>
            <a:ext cx="566928" cy="24688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5544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Infineon/BIT Excellence Program 2026</a:t>
            </a:r>
            <a:endParaRPr xmlns:a="http://schemas.openxmlformats.org/drawingml/2006/main"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9601200" y="6473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n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08/10</a:t>
            </a:r>
            <a:endParaRPr xmlns:a="http://schemas.openxmlformats.org/drawingml/2006/main"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00" b="1" spc="200" kern="0" dirty="0">
                <a:solidFill>
                  <a:srgbClr val="C8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 and perspectives</a:t>
            </a:r>
            <a:endParaRPr xmlns:a="http://schemas.openxmlformats.org/drawingml/2006/main"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xmlns:a="http://schemas.openxmlformats.org/drawingml/2006/main"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model</a:t>
            </a:r>
            <a:endParaRPr xmlns:a="http://schemas.openxmlformats.org/drawingml/2006/main"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is not properly calibrated by zone/season would bias all the results displayed, including modules that rely on the KPI.</a:t>
            </a:r>
            <a:endParaRPr xmlns:a="http://schemas.openxmlformats.org/drawingml/2006/main"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011680"/>
            <a:ext cx="457200" cy="457200"/>
          </a:xfrm>
          <a:prstGeom prst="ellipse">
            <a:avLst/>
          </a:prstGeom>
          <a:solidFill>
            <a:srgbClr val="C8365D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xmlns:a="http://schemas.openxmlformats.org/drawingml/2006/main"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vs batch</a:t>
            </a:r>
            <a:endParaRPr xmlns:a="http://schemas.openxmlformats.org/drawingml/2006/main"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1546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systematically synchronous calculation might no longer meet the 500ms constraint as the history lengthens.</a:t>
            </a:r>
            <a:endParaRPr xmlns:a="http://schemas.openxmlformats.org/drawingml/2006/main"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xmlns:a="http://schemas.openxmlformats.org/drawingml/2006/main"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xmlns:a="http://schemas.openxmlformats.org/drawingml/2006/main"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31546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basic tolerance, a statistical imputation of missing values would be relevant in the next iteration.</a:t>
            </a:r>
            <a:endParaRPr xmlns:a="http://schemas.openxmlformats.org/drawingml/2006/main" lang="en-US" sz="1200" dirty="0"/>
          </a:p>
        </p:txBody>
      </p:sp>
      <p:pic>
        <p:nvPicPr>
          <p:cNvPr id="19" name="Image 0" descr="b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384048" cy="224028"/>
          </a:xfrm>
          <a:prstGeom prst="rect">
            <a:avLst/>
          </a:prstGeom>
        </p:spPr>
      </p:pic>
      <p:pic>
        <p:nvPicPr>
          <p:cNvPr id="20" name="Image 1" descr="infineon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492240"/>
            <a:ext cx="566928" cy="2468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5544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Infineon/BIT Excellence Program 2026</a:t>
            </a:r>
            <a:endParaRPr xmlns:a="http://schemas.openxmlformats.org/drawingml/2006/main"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9601200" y="6473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n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</a:t>
            </a:r>
            <a:endParaRPr xmlns:a="http://schemas.openxmlformats.org/drawingml/2006/main"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00" b="1" spc="200" kern="0" dirty="0">
                <a:solidFill>
                  <a:srgbClr val="C8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xmlns:a="http://schemas.openxmlformats.org/drawingml/2006/main"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lnSpc>
                <a:spcPts val="3800"/>
              </a:lnSpc>
              <a:buNone/>
            </a:pPr>
            <a:r xmlns:a="http://schemas.openxmlformats.org/drawingml/2006/main">
              <a:rPr lang="en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KPI that serves as proof,</a:t>
            </a:r>
            <a:endParaRPr xmlns:a="http://schemas.openxmlformats.org/drawingml/2006/main" lang="en-US" sz="3200" dirty="0"/>
          </a:p>
          <a:p>
            <a:pPr xmlns:a="http://schemas.openxmlformats.org/drawingml/2006/main" indent="0" marL="0">
              <a:lnSpc>
                <a:spcPts val="3800"/>
              </a:lnSpc>
              <a:buNone/>
            </a:pPr>
            <a:r xmlns:a="http://schemas.openxmlformats.org/drawingml/2006/main">
              <a:rPr lang="en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 simple display.</a:t>
            </a:r>
            <a:endParaRPr xmlns:a="http://schemas.openxmlformats.org/drawingml/2006/main"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indent="0" marL="0">
              <a:lnSpc>
                <a:spcPts val="2200"/>
              </a:lnSpc>
              <a:buNone/>
            </a:pPr>
            <a:r xmlns:a="http://schemas.openxmlformats.org/drawingml/2006/main">
              <a:rPr lang="en" sz="1450" dirty="0">
                <a:solidFill>
                  <a:srgbClr val="C7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"water saved" KPI is a fully integrated architectural component: its reliability depends on the entire backend pipeline, from the collection of raw data to its presentation as a single indicator. This document serves as the reference basis for the system's implementation.</a:t>
            </a:r>
            <a:endParaRPr xmlns:a="http://schemas.openxmlformats.org/drawingml/2006/main"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65760" y="6428232"/>
            <a:ext cx="11430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pic>
        <p:nvPicPr>
          <p:cNvPr id="7" name="Image 0" descr="b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73952"/>
            <a:ext cx="384048" cy="224028"/>
          </a:xfrm>
          <a:prstGeom prst="rect">
            <a:avLst/>
          </a:prstGeom>
        </p:spPr>
      </p:pic>
      <p:pic>
        <p:nvPicPr>
          <p:cNvPr id="8" name="Image 1" descr="infineon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492240"/>
            <a:ext cx="566928" cy="2468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Infineon/BIT Excellence Program 2026</a:t>
            </a:r>
            <a:endParaRPr xmlns:a="http://schemas.openxmlformats.org/drawingml/2006/main"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9601200" y="6473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n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xmlns:a="http://schemas.openxmlformats.org/drawingml/2006/main"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2026-08-06T22:08:28Z</dcterms:created>
  <dcterms:modified xsi:type="dcterms:W3CDTF">2026-08-06T22:08:28Z</dcterms:modified>
</cp:coreProperties>
</file>