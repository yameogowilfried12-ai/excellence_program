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6256000" cy="9144000"/>
  <p:notesSz cx="9144000" cy="16256000"/>
  <p:embeddedFontLst>
    <p:embeddedFont>
      <p:font typeface="Inter" charset="-122" pitchFamily="34"/>
      <p:regular r:id="rId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ver_accent"/>
          <p:cNvSpPr/>
          <p:nvPr/>
        </p:nvSpPr>
        <p:spPr>
          <a:xfrm>
            <a:off x="1143000" y="2209800"/>
            <a:ext cx="1714500" cy="50800"/>
          </a:xfrm>
          <a:prstGeom prst="rect">
            <a:avLst/>
          </a:prstGeom>
          <a:solidFill>
            <a:srgbClr val="8B2635"/>
          </a:solidFill>
          <a:ln/>
        </p:spPr>
      </p:sp>
      <p:sp>
        <p:nvSpPr>
          <p:cNvPr id="3" name="cover_kicker"/>
          <p:cNvSpPr/>
          <p:nvPr/>
        </p:nvSpPr>
        <p:spPr>
          <a:xfrm>
            <a:off x="1143000" y="14224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600" dirty="0">
                <a:solidFill>
                  <a:srgbClr val="8B26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EXCELLENCE PROGRAM 2026  /  SECURITY &amp; FENCING</a:t>
            </a:r>
            <a:endParaRPr lang="en-US" sz="1600" dirty="0"/>
          </a:p>
        </p:txBody>
      </p:sp>
      <p:sp>
        <p:nvSpPr>
          <p:cNvPr id="4" name="cover_title"/>
          <p:cNvSpPr/>
          <p:nvPr/>
        </p:nvSpPr>
        <p:spPr>
          <a:xfrm>
            <a:off x="1143000" y="2603500"/>
            <a:ext cx="12192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altLang="en-US" sz="52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 6</a:t>
            </a:r>
            <a:endParaRPr lang="en-US" sz="5200" dirty="0"/>
          </a:p>
        </p:txBody>
      </p:sp>
      <p:sp>
        <p:nvSpPr>
          <p:cNvPr id="5" name="cover_subtitle"/>
          <p:cNvSpPr/>
          <p:nvPr/>
        </p:nvSpPr>
        <p:spPr>
          <a:xfrm>
            <a:off x="1143000" y="4013200"/>
            <a:ext cx="12446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altLang="en-US" sz="3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Physical Design &amp; Final Specification</a:t>
            </a:r>
            <a:endParaRPr lang="en-US" sz="3400" dirty="0"/>
          </a:p>
        </p:txBody>
      </p:sp>
      <p:sp>
        <p:nvSpPr>
          <p:cNvPr id="6" name="cover_project"/>
          <p:cNvSpPr/>
          <p:nvPr/>
        </p:nvSpPr>
        <p:spPr>
          <a:xfrm>
            <a:off x="1143000" y="4889500"/>
            <a:ext cx="9144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2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Farm Security &amp; Fencing System</a:t>
            </a:r>
            <a:endParaRPr lang="en-US" sz="2200" dirty="0"/>
          </a:p>
        </p:txBody>
      </p:sp>
      <p:sp>
        <p:nvSpPr>
          <p:cNvPr id="7" name="cover_meta"/>
          <p:cNvSpPr/>
          <p:nvPr/>
        </p:nvSpPr>
        <p:spPr>
          <a:xfrm>
            <a:off x="1143000" y="5461000"/>
            <a:ext cx="9144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altLang="en-US" sz="16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Author: Tania ZABRE</a:t>
            </a:r>
            <a:endParaRPr lang="en-US" sz="1600" dirty="0"/>
          </a:p>
          <a:p>
            <a:pPr algn="l" indent="0" marL="0">
              <a:lnSpc>
                <a:spcPts val="2160"/>
              </a:lnSpc>
              <a:buNone/>
            </a:pPr>
            <a:r>
              <a:rPr lang="en-US" altLang="en-US" sz="16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Generated: 27 August 2026</a:t>
            </a:r>
            <a:endParaRPr lang="en-US" sz="1600" dirty="0"/>
          </a:p>
        </p:txBody>
      </p:sp>
      <p:sp>
        <p:nvSpPr>
          <p:cNvPr id="8" name="cover_status_box"/>
          <p:cNvSpPr/>
          <p:nvPr/>
        </p:nvSpPr>
        <p:spPr>
          <a:xfrm>
            <a:off x="1143000" y="6921500"/>
            <a:ext cx="11811000" cy="660400"/>
          </a:xfrm>
          <a:prstGeom prst="rect">
            <a:avLst/>
          </a:prstGeom>
          <a:solidFill>
            <a:srgbClr val="F4F5F7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cover_status"/>
          <p:cNvSpPr/>
          <p:nvPr/>
        </p:nvSpPr>
        <p:spPr>
          <a:xfrm>
            <a:off x="1397000" y="7073900"/>
            <a:ext cx="11303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PRELIMINARY DESIGN BASELINE  ·  Subject to site assessment, engineering review, and operational validation.</a:t>
            </a:r>
            <a:endParaRPr lang="en-US" sz="1500" dirty="0"/>
          </a:p>
        </p:txBody>
      </p:sp>
      <p:sp>
        <p:nvSpPr>
          <p:cNvPr id="10" name="cover_footer_rule"/>
          <p:cNvSpPr/>
          <p:nvPr/>
        </p:nvSpPr>
        <p:spPr>
          <a:xfrm>
            <a:off x="12674600" y="8686800"/>
            <a:ext cx="12700" cy="2286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1" name="cover_footer"/>
          <p:cNvSpPr/>
          <p:nvPr/>
        </p:nvSpPr>
        <p:spPr>
          <a:xfrm>
            <a:off x="12827000" y="8686800"/>
            <a:ext cx="2794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altLang="en-US" sz="12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27 AUG 2026  ·  01 / 12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inuity_title"/>
          <p:cNvSpPr/>
          <p:nvPr/>
        </p:nvSpPr>
        <p:spPr>
          <a:xfrm>
            <a:off x="762000" y="685800"/>
            <a:ext cx="9652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2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Week 6 fits</a:t>
            </a:r>
            <a:endParaRPr lang="en-US" sz="3200" dirty="0"/>
          </a:p>
        </p:txBody>
      </p:sp>
      <p:sp>
        <p:nvSpPr>
          <p:cNvPr id="3" name="continuity_kicker"/>
          <p:cNvSpPr/>
          <p:nvPr/>
        </p:nvSpPr>
        <p:spPr>
          <a:xfrm>
            <a:off x="762000" y="1320800"/>
            <a:ext cx="14224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9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Physical design is the next translation step — not a restart of Weeks 3–5.</a:t>
            </a:r>
            <a:endParaRPr lang="en-US" sz="1900" dirty="0"/>
          </a:p>
        </p:txBody>
      </p:sp>
      <p:sp>
        <p:nvSpPr>
          <p:cNvPr id="4" name="cont_line_1"/>
          <p:cNvSpPr/>
          <p:nvPr/>
        </p:nvSpPr>
        <p:spPr>
          <a:xfrm>
            <a:off x="3937000" y="3657600"/>
            <a:ext cx="444500" cy="9144"/>
          </a:xfrm>
          <a:prstGeom prst="line">
            <a:avLst/>
          </a:prstGeom>
          <a:ln w="38100">
            <a:solidFill>
              <a:srgbClr val="8B2635"/>
            </a:solidFill>
            <a:prstDash val="solid"/>
            <a:tailEnd type="triangle"/>
          </a:ln>
        </p:spPr>
      </p:sp>
      <p:sp>
        <p:nvSpPr>
          <p:cNvPr id="5" name="cont_line_2"/>
          <p:cNvSpPr/>
          <p:nvPr/>
        </p:nvSpPr>
        <p:spPr>
          <a:xfrm>
            <a:off x="7683500" y="3657600"/>
            <a:ext cx="444500" cy="9144"/>
          </a:xfrm>
          <a:prstGeom prst="line">
            <a:avLst/>
          </a:prstGeom>
          <a:ln w="38100">
            <a:solidFill>
              <a:srgbClr val="8B2635"/>
            </a:solidFill>
            <a:prstDash val="solid"/>
            <a:tailEnd type="triangle"/>
          </a:ln>
        </p:spPr>
      </p:sp>
      <p:sp>
        <p:nvSpPr>
          <p:cNvPr id="6" name="cont_line_3"/>
          <p:cNvSpPr/>
          <p:nvPr/>
        </p:nvSpPr>
        <p:spPr>
          <a:xfrm>
            <a:off x="11430000" y="3657600"/>
            <a:ext cx="444500" cy="9144"/>
          </a:xfrm>
          <a:prstGeom prst="line">
            <a:avLst/>
          </a:prstGeom>
          <a:ln w="38100">
            <a:solidFill>
              <a:srgbClr val="8B2635"/>
            </a:solidFill>
            <a:prstDash val="solid"/>
            <a:tailEnd type="triangle"/>
          </a:ln>
        </p:spPr>
      </p:sp>
      <p:sp>
        <p:nvSpPr>
          <p:cNvPr id="7" name="cont_block_1"/>
          <p:cNvSpPr/>
          <p:nvPr/>
        </p:nvSpPr>
        <p:spPr>
          <a:xfrm>
            <a:off x="762000" y="2286000"/>
            <a:ext cx="3175000" cy="2794000"/>
          </a:xfrm>
          <a:prstGeom prst="rect">
            <a:avLst/>
          </a:prstGeom>
          <a:solidFill>
            <a:srgbClr val="F4F5F7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cont_block_2"/>
          <p:cNvSpPr/>
          <p:nvPr/>
        </p:nvSpPr>
        <p:spPr>
          <a:xfrm>
            <a:off x="4508500" y="2286000"/>
            <a:ext cx="3175000" cy="2794000"/>
          </a:xfrm>
          <a:prstGeom prst="rect">
            <a:avLst/>
          </a:prstGeom>
          <a:solidFill>
            <a:srgbClr val="F4F5F7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cont_block_3"/>
          <p:cNvSpPr/>
          <p:nvPr/>
        </p:nvSpPr>
        <p:spPr>
          <a:xfrm>
            <a:off x="8255000" y="2286000"/>
            <a:ext cx="3175000" cy="2794000"/>
          </a:xfrm>
          <a:prstGeom prst="rect">
            <a:avLst/>
          </a:prstGeom>
          <a:solidFill>
            <a:srgbClr val="F4F5F7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cont_block_4"/>
          <p:cNvSpPr/>
          <p:nvPr/>
        </p:nvSpPr>
        <p:spPr>
          <a:xfrm>
            <a:off x="12001500" y="2286000"/>
            <a:ext cx="3175000" cy="2794000"/>
          </a:xfrm>
          <a:prstGeom prst="rect">
            <a:avLst/>
          </a:prstGeom>
          <a:solidFill>
            <a:srgbClr val="F7EEF1"/>
          </a:solidFill>
          <a:ln w="25400">
            <a:solidFill>
              <a:srgbClr val="8B2635"/>
            </a:solidFill>
            <a:prstDash val="solid"/>
          </a:ln>
        </p:spPr>
      </p:sp>
      <p:sp>
        <p:nvSpPr>
          <p:cNvPr id="11" name="cont_num_1"/>
          <p:cNvSpPr/>
          <p:nvPr/>
        </p:nvSpPr>
        <p:spPr>
          <a:xfrm>
            <a:off x="1041400" y="2565400"/>
            <a:ext cx="508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2800" dirty="0">
                <a:solidFill>
                  <a:srgbClr val="8B26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2800" dirty="0"/>
          </a:p>
        </p:txBody>
      </p:sp>
      <p:sp>
        <p:nvSpPr>
          <p:cNvPr id="12" name="cont_num_2"/>
          <p:cNvSpPr/>
          <p:nvPr/>
        </p:nvSpPr>
        <p:spPr>
          <a:xfrm>
            <a:off x="4787900" y="2565400"/>
            <a:ext cx="508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2800" dirty="0">
                <a:solidFill>
                  <a:srgbClr val="8B26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2800" dirty="0"/>
          </a:p>
        </p:txBody>
      </p:sp>
      <p:sp>
        <p:nvSpPr>
          <p:cNvPr id="13" name="cont_num_3"/>
          <p:cNvSpPr/>
          <p:nvPr/>
        </p:nvSpPr>
        <p:spPr>
          <a:xfrm>
            <a:off x="8534400" y="2565400"/>
            <a:ext cx="508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2800" dirty="0">
                <a:solidFill>
                  <a:srgbClr val="8B26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2800" dirty="0"/>
          </a:p>
        </p:txBody>
      </p:sp>
      <p:sp>
        <p:nvSpPr>
          <p:cNvPr id="14" name="cont_num_4"/>
          <p:cNvSpPr/>
          <p:nvPr/>
        </p:nvSpPr>
        <p:spPr>
          <a:xfrm>
            <a:off x="12280900" y="2565400"/>
            <a:ext cx="508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2800" dirty="0">
                <a:solidFill>
                  <a:srgbClr val="8B26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2800" dirty="0"/>
          </a:p>
        </p:txBody>
      </p:sp>
      <p:sp>
        <p:nvSpPr>
          <p:cNvPr id="15" name="cont_t1"/>
          <p:cNvSpPr/>
          <p:nvPr/>
        </p:nvSpPr>
        <p:spPr>
          <a:xfrm>
            <a:off x="1041400" y="3225800"/>
            <a:ext cx="26035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altLang="en-US" sz="21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 &amp; Asset Analysis</a:t>
            </a:r>
            <a:endParaRPr lang="en-US" sz="2100" dirty="0"/>
          </a:p>
        </p:txBody>
      </p:sp>
      <p:sp>
        <p:nvSpPr>
          <p:cNvPr id="16" name="cont_t2"/>
          <p:cNvSpPr/>
          <p:nvPr/>
        </p:nvSpPr>
        <p:spPr>
          <a:xfrm>
            <a:off x="4787900" y="3225800"/>
            <a:ext cx="26035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altLang="en-US" sz="21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Security Zoning</a:t>
            </a:r>
            <a:endParaRPr lang="en-US" sz="2100" dirty="0"/>
          </a:p>
        </p:txBody>
      </p:sp>
      <p:sp>
        <p:nvSpPr>
          <p:cNvPr id="17" name="cont_t3"/>
          <p:cNvSpPr/>
          <p:nvPr/>
        </p:nvSpPr>
        <p:spPr>
          <a:xfrm>
            <a:off x="8534400" y="3225800"/>
            <a:ext cx="26035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altLang="en-US" sz="21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Access Control</a:t>
            </a:r>
            <a:endParaRPr lang="en-US" sz="2100" dirty="0"/>
          </a:p>
        </p:txBody>
      </p:sp>
      <p:sp>
        <p:nvSpPr>
          <p:cNvPr id="18" name="cont_t4"/>
          <p:cNvSpPr/>
          <p:nvPr/>
        </p:nvSpPr>
        <p:spPr>
          <a:xfrm>
            <a:off x="12280900" y="3225800"/>
            <a:ext cx="26035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altLang="en-US" sz="2100" dirty="0">
                <a:solidFill>
                  <a:srgbClr val="8B26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Physical Design</a:t>
            </a:r>
            <a:endParaRPr lang="en-US" sz="2100" dirty="0"/>
          </a:p>
        </p:txBody>
      </p:sp>
      <p:sp>
        <p:nvSpPr>
          <p:cNvPr id="19" name="cont_d1"/>
          <p:cNvSpPr/>
          <p:nvPr/>
        </p:nvSpPr>
        <p:spPr>
          <a:xfrm>
            <a:off x="1041400" y="4191000"/>
            <a:ext cx="2603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Identified physical, environmental, and operational risks.</a:t>
            </a:r>
            <a:endParaRPr lang="en-US" sz="1500" dirty="0"/>
          </a:p>
        </p:txBody>
      </p:sp>
      <p:sp>
        <p:nvSpPr>
          <p:cNvPr id="20" name="cont_d2"/>
          <p:cNvSpPr/>
          <p:nvPr/>
        </p:nvSpPr>
        <p:spPr>
          <a:xfrm>
            <a:off x="4787900" y="4191000"/>
            <a:ext cx="2603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Translated risks into four security levels.</a:t>
            </a:r>
            <a:endParaRPr lang="en-US" sz="1500" dirty="0"/>
          </a:p>
        </p:txBody>
      </p:sp>
      <p:sp>
        <p:nvSpPr>
          <p:cNvPr id="21" name="cont_d3"/>
          <p:cNvSpPr/>
          <p:nvPr/>
        </p:nvSpPr>
        <p:spPr>
          <a:xfrm>
            <a:off x="8534400" y="4191000"/>
            <a:ext cx="2603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Defined users, gates, and access requirements.</a:t>
            </a:r>
            <a:endParaRPr lang="en-US" sz="1500" dirty="0"/>
          </a:p>
        </p:txBody>
      </p:sp>
      <p:sp>
        <p:nvSpPr>
          <p:cNvPr id="22" name="cont_d4"/>
          <p:cNvSpPr/>
          <p:nvPr/>
        </p:nvSpPr>
        <p:spPr>
          <a:xfrm>
            <a:off x="12280900" y="4191000"/>
            <a:ext cx="2603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Specifies the preliminary physical baseline.</a:t>
            </a:r>
            <a:endParaRPr lang="en-US" sz="1500" dirty="0"/>
          </a:p>
        </p:txBody>
      </p:sp>
      <p:sp>
        <p:nvSpPr>
          <p:cNvPr id="23" name="cont_ribbon"/>
          <p:cNvSpPr/>
          <p:nvPr/>
        </p:nvSpPr>
        <p:spPr>
          <a:xfrm>
            <a:off x="762000" y="6197600"/>
            <a:ext cx="14732000" cy="9144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cont_ribbon_text"/>
          <p:cNvSpPr/>
          <p:nvPr/>
        </p:nvSpPr>
        <p:spPr>
          <a:xfrm>
            <a:off x="1066800" y="6477000"/>
            <a:ext cx="14097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altLang="en-US" sz="1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  →  Security requirement  →  Zone / access need  →  Physical control  →  Validation  →  Implementation</a:t>
            </a:r>
            <a:endParaRPr lang="en-US" sz="1900" dirty="0"/>
          </a:p>
        </p:txBody>
      </p:sp>
      <p:sp>
        <p:nvSpPr>
          <p:cNvPr id="25" name="cont_footer_rule"/>
          <p:cNvSpPr/>
          <p:nvPr/>
        </p:nvSpPr>
        <p:spPr>
          <a:xfrm>
            <a:off x="12674600" y="8686800"/>
            <a:ext cx="12700" cy="2286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6" name="cont_footer"/>
          <p:cNvSpPr/>
          <p:nvPr/>
        </p:nvSpPr>
        <p:spPr>
          <a:xfrm>
            <a:off x="12827000" y="8686800"/>
            <a:ext cx="2794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altLang="en-US" sz="12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27 AUG 2026  ·  02 / 12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sk_title"/>
          <p:cNvSpPr/>
          <p:nvPr/>
        </p:nvSpPr>
        <p:spPr>
          <a:xfrm>
            <a:off x="762000" y="685800"/>
            <a:ext cx="9906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2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risks are driving the design?</a:t>
            </a:r>
            <a:endParaRPr lang="en-US" sz="3200" dirty="0"/>
          </a:p>
        </p:txBody>
      </p:sp>
      <p:sp>
        <p:nvSpPr>
          <p:cNvPr id="3" name="risk_kicker"/>
          <p:cNvSpPr/>
          <p:nvPr/>
        </p:nvSpPr>
        <p:spPr>
          <a:xfrm>
            <a:off x="762000" y="1320800"/>
            <a:ext cx="14224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9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 6 uses the established risk context as the justification for physical decisions.</a:t>
            </a:r>
            <a:endParaRPr lang="en-US" sz="1900" dirty="0"/>
          </a:p>
        </p:txBody>
      </p:sp>
      <p:sp>
        <p:nvSpPr>
          <p:cNvPr id="4" name="risk_critical"/>
          <p:cNvSpPr/>
          <p:nvPr/>
        </p:nvSpPr>
        <p:spPr>
          <a:xfrm>
            <a:off x="762000" y="2159000"/>
            <a:ext cx="14732000" cy="1422400"/>
          </a:xfrm>
          <a:prstGeom prst="rect">
            <a:avLst/>
          </a:prstGeom>
          <a:solidFill>
            <a:srgbClr val="F7EEF1"/>
          </a:solidFill>
          <a:ln w="25400">
            <a:solidFill>
              <a:srgbClr val="8B2635"/>
            </a:solidFill>
            <a:prstDash val="solid"/>
          </a:ln>
        </p:spPr>
      </p:sp>
      <p:sp>
        <p:nvSpPr>
          <p:cNvPr id="5" name="risk_critical_rail"/>
          <p:cNvSpPr/>
          <p:nvPr/>
        </p:nvSpPr>
        <p:spPr>
          <a:xfrm>
            <a:off x="762000" y="2159000"/>
            <a:ext cx="2413000" cy="1422400"/>
          </a:xfrm>
          <a:prstGeom prst="rect">
            <a:avLst/>
          </a:prstGeom>
          <a:solidFill>
            <a:srgbClr val="8B2635"/>
          </a:solidFill>
          <a:ln/>
        </p:spPr>
      </p:sp>
      <p:sp>
        <p:nvSpPr>
          <p:cNvPr id="6" name="risk_critical_label"/>
          <p:cNvSpPr/>
          <p:nvPr/>
        </p:nvSpPr>
        <p:spPr>
          <a:xfrm>
            <a:off x="1041400" y="2413000"/>
            <a:ext cx="190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2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CRITICAL</a:t>
            </a:r>
            <a:endParaRPr lang="en-US" sz="2400" dirty="0"/>
          </a:p>
        </p:txBody>
      </p:sp>
      <p:sp>
        <p:nvSpPr>
          <p:cNvPr id="7" name="risk_critical_desc"/>
          <p:cNvSpPr/>
          <p:nvPr/>
        </p:nvSpPr>
        <p:spPr>
          <a:xfrm>
            <a:off x="1041400" y="2933700"/>
            <a:ext cx="1905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 continuity drivers</a:t>
            </a:r>
            <a:endParaRPr lang="en-US" sz="1400" dirty="0"/>
          </a:p>
        </p:txBody>
      </p:sp>
      <p:sp>
        <p:nvSpPr>
          <p:cNvPr id="8" name="risk_critical_items"/>
          <p:cNvSpPr/>
          <p:nvPr/>
        </p:nvSpPr>
        <p:spPr>
          <a:xfrm>
            <a:off x="3581400" y="2463800"/>
            <a:ext cx="10795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altLang="en-US" sz="24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Bushfire exposure</a:t>
            </a:r>
            <a:endParaRPr lang="en-US" sz="2400" dirty="0"/>
          </a:p>
          <a:p>
            <a:pPr algn="l" indent="0" marL="0">
              <a:buNone/>
            </a:pPr>
            <a:r>
              <a:rPr lang="en-US" altLang="en-US" sz="24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Security-system power depletion</a:t>
            </a:r>
            <a:endParaRPr lang="en-US" sz="2400" dirty="0"/>
          </a:p>
        </p:txBody>
      </p:sp>
      <p:sp>
        <p:nvSpPr>
          <p:cNvPr id="9" name="risk_high"/>
          <p:cNvSpPr/>
          <p:nvPr/>
        </p:nvSpPr>
        <p:spPr>
          <a:xfrm>
            <a:off x="762000" y="3860800"/>
            <a:ext cx="14732000" cy="1651000"/>
          </a:xfrm>
          <a:prstGeom prst="rect">
            <a:avLst/>
          </a:prstGeom>
          <a:solidFill>
            <a:srgbClr val="F4F5F7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risk_high_rail"/>
          <p:cNvSpPr/>
          <p:nvPr/>
        </p:nvSpPr>
        <p:spPr>
          <a:xfrm>
            <a:off x="762000" y="3860800"/>
            <a:ext cx="2413000" cy="16510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1" name="risk_high_label"/>
          <p:cNvSpPr/>
          <p:nvPr/>
        </p:nvSpPr>
        <p:spPr>
          <a:xfrm>
            <a:off x="1041400" y="4140200"/>
            <a:ext cx="190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2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</a:t>
            </a:r>
            <a:endParaRPr lang="en-US" sz="2400" dirty="0"/>
          </a:p>
        </p:txBody>
      </p:sp>
      <p:sp>
        <p:nvSpPr>
          <p:cNvPr id="12" name="risk_high_desc"/>
          <p:cNvSpPr/>
          <p:nvPr/>
        </p:nvSpPr>
        <p:spPr>
          <a:xfrm>
            <a:off x="1041400" y="4660900"/>
            <a:ext cx="1905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Primary physical drivers</a:t>
            </a:r>
            <a:endParaRPr lang="en-US" sz="1400" dirty="0"/>
          </a:p>
        </p:txBody>
      </p:sp>
      <p:sp>
        <p:nvSpPr>
          <p:cNvPr id="13" name="risk_high_items"/>
          <p:cNvSpPr/>
          <p:nvPr/>
        </p:nvSpPr>
        <p:spPr>
          <a:xfrm>
            <a:off x="3581400" y="4127500"/>
            <a:ext cx="10795000" cy="1117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70"/>
              </a:lnSpc>
              <a:buNone/>
            </a:pPr>
            <a:r>
              <a:rPr lang="en-US" altLang="en-US" sz="22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Fence cutting  ·  Unauthorized access  ·  Extreme heat</a:t>
            </a:r>
            <a:endParaRPr lang="en-US" sz="2200" dirty="0"/>
          </a:p>
          <a:p>
            <a:pPr algn="l" indent="0" marL="0">
              <a:lnSpc>
                <a:spcPts val="2970"/>
              </a:lnSpc>
              <a:buNone/>
            </a:pPr>
            <a:r>
              <a:rPr lang="en-US" altLang="en-US" sz="22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Operational access conflicts</a:t>
            </a:r>
            <a:endParaRPr lang="en-US" sz="2200" dirty="0"/>
          </a:p>
        </p:txBody>
      </p:sp>
      <p:sp>
        <p:nvSpPr>
          <p:cNvPr id="14" name="risk_medium"/>
          <p:cNvSpPr/>
          <p:nvPr/>
        </p:nvSpPr>
        <p:spPr>
          <a:xfrm>
            <a:off x="762000" y="5791200"/>
            <a:ext cx="14732000" cy="127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risk_medium_rail"/>
          <p:cNvSpPr/>
          <p:nvPr/>
        </p:nvSpPr>
        <p:spPr>
          <a:xfrm>
            <a:off x="762000" y="5791200"/>
            <a:ext cx="2413000" cy="1270000"/>
          </a:xfrm>
          <a:prstGeom prst="rect">
            <a:avLst/>
          </a:prstGeom>
          <a:solidFill>
            <a:srgbClr val="CBD1D8"/>
          </a:solidFill>
          <a:ln/>
        </p:spPr>
      </p:sp>
      <p:sp>
        <p:nvSpPr>
          <p:cNvPr id="16" name="risk_medium_label"/>
          <p:cNvSpPr/>
          <p:nvPr/>
        </p:nvSpPr>
        <p:spPr>
          <a:xfrm>
            <a:off x="1041400" y="6045200"/>
            <a:ext cx="190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24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MEDIUM</a:t>
            </a:r>
            <a:endParaRPr lang="en-US" sz="2400" dirty="0"/>
          </a:p>
        </p:txBody>
      </p:sp>
      <p:sp>
        <p:nvSpPr>
          <p:cNvPr id="17" name="risk_medium_desc"/>
          <p:cNvSpPr/>
          <p:nvPr/>
        </p:nvSpPr>
        <p:spPr>
          <a:xfrm>
            <a:off x="1041400" y="6565900"/>
            <a:ext cx="1905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Environmental degradation</a:t>
            </a:r>
            <a:endParaRPr lang="en-US" sz="1400" dirty="0"/>
          </a:p>
        </p:txBody>
      </p:sp>
      <p:sp>
        <p:nvSpPr>
          <p:cNvPr id="18" name="risk_medium_items"/>
          <p:cNvSpPr/>
          <p:nvPr/>
        </p:nvSpPr>
        <p:spPr>
          <a:xfrm>
            <a:off x="3581400" y="6197600"/>
            <a:ext cx="10795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altLang="en-US" sz="22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Harmattan dust  /  equipment degradation  /  maintenance burden</a:t>
            </a:r>
            <a:endParaRPr lang="en-US" sz="2200" dirty="0"/>
          </a:p>
        </p:txBody>
      </p:sp>
      <p:sp>
        <p:nvSpPr>
          <p:cNvPr id="19" name="risk_note"/>
          <p:cNvSpPr/>
          <p:nvPr/>
        </p:nvSpPr>
        <p:spPr>
          <a:xfrm>
            <a:off x="762000" y="7518400"/>
            <a:ext cx="14224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new major risks are introduced in Week 6. The priority structure is carried forward to make the physical design auditable.</a:t>
            </a:r>
            <a:endParaRPr lang="en-US" sz="1500" dirty="0"/>
          </a:p>
        </p:txBody>
      </p:sp>
      <p:sp>
        <p:nvSpPr>
          <p:cNvPr id="20" name="risk_footer_rule"/>
          <p:cNvSpPr/>
          <p:nvPr/>
        </p:nvSpPr>
        <p:spPr>
          <a:xfrm>
            <a:off x="12674600" y="8686800"/>
            <a:ext cx="12700" cy="2286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1" name="risk_footer"/>
          <p:cNvSpPr/>
          <p:nvPr/>
        </p:nvSpPr>
        <p:spPr>
          <a:xfrm>
            <a:off x="12827000" y="8686800"/>
            <a:ext cx="2794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altLang="en-US" sz="12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27 AUG 2026  ·  03 / 12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erim_title"/>
          <p:cNvSpPr/>
          <p:nvPr/>
        </p:nvSpPr>
        <p:spPr>
          <a:xfrm>
            <a:off x="762000" y="685800"/>
            <a:ext cx="10795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2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Perimeter &amp; Fencing Concept</a:t>
            </a:r>
            <a:endParaRPr lang="en-US" sz="3200" dirty="0"/>
          </a:p>
        </p:txBody>
      </p:sp>
      <p:sp>
        <p:nvSpPr>
          <p:cNvPr id="3" name="perim_kicker"/>
          <p:cNvSpPr/>
          <p:nvPr/>
        </p:nvSpPr>
        <p:spPr>
          <a:xfrm>
            <a:off x="762000" y="1320800"/>
            <a:ext cx="14097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9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first physical layer: define the boundary, delay crossing, and preserve farm usability.</a:t>
            </a:r>
            <a:endParaRPr lang="en-US" sz="1900" dirty="0"/>
          </a:p>
        </p:txBody>
      </p:sp>
      <p:sp>
        <p:nvSpPr>
          <p:cNvPr id="4" name="perim_note_rule"/>
          <p:cNvSpPr/>
          <p:nvPr/>
        </p:nvSpPr>
        <p:spPr>
          <a:xfrm>
            <a:off x="762000" y="2032000"/>
            <a:ext cx="63500" cy="5029200"/>
          </a:xfrm>
          <a:prstGeom prst="rect">
            <a:avLst/>
          </a:prstGeom>
          <a:solidFill>
            <a:srgbClr val="8B2635"/>
          </a:solidFill>
          <a:ln/>
        </p:spPr>
      </p:sp>
      <p:sp>
        <p:nvSpPr>
          <p:cNvPr id="5" name="perim_notes"/>
          <p:cNvSpPr/>
          <p:nvPr/>
        </p:nvSpPr>
        <p:spPr>
          <a:xfrm>
            <a:off x="1117600" y="2032000"/>
            <a:ext cx="320040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altLang="en-US" sz="16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 position</a:t>
            </a:r>
            <a:endParaRPr lang="en-US" sz="1600" dirty="0"/>
          </a:p>
          <a:p>
            <a:pPr algn="l" indent="0" marL="0">
              <a:lnSpc>
                <a:spcPts val="2080"/>
              </a:lnSpc>
              <a:buNone/>
            </a:pPr>
            <a:r>
              <a:rPr lang="en-US" altLang="en-US" sz="16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Rigid anti-climb mesh where intrusion resistance is required.</a:t>
            </a:r>
            <a:endParaRPr lang="en-US" sz="1600" dirty="0"/>
          </a:p>
          <a:p>
            <a:pPr algn="l" indent="0" marL="0">
              <a:lnSpc>
                <a:spcPts val="2080"/>
              </a:lnSpc>
              <a:buNone/>
            </a:pPr>
            <a:r>
              <a:rPr lang="en-US" altLang="en-US" sz="16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Durable metallic construction and corrosion protection.</a:t>
            </a:r>
            <a:endParaRPr lang="en-US" sz="1600" dirty="0"/>
          </a:p>
          <a:p>
            <a:pPr algn="l" indent="0" marL="0">
              <a:lnSpc>
                <a:spcPts val="2080"/>
              </a:lnSpc>
              <a:buNone/>
            </a:pPr>
            <a:r>
              <a:rPr lang="en-US" altLang="en-US" sz="16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Robust posts; foundations adapted to actual soil and terrain.</a:t>
            </a:r>
            <a:endParaRPr lang="en-US" sz="1600" dirty="0"/>
          </a:p>
          <a:p>
            <a:pPr algn="l" indent="0" marL="0">
              <a:lnSpc>
                <a:spcPts val="2080"/>
              </a:lnSpc>
              <a:buNone/>
            </a:pPr>
            <a:r>
              <a:rPr lang="en-US" altLang="en-US" sz="16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Clear inspection and maintenance area around the perimeter.</a:t>
            </a:r>
            <a:endParaRPr lang="en-US" sz="1600" dirty="0"/>
          </a:p>
          <a:p>
            <a:pPr algn="l" indent="0" marL="0">
              <a:lnSpc>
                <a:spcPts val="2080"/>
              </a:lnSpc>
              <a:buNone/>
            </a:pPr>
            <a:r>
              <a:rPr lang="en-US" altLang="en-US" sz="16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Boundary identity, signage, and vegetation control.</a:t>
            </a:r>
            <a:endParaRPr lang="en-US" sz="1600" dirty="0"/>
          </a:p>
          <a:p>
            <a:pPr algn="l" indent="0" marL="0">
              <a:lnSpc>
                <a:spcPts val="2080"/>
              </a:lnSpc>
              <a:buNone/>
            </a:pPr>
            <a:r>
              <a:rPr lang="en-US" altLang="en-US" sz="16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Exact dimensions remain subject to site validation and engineering review [1] [2].</a:t>
            </a:r>
            <a:endParaRPr lang="en-US" sz="1600" dirty="0"/>
          </a:p>
        </p:txBody>
      </p:sp>
      <p:sp>
        <p:nvSpPr>
          <p:cNvPr id="6" name="perim_frame"/>
          <p:cNvSpPr/>
          <p:nvPr/>
        </p:nvSpPr>
        <p:spPr>
          <a:xfrm>
            <a:off x="4953000" y="1841500"/>
            <a:ext cx="10541000" cy="5651500"/>
          </a:xfrm>
          <a:prstGeom prst="rect">
            <a:avLst/>
          </a:prstGeom>
          <a:solidFill>
            <a:srgbClr val="F4F5F7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perim_diagram_title"/>
          <p:cNvSpPr/>
          <p:nvPr/>
        </p:nvSpPr>
        <p:spPr>
          <a:xfrm>
            <a:off x="5334000" y="2032000"/>
            <a:ext cx="5588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CONCEPTUAL FARM PERIMETER — NOT TO SCALE</a:t>
            </a:r>
            <a:endParaRPr lang="en-US" sz="1400" dirty="0"/>
          </a:p>
        </p:txBody>
      </p:sp>
      <p:sp>
        <p:nvSpPr>
          <p:cNvPr id="8" name="perim_gate_main_label"/>
          <p:cNvSpPr/>
          <p:nvPr/>
        </p:nvSpPr>
        <p:spPr>
          <a:xfrm>
            <a:off x="5816600" y="2362200"/>
            <a:ext cx="2413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300" dirty="0">
                <a:solidFill>
                  <a:srgbClr val="8B26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MAIN ENTRANCE</a:t>
            </a:r>
            <a:endParaRPr lang="en-US" sz="1300" dirty="0"/>
          </a:p>
        </p:txBody>
      </p:sp>
      <p:sp>
        <p:nvSpPr>
          <p:cNvPr id="9" name="perim_gate_visitor_label"/>
          <p:cNvSpPr/>
          <p:nvPr/>
        </p:nvSpPr>
        <p:spPr>
          <a:xfrm>
            <a:off x="8509000" y="2362200"/>
            <a:ext cx="2413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3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VISITOR GATE</a:t>
            </a:r>
            <a:endParaRPr lang="en-US" sz="1300" dirty="0"/>
          </a:p>
        </p:txBody>
      </p:sp>
      <p:sp>
        <p:nvSpPr>
          <p:cNvPr id="10" name="perim_boundary"/>
          <p:cNvSpPr/>
          <p:nvPr/>
        </p:nvSpPr>
        <p:spPr>
          <a:xfrm>
            <a:off x="5461000" y="2921000"/>
            <a:ext cx="9525000" cy="3429000"/>
          </a:xfrm>
          <a:prstGeom prst="rect">
            <a:avLst/>
          </a:prstGeom>
          <a:solidFill>
            <a:srgbClr val="FFFFFF"/>
          </a:solidFill>
          <a:ln w="38100">
            <a:solidFill>
              <a:srgbClr val="1E293B"/>
            </a:solidFill>
            <a:prstDash val="dash"/>
          </a:ln>
        </p:spPr>
      </p:sp>
      <p:sp>
        <p:nvSpPr>
          <p:cNvPr id="11" name="perim_firebreak"/>
          <p:cNvSpPr/>
          <p:nvPr/>
        </p:nvSpPr>
        <p:spPr>
          <a:xfrm>
            <a:off x="5664200" y="3124200"/>
            <a:ext cx="9118600" cy="3022600"/>
          </a:xfrm>
          <a:prstGeom prst="rect">
            <a:avLst/>
          </a:prstGeom>
          <a:ln w="25400">
            <a:solidFill>
              <a:srgbClr val="8B2635"/>
            </a:solidFill>
            <a:prstDash val="sysDot"/>
          </a:ln>
        </p:spPr>
      </p:sp>
      <p:sp>
        <p:nvSpPr>
          <p:cNvPr id="12" name="perim_gate_main"/>
          <p:cNvSpPr/>
          <p:nvPr/>
        </p:nvSpPr>
        <p:spPr>
          <a:xfrm>
            <a:off x="6413500" y="2870200"/>
            <a:ext cx="1206500" cy="101600"/>
          </a:xfrm>
          <a:prstGeom prst="rect">
            <a:avLst/>
          </a:prstGeom>
          <a:solidFill>
            <a:srgbClr val="8B2635"/>
          </a:solidFill>
          <a:ln/>
        </p:spPr>
      </p:sp>
      <p:sp>
        <p:nvSpPr>
          <p:cNvPr id="13" name="perim_gate_visitor"/>
          <p:cNvSpPr/>
          <p:nvPr/>
        </p:nvSpPr>
        <p:spPr>
          <a:xfrm>
            <a:off x="9144000" y="2870200"/>
            <a:ext cx="1206500" cy="1016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4" name="perim_gate_staff"/>
          <p:cNvSpPr/>
          <p:nvPr/>
        </p:nvSpPr>
        <p:spPr>
          <a:xfrm>
            <a:off x="6413500" y="6299200"/>
            <a:ext cx="1206500" cy="1016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5" name="perim_gate_service"/>
          <p:cNvSpPr/>
          <p:nvPr/>
        </p:nvSpPr>
        <p:spPr>
          <a:xfrm>
            <a:off x="12446000" y="6299200"/>
            <a:ext cx="1206500" cy="101600"/>
          </a:xfrm>
          <a:prstGeom prst="rect">
            <a:avLst/>
          </a:prstGeom>
          <a:solidFill>
            <a:srgbClr val="8B2635"/>
          </a:solidFill>
          <a:ln/>
        </p:spPr>
      </p:sp>
      <p:sp>
        <p:nvSpPr>
          <p:cNvPr id="16" name="perim_gate_staff_label"/>
          <p:cNvSpPr/>
          <p:nvPr/>
        </p:nvSpPr>
        <p:spPr>
          <a:xfrm>
            <a:off x="5715000" y="6629400"/>
            <a:ext cx="26035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3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STAFF / OPERATIONAL GATE</a:t>
            </a:r>
            <a:endParaRPr lang="en-US" sz="1300" dirty="0"/>
          </a:p>
        </p:txBody>
      </p:sp>
      <p:sp>
        <p:nvSpPr>
          <p:cNvPr id="17" name="perim_gate_service_label"/>
          <p:cNvSpPr/>
          <p:nvPr/>
        </p:nvSpPr>
        <p:spPr>
          <a:xfrm>
            <a:off x="11811000" y="66294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300" dirty="0">
                <a:solidFill>
                  <a:srgbClr val="8B26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SERVICE / EMERGENCY GATE</a:t>
            </a:r>
            <a:endParaRPr lang="en-US" sz="1300" dirty="0"/>
          </a:p>
        </p:txBody>
      </p:sp>
      <p:sp>
        <p:nvSpPr>
          <p:cNvPr id="18" name="perim_open"/>
          <p:cNvSpPr/>
          <p:nvPr/>
        </p:nvSpPr>
        <p:spPr>
          <a:xfrm>
            <a:off x="6096000" y="3873500"/>
            <a:ext cx="1778000" cy="1524000"/>
          </a:xfrm>
          <a:prstGeom prst="rect">
            <a:avLst/>
          </a:prstGeom>
          <a:solidFill>
            <a:srgbClr val="F4F5F7"/>
          </a:solidFill>
          <a:ln w="12700">
            <a:solidFill>
              <a:srgbClr val="CBD1D8"/>
            </a:solidFill>
            <a:prstDash val="solid"/>
          </a:ln>
        </p:spPr>
      </p:sp>
      <p:sp>
        <p:nvSpPr>
          <p:cNvPr id="19" name="perim_controlled"/>
          <p:cNvSpPr/>
          <p:nvPr/>
        </p:nvSpPr>
        <p:spPr>
          <a:xfrm>
            <a:off x="8255000" y="3873500"/>
            <a:ext cx="2095500" cy="1524000"/>
          </a:xfrm>
          <a:prstGeom prst="rect">
            <a:avLst/>
          </a:prstGeom>
          <a:solidFill>
            <a:srgbClr val="E9EDF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" name="perim_restricted"/>
          <p:cNvSpPr/>
          <p:nvPr/>
        </p:nvSpPr>
        <p:spPr>
          <a:xfrm>
            <a:off x="10731500" y="3873500"/>
            <a:ext cx="1778000" cy="1524000"/>
          </a:xfrm>
          <a:prstGeom prst="rect">
            <a:avLst/>
          </a:prstGeom>
          <a:solidFill>
            <a:srgbClr val="F7EEF1"/>
          </a:solidFill>
          <a:ln w="12700">
            <a:solidFill>
              <a:srgbClr val="8B2635"/>
            </a:solidFill>
            <a:prstDash val="solid"/>
          </a:ln>
        </p:spPr>
      </p:sp>
      <p:sp>
        <p:nvSpPr>
          <p:cNvPr id="21" name="perim_critical"/>
          <p:cNvSpPr/>
          <p:nvPr/>
        </p:nvSpPr>
        <p:spPr>
          <a:xfrm>
            <a:off x="12890500" y="3873500"/>
            <a:ext cx="1524000" cy="1524000"/>
          </a:xfrm>
          <a:prstGeom prst="rect">
            <a:avLst/>
          </a:prstGeom>
          <a:solidFill>
            <a:srgbClr val="8B2635"/>
          </a:solidFill>
          <a:ln/>
        </p:spPr>
      </p:sp>
      <p:sp>
        <p:nvSpPr>
          <p:cNvPr id="22" name="perim_open_text"/>
          <p:cNvSpPr/>
          <p:nvPr/>
        </p:nvSpPr>
        <p:spPr>
          <a:xfrm>
            <a:off x="6248400" y="4114800"/>
            <a:ext cx="14732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altLang="en-US" sz="15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</a:t>
            </a:r>
            <a:endParaRPr lang="en-US" sz="1500" dirty="0"/>
          </a:p>
          <a:p>
            <a:pPr algn="ctr" indent="0" marL="0">
              <a:buNone/>
            </a:pPr>
            <a:r>
              <a:rPr lang="en-US" altLang="en-US" sz="15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Reception</a:t>
            </a:r>
            <a:endParaRPr lang="en-US" sz="1500" dirty="0"/>
          </a:p>
          <a:p>
            <a:pPr algn="ctr" indent="0" marL="0">
              <a:buNone/>
            </a:pPr>
            <a:r>
              <a:rPr lang="en-US" altLang="en-US" sz="15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Visitor area</a:t>
            </a:r>
            <a:endParaRPr lang="en-US" sz="1500" dirty="0"/>
          </a:p>
        </p:txBody>
      </p:sp>
      <p:sp>
        <p:nvSpPr>
          <p:cNvPr id="23" name="perim_controlled_text"/>
          <p:cNvSpPr/>
          <p:nvPr/>
        </p:nvSpPr>
        <p:spPr>
          <a:xfrm>
            <a:off x="8407400" y="4114800"/>
            <a:ext cx="17907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altLang="en-US" sz="15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CONTROLLED</a:t>
            </a:r>
            <a:endParaRPr lang="en-US" sz="1500" dirty="0"/>
          </a:p>
          <a:p>
            <a:pPr algn="ctr" indent="0" marL="0">
              <a:buNone/>
            </a:pPr>
            <a:r>
              <a:rPr lang="en-US" altLang="en-US" sz="15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Farm operations</a:t>
            </a:r>
            <a:endParaRPr lang="en-US" sz="1500" dirty="0"/>
          </a:p>
          <a:p>
            <a:pPr algn="ctr" indent="0" marL="0">
              <a:buNone/>
            </a:pPr>
            <a:r>
              <a:rPr lang="en-US" altLang="en-US" sz="15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Authorized staff</a:t>
            </a:r>
            <a:endParaRPr lang="en-US" sz="1500" dirty="0"/>
          </a:p>
        </p:txBody>
      </p:sp>
      <p:sp>
        <p:nvSpPr>
          <p:cNvPr id="24" name="perim_restricted_text"/>
          <p:cNvSpPr/>
          <p:nvPr/>
        </p:nvSpPr>
        <p:spPr>
          <a:xfrm>
            <a:off x="10883900" y="4114800"/>
            <a:ext cx="14732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altLang="en-US" sz="1500" b="1" dirty="0">
                <a:solidFill>
                  <a:srgbClr val="8B26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RESTRICTED</a:t>
            </a:r>
            <a:endParaRPr lang="en-US" sz="1500" dirty="0"/>
          </a:p>
          <a:p>
            <a:pPr algn="ctr" indent="0" marL="0">
              <a:buNone/>
            </a:pPr>
            <a:r>
              <a:rPr lang="en-US" altLang="en-US" sz="1500" dirty="0">
                <a:solidFill>
                  <a:srgbClr val="8B26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Warehouse</a:t>
            </a:r>
            <a:endParaRPr lang="en-US" sz="1500" dirty="0"/>
          </a:p>
          <a:p>
            <a:pPr algn="ctr" indent="0" marL="0">
              <a:buNone/>
            </a:pPr>
            <a:r>
              <a:rPr lang="en-US" altLang="en-US" sz="1500" dirty="0">
                <a:solidFill>
                  <a:srgbClr val="8B26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Equipment</a:t>
            </a:r>
            <a:endParaRPr lang="en-US" sz="1500" dirty="0"/>
          </a:p>
        </p:txBody>
      </p:sp>
      <p:sp>
        <p:nvSpPr>
          <p:cNvPr id="25" name="perim_critical_text"/>
          <p:cNvSpPr/>
          <p:nvPr/>
        </p:nvSpPr>
        <p:spPr>
          <a:xfrm>
            <a:off x="13017500" y="4114800"/>
            <a:ext cx="127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alt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CRITICAL</a:t>
            </a:r>
            <a:endParaRPr lang="en-US" sz="1500" dirty="0"/>
          </a:p>
          <a:p>
            <a:pPr algn="ctr" indent="0" marL="0">
              <a:buNone/>
            </a:pPr>
            <a:r>
              <a:rPr lang="en-US" alt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Inner asset</a:t>
            </a:r>
            <a:endParaRPr lang="en-US" sz="1500" dirty="0"/>
          </a:p>
        </p:txBody>
      </p:sp>
      <p:sp>
        <p:nvSpPr>
          <p:cNvPr id="26" name="perim_firebreak_label"/>
          <p:cNvSpPr/>
          <p:nvPr/>
        </p:nvSpPr>
        <p:spPr>
          <a:xfrm>
            <a:off x="5664200" y="6985000"/>
            <a:ext cx="91186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300" dirty="0">
                <a:solidFill>
                  <a:srgbClr val="8B26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m VEGETATION-FREE FIREBREAK · INSPECTION STRIP · SIGNAGE · VEGETATION MANAGEMENT</a:t>
            </a:r>
            <a:endParaRPr lang="en-US" sz="1300" dirty="0"/>
          </a:p>
        </p:txBody>
      </p:sp>
      <p:sp>
        <p:nvSpPr>
          <p:cNvPr id="27" name="perim_footer_rule"/>
          <p:cNvSpPr/>
          <p:nvPr/>
        </p:nvSpPr>
        <p:spPr>
          <a:xfrm>
            <a:off x="12674600" y="8686800"/>
            <a:ext cx="12700" cy="2286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8" name="perim_footer"/>
          <p:cNvSpPr/>
          <p:nvPr/>
        </p:nvSpPr>
        <p:spPr>
          <a:xfrm>
            <a:off x="12827000" y="8686800"/>
            <a:ext cx="2794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altLang="en-US" sz="12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27 AUG 2026  ·  04 / 12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ates_title"/>
          <p:cNvSpPr/>
          <p:nvPr/>
        </p:nvSpPr>
        <p:spPr>
          <a:xfrm>
            <a:off x="762000" y="685800"/>
            <a:ext cx="10795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2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Gate &amp; Access-Point Strategy</a:t>
            </a:r>
            <a:endParaRPr lang="en-US" sz="3200" dirty="0"/>
          </a:p>
        </p:txBody>
      </p:sp>
      <p:sp>
        <p:nvSpPr>
          <p:cNvPr id="3" name="gates_kicker"/>
          <p:cNvSpPr/>
          <p:nvPr/>
        </p:nvSpPr>
        <p:spPr>
          <a:xfrm>
            <a:off x="762000" y="1320800"/>
            <a:ext cx="14224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9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Differentiate movements without creating unnecessary gates or operational friction.</a:t>
            </a:r>
            <a:endParaRPr lang="en-US" sz="1900" dirty="0"/>
          </a:p>
        </p:txBody>
      </p:sp>
      <p:sp>
        <p:nvSpPr>
          <p:cNvPr id="4" name="gate_main_card"/>
          <p:cNvSpPr/>
          <p:nvPr/>
        </p:nvSpPr>
        <p:spPr>
          <a:xfrm>
            <a:off x="762000" y="2159000"/>
            <a:ext cx="6858000" cy="1841500"/>
          </a:xfrm>
          <a:prstGeom prst="rect">
            <a:avLst/>
          </a:prstGeom>
          <a:solidFill>
            <a:srgbClr val="F4F5F7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gate_main_rail"/>
          <p:cNvSpPr/>
          <p:nvPr/>
        </p:nvSpPr>
        <p:spPr>
          <a:xfrm>
            <a:off x="762000" y="2159000"/>
            <a:ext cx="1117600" cy="18415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gate_main_letter"/>
          <p:cNvSpPr/>
          <p:nvPr/>
        </p:nvSpPr>
        <p:spPr>
          <a:xfrm>
            <a:off x="1041400" y="2514600"/>
            <a:ext cx="5588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</a:t>
            </a:r>
            <a:endParaRPr lang="en-US" sz="3200" dirty="0"/>
          </a:p>
        </p:txBody>
      </p:sp>
      <p:sp>
        <p:nvSpPr>
          <p:cNvPr id="7" name="gate_main_title"/>
          <p:cNvSpPr/>
          <p:nvPr/>
        </p:nvSpPr>
        <p:spPr>
          <a:xfrm>
            <a:off x="2209800" y="2413000"/>
            <a:ext cx="482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22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Main Entrance</a:t>
            </a:r>
            <a:endParaRPr lang="en-US" sz="2200" dirty="0"/>
          </a:p>
        </p:txBody>
      </p:sp>
      <p:sp>
        <p:nvSpPr>
          <p:cNvPr id="8" name="gate_main_desc"/>
          <p:cNvSpPr/>
          <p:nvPr/>
        </p:nvSpPr>
        <p:spPr>
          <a:xfrm>
            <a:off x="2209800" y="2946400"/>
            <a:ext cx="4826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altLang="en-US" sz="16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Primary arrival, reception, and general orientation. OPEN-facing approach; controlled transition beyond.</a:t>
            </a:r>
            <a:endParaRPr lang="en-US" sz="1600" dirty="0"/>
          </a:p>
        </p:txBody>
      </p:sp>
      <p:sp>
        <p:nvSpPr>
          <p:cNvPr id="9" name="gate_visitor_card"/>
          <p:cNvSpPr/>
          <p:nvPr/>
        </p:nvSpPr>
        <p:spPr>
          <a:xfrm>
            <a:off x="8128000" y="2159000"/>
            <a:ext cx="6858000" cy="1841500"/>
          </a:xfrm>
          <a:prstGeom prst="rect">
            <a:avLst/>
          </a:prstGeom>
          <a:solidFill>
            <a:srgbClr val="F7EEF1"/>
          </a:solidFill>
          <a:ln w="25400">
            <a:solidFill>
              <a:srgbClr val="8B2635"/>
            </a:solidFill>
            <a:prstDash val="solid"/>
          </a:ln>
        </p:spPr>
      </p:sp>
      <p:sp>
        <p:nvSpPr>
          <p:cNvPr id="10" name="gate_visitor_rail"/>
          <p:cNvSpPr/>
          <p:nvPr/>
        </p:nvSpPr>
        <p:spPr>
          <a:xfrm>
            <a:off x="8128000" y="2159000"/>
            <a:ext cx="1117600" cy="1841500"/>
          </a:xfrm>
          <a:prstGeom prst="rect">
            <a:avLst/>
          </a:prstGeom>
          <a:solidFill>
            <a:srgbClr val="8B2635"/>
          </a:solidFill>
          <a:ln/>
        </p:spPr>
      </p:sp>
      <p:sp>
        <p:nvSpPr>
          <p:cNvPr id="11" name="gate_visitor_letter"/>
          <p:cNvSpPr/>
          <p:nvPr/>
        </p:nvSpPr>
        <p:spPr>
          <a:xfrm>
            <a:off x="8407400" y="2514600"/>
            <a:ext cx="5588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</a:t>
            </a:r>
            <a:endParaRPr lang="en-US" sz="3200" dirty="0"/>
          </a:p>
        </p:txBody>
      </p:sp>
      <p:sp>
        <p:nvSpPr>
          <p:cNvPr id="12" name="gate_visitor_title"/>
          <p:cNvSpPr/>
          <p:nvPr/>
        </p:nvSpPr>
        <p:spPr>
          <a:xfrm>
            <a:off x="9575800" y="2413000"/>
            <a:ext cx="482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2200" dirty="0">
                <a:solidFill>
                  <a:srgbClr val="8B26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Visitor Gate</a:t>
            </a:r>
            <a:endParaRPr lang="en-US" sz="2200" dirty="0"/>
          </a:p>
        </p:txBody>
      </p:sp>
      <p:sp>
        <p:nvSpPr>
          <p:cNvPr id="13" name="gate_visitor_desc"/>
          <p:cNvSpPr/>
          <p:nvPr/>
        </p:nvSpPr>
        <p:spPr>
          <a:xfrm>
            <a:off x="9575800" y="2946400"/>
            <a:ext cx="4826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altLang="en-US" sz="16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Registration, verification, safety briefing, designated route, and check-out. No routine sensitive-area entry.</a:t>
            </a:r>
            <a:endParaRPr lang="en-US" sz="1600" dirty="0"/>
          </a:p>
        </p:txBody>
      </p:sp>
      <p:sp>
        <p:nvSpPr>
          <p:cNvPr id="14" name="gate_staff_card"/>
          <p:cNvSpPr/>
          <p:nvPr/>
        </p:nvSpPr>
        <p:spPr>
          <a:xfrm>
            <a:off x="762000" y="4445000"/>
            <a:ext cx="6858000" cy="1841500"/>
          </a:xfrm>
          <a:prstGeom prst="rect">
            <a:avLst/>
          </a:prstGeom>
          <a:solidFill>
            <a:srgbClr val="F4F5F7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gate_staff_rail"/>
          <p:cNvSpPr/>
          <p:nvPr/>
        </p:nvSpPr>
        <p:spPr>
          <a:xfrm>
            <a:off x="762000" y="4445000"/>
            <a:ext cx="1117600" cy="18415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6" name="gate_staff_letter"/>
          <p:cNvSpPr/>
          <p:nvPr/>
        </p:nvSpPr>
        <p:spPr>
          <a:xfrm>
            <a:off x="1041400" y="4800600"/>
            <a:ext cx="5588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</a:t>
            </a:r>
            <a:endParaRPr lang="en-US" sz="3200" dirty="0"/>
          </a:p>
        </p:txBody>
      </p:sp>
      <p:sp>
        <p:nvSpPr>
          <p:cNvPr id="17" name="gate_staff_title"/>
          <p:cNvSpPr/>
          <p:nvPr/>
        </p:nvSpPr>
        <p:spPr>
          <a:xfrm>
            <a:off x="2209800" y="4699000"/>
            <a:ext cx="482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22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Staff / Operational Gate</a:t>
            </a:r>
            <a:endParaRPr lang="en-US" sz="2200" dirty="0"/>
          </a:p>
        </p:txBody>
      </p:sp>
      <p:sp>
        <p:nvSpPr>
          <p:cNvPr id="18" name="gate_staff_desc"/>
          <p:cNvSpPr/>
          <p:nvPr/>
        </p:nvSpPr>
        <p:spPr>
          <a:xfrm>
            <a:off x="2209800" y="5232400"/>
            <a:ext cx="4826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altLang="en-US" sz="16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Authorized staff, seasonal workforce, and farm traffic into CONTROLLED operational areas; optimize throughput.</a:t>
            </a:r>
            <a:endParaRPr lang="en-US" sz="1600" dirty="0"/>
          </a:p>
        </p:txBody>
      </p:sp>
      <p:sp>
        <p:nvSpPr>
          <p:cNvPr id="19" name="gate_service_card"/>
          <p:cNvSpPr/>
          <p:nvPr/>
        </p:nvSpPr>
        <p:spPr>
          <a:xfrm>
            <a:off x="8128000" y="4445000"/>
            <a:ext cx="6858000" cy="1841500"/>
          </a:xfrm>
          <a:prstGeom prst="rect">
            <a:avLst/>
          </a:prstGeom>
          <a:solidFill>
            <a:srgbClr val="F7EEF1"/>
          </a:solidFill>
          <a:ln w="25400">
            <a:solidFill>
              <a:srgbClr val="8B2635"/>
            </a:solidFill>
            <a:prstDash val="solid"/>
          </a:ln>
        </p:spPr>
      </p:sp>
      <p:sp>
        <p:nvSpPr>
          <p:cNvPr id="20" name="gate_service_rail"/>
          <p:cNvSpPr/>
          <p:nvPr/>
        </p:nvSpPr>
        <p:spPr>
          <a:xfrm>
            <a:off x="8128000" y="4445000"/>
            <a:ext cx="1117600" cy="1841500"/>
          </a:xfrm>
          <a:prstGeom prst="rect">
            <a:avLst/>
          </a:prstGeom>
          <a:solidFill>
            <a:srgbClr val="8B2635"/>
          </a:solidFill>
          <a:ln/>
        </p:spPr>
      </p:sp>
      <p:sp>
        <p:nvSpPr>
          <p:cNvPr id="21" name="gate_service_letter"/>
          <p:cNvSpPr/>
          <p:nvPr/>
        </p:nvSpPr>
        <p:spPr>
          <a:xfrm>
            <a:off x="8407400" y="4800600"/>
            <a:ext cx="5588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</a:t>
            </a:r>
            <a:endParaRPr lang="en-US" sz="3200" dirty="0"/>
          </a:p>
        </p:txBody>
      </p:sp>
      <p:sp>
        <p:nvSpPr>
          <p:cNvPr id="22" name="gate_service_title"/>
          <p:cNvSpPr/>
          <p:nvPr/>
        </p:nvSpPr>
        <p:spPr>
          <a:xfrm>
            <a:off x="9575800" y="4699000"/>
            <a:ext cx="482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2200" dirty="0">
                <a:solidFill>
                  <a:srgbClr val="8B26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Service / Emergency Gate</a:t>
            </a:r>
            <a:endParaRPr lang="en-US" sz="2200" dirty="0"/>
          </a:p>
        </p:txBody>
      </p:sp>
      <p:sp>
        <p:nvSpPr>
          <p:cNvPr id="23" name="gate_service_desc"/>
          <p:cNvSpPr/>
          <p:nvPr/>
        </p:nvSpPr>
        <p:spPr>
          <a:xfrm>
            <a:off x="9575800" y="5232400"/>
            <a:ext cx="4826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altLang="en-US" sz="16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Controlled, kept clear, and tested for approved service vehicles, maintenance, and emergency responders.</a:t>
            </a:r>
            <a:endParaRPr lang="en-US" sz="1600" dirty="0"/>
          </a:p>
        </p:txBody>
      </p:sp>
      <p:sp>
        <p:nvSpPr>
          <p:cNvPr id="24" name="gates_validate_band"/>
          <p:cNvSpPr/>
          <p:nvPr/>
        </p:nvSpPr>
        <p:spPr>
          <a:xfrm>
            <a:off x="762000" y="6858000"/>
            <a:ext cx="14732000" cy="6350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5" name="gates_validate_text"/>
          <p:cNvSpPr/>
          <p:nvPr/>
        </p:nvSpPr>
        <p:spPr>
          <a:xfrm>
            <a:off x="1066800" y="7035800"/>
            <a:ext cx="14097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alt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Validate exact locations · vehicle turning radius · pedestrian routes · throughput · emergency override procedure [1] [2] [4]</a:t>
            </a:r>
            <a:endParaRPr lang="en-US" sz="1600" dirty="0"/>
          </a:p>
        </p:txBody>
      </p:sp>
      <p:sp>
        <p:nvSpPr>
          <p:cNvPr id="26" name="gates_footer_rule"/>
          <p:cNvSpPr/>
          <p:nvPr/>
        </p:nvSpPr>
        <p:spPr>
          <a:xfrm>
            <a:off x="12674600" y="8686800"/>
            <a:ext cx="12700" cy="2286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gates_footer"/>
          <p:cNvSpPr/>
          <p:nvPr/>
        </p:nvSpPr>
        <p:spPr>
          <a:xfrm>
            <a:off x="12827000" y="8686800"/>
            <a:ext cx="2794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altLang="en-US" sz="12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27 AUG 2026  ·  05 / 12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s_title"/>
          <p:cNvSpPr/>
          <p:nvPr/>
        </p:nvSpPr>
        <p:spPr>
          <a:xfrm>
            <a:off x="762000" y="685800"/>
            <a:ext cx="10414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2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Four Security Levels</a:t>
            </a:r>
            <a:endParaRPr lang="en-US" sz="3200" dirty="0"/>
          </a:p>
        </p:txBody>
      </p:sp>
      <p:sp>
        <p:nvSpPr>
          <p:cNvPr id="3" name="zones_kicker"/>
          <p:cNvSpPr/>
          <p:nvPr/>
        </p:nvSpPr>
        <p:spPr>
          <a:xfrm>
            <a:off x="762000" y="1320800"/>
            <a:ext cx="14224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9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Protection increases with zone sensitivity; authorization becomes more specific as movement proceeds inward.</a:t>
            </a:r>
            <a:endParaRPr lang="en-US" sz="1900" dirty="0"/>
          </a:p>
        </p:txBody>
      </p:sp>
      <p:sp>
        <p:nvSpPr>
          <p:cNvPr id="4" name="zone_open"/>
          <p:cNvSpPr/>
          <p:nvPr/>
        </p:nvSpPr>
        <p:spPr>
          <a:xfrm>
            <a:off x="762000" y="2095500"/>
            <a:ext cx="14732000" cy="838200"/>
          </a:xfrm>
          <a:prstGeom prst="rect">
            <a:avLst/>
          </a:prstGeom>
          <a:solidFill>
            <a:srgbClr val="F4F5F7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zone_controlled"/>
          <p:cNvSpPr/>
          <p:nvPr/>
        </p:nvSpPr>
        <p:spPr>
          <a:xfrm>
            <a:off x="1841500" y="3035300"/>
            <a:ext cx="13652500" cy="838200"/>
          </a:xfrm>
          <a:prstGeom prst="rect">
            <a:avLst/>
          </a:prstGeom>
          <a:solidFill>
            <a:srgbClr val="E9EDF0"/>
          </a:solidFill>
          <a:ln w="12700">
            <a:solidFill>
              <a:srgbClr val="CBD1D8"/>
            </a:solidFill>
            <a:prstDash val="solid"/>
          </a:ln>
        </p:spPr>
      </p:sp>
      <p:sp>
        <p:nvSpPr>
          <p:cNvPr id="6" name="zone_restricted"/>
          <p:cNvSpPr/>
          <p:nvPr/>
        </p:nvSpPr>
        <p:spPr>
          <a:xfrm>
            <a:off x="2921000" y="3975100"/>
            <a:ext cx="12573000" cy="838200"/>
          </a:xfrm>
          <a:prstGeom prst="rect">
            <a:avLst/>
          </a:prstGeom>
          <a:solidFill>
            <a:srgbClr val="F7EEF1"/>
          </a:solidFill>
          <a:ln w="12700">
            <a:solidFill>
              <a:srgbClr val="8B2635"/>
            </a:solidFill>
            <a:prstDash val="solid"/>
          </a:ln>
        </p:spPr>
      </p:sp>
      <p:sp>
        <p:nvSpPr>
          <p:cNvPr id="7" name="zone_critical"/>
          <p:cNvSpPr/>
          <p:nvPr/>
        </p:nvSpPr>
        <p:spPr>
          <a:xfrm>
            <a:off x="4000500" y="4914900"/>
            <a:ext cx="11493500" cy="838200"/>
          </a:xfrm>
          <a:prstGeom prst="rect">
            <a:avLst/>
          </a:prstGeom>
          <a:solidFill>
            <a:srgbClr val="8B2635"/>
          </a:solidFill>
          <a:ln w="12700">
            <a:solidFill>
              <a:srgbClr val="8B2635"/>
            </a:solidFill>
            <a:prstDash val="solid"/>
          </a:ln>
        </p:spPr>
      </p:sp>
      <p:sp>
        <p:nvSpPr>
          <p:cNvPr id="8" name="zone_open_label"/>
          <p:cNvSpPr/>
          <p:nvPr/>
        </p:nvSpPr>
        <p:spPr>
          <a:xfrm>
            <a:off x="1092200" y="2336800"/>
            <a:ext cx="26035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22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</a:t>
            </a:r>
            <a:endParaRPr lang="en-US" sz="2200" dirty="0"/>
          </a:p>
        </p:txBody>
      </p:sp>
      <p:sp>
        <p:nvSpPr>
          <p:cNvPr id="9" name="zone_open_desc"/>
          <p:cNvSpPr/>
          <p:nvPr/>
        </p:nvSpPr>
        <p:spPr>
          <a:xfrm>
            <a:off x="4000500" y="2349500"/>
            <a:ext cx="10795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altLang="en-US" sz="16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Entrance · reception · designated visitor areas  /  visible boundary and supervised approach</a:t>
            </a:r>
            <a:endParaRPr lang="en-US" sz="1600" dirty="0"/>
          </a:p>
        </p:txBody>
      </p:sp>
      <p:sp>
        <p:nvSpPr>
          <p:cNvPr id="10" name="zone_controlled_label"/>
          <p:cNvSpPr/>
          <p:nvPr/>
        </p:nvSpPr>
        <p:spPr>
          <a:xfrm>
            <a:off x="2171700" y="3276600"/>
            <a:ext cx="26035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22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CONTROLLED</a:t>
            </a:r>
            <a:endParaRPr lang="en-US" sz="2200" dirty="0"/>
          </a:p>
        </p:txBody>
      </p:sp>
      <p:sp>
        <p:nvSpPr>
          <p:cNvPr id="11" name="zone_controlled_desc"/>
          <p:cNvSpPr/>
          <p:nvPr/>
        </p:nvSpPr>
        <p:spPr>
          <a:xfrm>
            <a:off x="5080000" y="3289300"/>
            <a:ext cx="9652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altLang="en-US" sz="16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Production / operational areas  /  authorized staff and role-based access</a:t>
            </a:r>
            <a:endParaRPr lang="en-US" sz="1600" dirty="0"/>
          </a:p>
        </p:txBody>
      </p:sp>
      <p:sp>
        <p:nvSpPr>
          <p:cNvPr id="12" name="zone_restricted_label"/>
          <p:cNvSpPr/>
          <p:nvPr/>
        </p:nvSpPr>
        <p:spPr>
          <a:xfrm>
            <a:off x="3251200" y="4216400"/>
            <a:ext cx="26035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2200" dirty="0">
                <a:solidFill>
                  <a:srgbClr val="8B26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RESTRICTED</a:t>
            </a:r>
            <a:endParaRPr lang="en-US" sz="2200" dirty="0"/>
          </a:p>
        </p:txBody>
      </p:sp>
      <p:sp>
        <p:nvSpPr>
          <p:cNvPr id="13" name="zone_restricted_desc"/>
          <p:cNvSpPr/>
          <p:nvPr/>
        </p:nvSpPr>
        <p:spPr>
          <a:xfrm>
            <a:off x="6159500" y="4229100"/>
            <a:ext cx="85725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altLang="en-US" sz="16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Warehouse · equipment · loading  /  need-to-enter access only</a:t>
            </a:r>
            <a:endParaRPr lang="en-US" sz="1600" dirty="0"/>
          </a:p>
        </p:txBody>
      </p:sp>
      <p:sp>
        <p:nvSpPr>
          <p:cNvPr id="14" name="zone_critical_label"/>
          <p:cNvSpPr/>
          <p:nvPr/>
        </p:nvSpPr>
        <p:spPr>
          <a:xfrm>
            <a:off x="4330700" y="5156200"/>
            <a:ext cx="26035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2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CRITICAL</a:t>
            </a:r>
            <a:endParaRPr lang="en-US" sz="2200" dirty="0"/>
          </a:p>
        </p:txBody>
      </p:sp>
      <p:sp>
        <p:nvSpPr>
          <p:cNvPr id="15" name="zone_critical_desc"/>
          <p:cNvSpPr/>
          <p:nvPr/>
        </p:nvSpPr>
        <p:spPr>
          <a:xfrm>
            <a:off x="7239000" y="5168900"/>
            <a:ext cx="7747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alt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Critical infrastructure and highest-value assets  /  specific authorization only</a:t>
            </a:r>
            <a:endParaRPr lang="en-US" sz="1600" dirty="0"/>
          </a:p>
        </p:txBody>
      </p:sp>
      <p:sp>
        <p:nvSpPr>
          <p:cNvPr id="16" name="zones_gradient"/>
          <p:cNvSpPr/>
          <p:nvPr/>
        </p:nvSpPr>
        <p:spPr>
          <a:xfrm>
            <a:off x="762000" y="6070600"/>
            <a:ext cx="14224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5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Routine visitor movement remains outward unless specific authorization exists.</a:t>
            </a:r>
            <a:endParaRPr lang="en-US" sz="1500" dirty="0"/>
          </a:p>
        </p:txBody>
      </p:sp>
      <p:sp>
        <p:nvSpPr>
          <p:cNvPr id="17" name="zones_journey"/>
          <p:cNvSpPr/>
          <p:nvPr/>
        </p:nvSpPr>
        <p:spPr>
          <a:xfrm>
            <a:off x="762000" y="6794500"/>
            <a:ext cx="14732000" cy="6985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8" name="zones_journey_text"/>
          <p:cNvSpPr/>
          <p:nvPr/>
        </p:nvSpPr>
        <p:spPr>
          <a:xfrm>
            <a:off x="1041400" y="6997700"/>
            <a:ext cx="141605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alt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Visitor journey:  Arrive  →  Verify  →  Safety briefing  →  Designated route  →  Authorized area  →  Check-out</a:t>
            </a:r>
            <a:endParaRPr lang="en-US" sz="1600" dirty="0"/>
          </a:p>
        </p:txBody>
      </p:sp>
      <p:sp>
        <p:nvSpPr>
          <p:cNvPr id="19" name="zones_footer_rule"/>
          <p:cNvSpPr/>
          <p:nvPr/>
        </p:nvSpPr>
        <p:spPr>
          <a:xfrm>
            <a:off x="12674600" y="8686800"/>
            <a:ext cx="12700" cy="2286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0" name="zones_footer"/>
          <p:cNvSpPr/>
          <p:nvPr/>
        </p:nvSpPr>
        <p:spPr>
          <a:xfrm>
            <a:off x="12827000" y="8686800"/>
            <a:ext cx="2794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altLang="en-US" sz="12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27 AUG 2026  ·  06 / 12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yer_title"/>
          <p:cNvSpPr/>
          <p:nvPr/>
        </p:nvSpPr>
        <p:spPr>
          <a:xfrm>
            <a:off x="762000" y="685800"/>
            <a:ext cx="9652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2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Layered Security</a:t>
            </a:r>
            <a:endParaRPr lang="en-US" sz="3200" dirty="0"/>
          </a:p>
        </p:txBody>
      </p:sp>
      <p:sp>
        <p:nvSpPr>
          <p:cNvPr id="3" name="layer_kicker"/>
          <p:cNvSpPr/>
          <p:nvPr/>
        </p:nvSpPr>
        <p:spPr>
          <a:xfrm>
            <a:off x="762000" y="1320800"/>
            <a:ext cx="14224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9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the fence is not enough: each layer adds control, accountability, and recovery.</a:t>
            </a:r>
            <a:endParaRPr lang="en-US" sz="1900" dirty="0"/>
          </a:p>
        </p:txBody>
      </p:sp>
      <p:sp>
        <p:nvSpPr>
          <p:cNvPr id="4" name="layer_1"/>
          <p:cNvSpPr/>
          <p:nvPr/>
        </p:nvSpPr>
        <p:spPr>
          <a:xfrm>
            <a:off x="762000" y="1968500"/>
            <a:ext cx="14732000" cy="6985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layer_2"/>
          <p:cNvSpPr/>
          <p:nvPr/>
        </p:nvSpPr>
        <p:spPr>
          <a:xfrm>
            <a:off x="762000" y="2768600"/>
            <a:ext cx="14732000" cy="698500"/>
          </a:xfrm>
          <a:prstGeom prst="rect">
            <a:avLst/>
          </a:prstGeom>
          <a:solidFill>
            <a:srgbClr val="F4F5F7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layer_3"/>
          <p:cNvSpPr/>
          <p:nvPr/>
        </p:nvSpPr>
        <p:spPr>
          <a:xfrm>
            <a:off x="762000" y="3568700"/>
            <a:ext cx="14732000" cy="6985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7" name="layer_4"/>
          <p:cNvSpPr/>
          <p:nvPr/>
        </p:nvSpPr>
        <p:spPr>
          <a:xfrm>
            <a:off x="762000" y="4368800"/>
            <a:ext cx="14732000" cy="698500"/>
          </a:xfrm>
          <a:prstGeom prst="rect">
            <a:avLst/>
          </a:prstGeom>
          <a:solidFill>
            <a:srgbClr val="F4F5F7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layer_5"/>
          <p:cNvSpPr/>
          <p:nvPr/>
        </p:nvSpPr>
        <p:spPr>
          <a:xfrm>
            <a:off x="762000" y="5168900"/>
            <a:ext cx="14732000" cy="6985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9" name="layer_6"/>
          <p:cNvSpPr/>
          <p:nvPr/>
        </p:nvSpPr>
        <p:spPr>
          <a:xfrm>
            <a:off x="762000" y="5969000"/>
            <a:ext cx="14732000" cy="698500"/>
          </a:xfrm>
          <a:prstGeom prst="rect">
            <a:avLst/>
          </a:prstGeom>
          <a:solidFill>
            <a:srgbClr val="F4F5F7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layer_1_text"/>
          <p:cNvSpPr/>
          <p:nvPr/>
        </p:nvSpPr>
        <p:spPr>
          <a:xfrm>
            <a:off x="1117600" y="2184400"/>
            <a:ext cx="1384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altLang="en-US" sz="2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 Perimeter / fencing                                  Defines the boundary and delays crossing.</a:t>
            </a:r>
            <a:endParaRPr lang="en-US" sz="2000" dirty="0"/>
          </a:p>
        </p:txBody>
      </p:sp>
      <p:sp>
        <p:nvSpPr>
          <p:cNvPr id="11" name="layer_2_text"/>
          <p:cNvSpPr/>
          <p:nvPr/>
        </p:nvSpPr>
        <p:spPr>
          <a:xfrm>
            <a:off x="1117600" y="2984500"/>
            <a:ext cx="1384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altLang="en-US" sz="20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 Controlled gates                                      Controls transitions and separates movements.</a:t>
            </a:r>
            <a:endParaRPr lang="en-US" sz="2000" dirty="0"/>
          </a:p>
        </p:txBody>
      </p:sp>
      <p:sp>
        <p:nvSpPr>
          <p:cNvPr id="12" name="layer_3_text"/>
          <p:cNvSpPr/>
          <p:nvPr/>
        </p:nvSpPr>
        <p:spPr>
          <a:xfrm>
            <a:off x="1117600" y="3784600"/>
            <a:ext cx="1384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altLang="en-US" sz="2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 Security zoning                                       Increases protection as sensitivity increases.</a:t>
            </a:r>
            <a:endParaRPr lang="en-US" sz="2000" dirty="0"/>
          </a:p>
        </p:txBody>
      </p:sp>
      <p:sp>
        <p:nvSpPr>
          <p:cNvPr id="13" name="layer_4_text"/>
          <p:cNvSpPr/>
          <p:nvPr/>
        </p:nvSpPr>
        <p:spPr>
          <a:xfrm>
            <a:off x="1117600" y="4584700"/>
            <a:ext cx="1384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altLang="en-US" sz="20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 Access authorization                           Connects entry to role, purpose, time, and need.</a:t>
            </a:r>
            <a:endParaRPr lang="en-US" sz="2000" dirty="0"/>
          </a:p>
        </p:txBody>
      </p:sp>
      <p:sp>
        <p:nvSpPr>
          <p:cNvPr id="14" name="layer_5_text"/>
          <p:cNvSpPr/>
          <p:nvPr/>
        </p:nvSpPr>
        <p:spPr>
          <a:xfrm>
            <a:off x="1117600" y="5384800"/>
            <a:ext cx="1384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altLang="en-US" sz="2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  Monitoring / access logging            Improves accountability, detection, and review.</a:t>
            </a:r>
            <a:endParaRPr lang="en-US" sz="2000" dirty="0"/>
          </a:p>
        </p:txBody>
      </p:sp>
      <p:sp>
        <p:nvSpPr>
          <p:cNvPr id="15" name="layer_6_text"/>
          <p:cNvSpPr/>
          <p:nvPr/>
        </p:nvSpPr>
        <p:spPr>
          <a:xfrm>
            <a:off x="1117600" y="6184900"/>
            <a:ext cx="1384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altLang="en-US" sz="20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  Emergency procedures                         Provides managed response for fire, outage, and urgent conditions.</a:t>
            </a:r>
            <a:endParaRPr lang="en-US" sz="2000" dirty="0"/>
          </a:p>
        </p:txBody>
      </p:sp>
      <p:sp>
        <p:nvSpPr>
          <p:cNvPr id="16" name="layer_principle"/>
          <p:cNvSpPr/>
          <p:nvPr/>
        </p:nvSpPr>
        <p:spPr>
          <a:xfrm>
            <a:off x="762000" y="7213600"/>
            <a:ext cx="14732000" cy="609600"/>
          </a:xfrm>
          <a:prstGeom prst="rect">
            <a:avLst/>
          </a:prstGeom>
          <a:solidFill>
            <a:srgbClr val="8B2635"/>
          </a:solidFill>
          <a:ln/>
        </p:spPr>
      </p:sp>
      <p:sp>
        <p:nvSpPr>
          <p:cNvPr id="17" name="layer_principle_text"/>
          <p:cNvSpPr/>
          <p:nvPr/>
        </p:nvSpPr>
        <p:spPr>
          <a:xfrm>
            <a:off x="1066800" y="7378700"/>
            <a:ext cx="14097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altLang="en-US" sz="1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Failure of one layer should not automatically create unrestricted access.</a:t>
            </a:r>
            <a:endParaRPr lang="en-US" sz="1900" dirty="0"/>
          </a:p>
        </p:txBody>
      </p:sp>
      <p:sp>
        <p:nvSpPr>
          <p:cNvPr id="18" name="layer_source"/>
          <p:cNvSpPr/>
          <p:nvPr/>
        </p:nvSpPr>
        <p:spPr>
          <a:xfrm>
            <a:off x="762000" y="8064500"/>
            <a:ext cx="1143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3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Layered security and physical-protection framing supported by CISA guidance [3] [4].</a:t>
            </a:r>
            <a:endParaRPr lang="en-US" sz="1300" dirty="0"/>
          </a:p>
        </p:txBody>
      </p:sp>
      <p:sp>
        <p:nvSpPr>
          <p:cNvPr id="19" name="layer_footer_rule"/>
          <p:cNvSpPr/>
          <p:nvPr/>
        </p:nvSpPr>
        <p:spPr>
          <a:xfrm>
            <a:off x="12674600" y="8686800"/>
            <a:ext cx="12700" cy="2286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0" name="layer_footer"/>
          <p:cNvSpPr/>
          <p:nvPr/>
        </p:nvSpPr>
        <p:spPr>
          <a:xfrm>
            <a:off x="12827000" y="8686800"/>
            <a:ext cx="2794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altLang="en-US" sz="12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27 AUG 2026  ·  07 / 12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s_title"/>
          <p:cNvSpPr/>
          <p:nvPr/>
        </p:nvSpPr>
        <p:spPr>
          <a:xfrm>
            <a:off x="762000" y="685800"/>
            <a:ext cx="10795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2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Environmental Resilience</a:t>
            </a:r>
            <a:endParaRPr lang="en-US" sz="3200" dirty="0"/>
          </a:p>
        </p:txBody>
      </p:sp>
      <p:sp>
        <p:nvSpPr>
          <p:cNvPr id="3" name="res_kicker"/>
          <p:cNvSpPr/>
          <p:nvPr/>
        </p:nvSpPr>
        <p:spPr>
          <a:xfrm>
            <a:off x="762000" y="1320800"/>
            <a:ext cx="14224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9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farm context changes the physical design: heat, dust, weather, fire, and outages are design inputs.</a:t>
            </a:r>
            <a:endParaRPr lang="en-US" sz="1900" dirty="0"/>
          </a:p>
        </p:txBody>
      </p:sp>
      <p:sp>
        <p:nvSpPr>
          <p:cNvPr id="4" name="res_header"/>
          <p:cNvSpPr/>
          <p:nvPr/>
        </p:nvSpPr>
        <p:spPr>
          <a:xfrm>
            <a:off x="762000" y="1968500"/>
            <a:ext cx="14732000" cy="5080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res_header_left"/>
          <p:cNvSpPr/>
          <p:nvPr/>
        </p:nvSpPr>
        <p:spPr>
          <a:xfrm>
            <a:off x="1066800" y="2108200"/>
            <a:ext cx="330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CONDITION</a:t>
            </a:r>
            <a:endParaRPr lang="en-US" sz="1500" dirty="0"/>
          </a:p>
        </p:txBody>
      </p:sp>
      <p:sp>
        <p:nvSpPr>
          <p:cNvPr id="6" name="res_header_right"/>
          <p:cNvSpPr/>
          <p:nvPr/>
        </p:nvSpPr>
        <p:spPr>
          <a:xfrm>
            <a:off x="4953000" y="2108200"/>
            <a:ext cx="10033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PHYSICAL DESIGN RESPONSE</a:t>
            </a:r>
            <a:endParaRPr lang="en-US" sz="1500" dirty="0"/>
          </a:p>
        </p:txBody>
      </p:sp>
      <p:sp>
        <p:nvSpPr>
          <p:cNvPr id="7" name="res_row1"/>
          <p:cNvSpPr/>
          <p:nvPr/>
        </p:nvSpPr>
        <p:spPr>
          <a:xfrm>
            <a:off x="762000" y="2578100"/>
            <a:ext cx="14732000" cy="635000"/>
          </a:xfrm>
          <a:prstGeom prst="rect">
            <a:avLst/>
          </a:prstGeom>
          <a:solidFill>
            <a:srgbClr val="F7EEF1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res_row2"/>
          <p:cNvSpPr/>
          <p:nvPr/>
        </p:nvSpPr>
        <p:spPr>
          <a:xfrm>
            <a:off x="762000" y="3314700"/>
            <a:ext cx="14732000" cy="635000"/>
          </a:xfrm>
          <a:prstGeom prst="rect">
            <a:avLst/>
          </a:prstGeom>
          <a:solidFill>
            <a:srgbClr val="F4F5F7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res_row3"/>
          <p:cNvSpPr/>
          <p:nvPr/>
        </p:nvSpPr>
        <p:spPr>
          <a:xfrm>
            <a:off x="762000" y="4051300"/>
            <a:ext cx="14732000" cy="635000"/>
          </a:xfrm>
          <a:prstGeom prst="rect">
            <a:avLst/>
          </a:prstGeom>
          <a:solidFill>
            <a:srgbClr val="F7EEF1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res_row4"/>
          <p:cNvSpPr/>
          <p:nvPr/>
        </p:nvSpPr>
        <p:spPr>
          <a:xfrm>
            <a:off x="762000" y="4787900"/>
            <a:ext cx="14732000" cy="635000"/>
          </a:xfrm>
          <a:prstGeom prst="rect">
            <a:avLst/>
          </a:prstGeom>
          <a:solidFill>
            <a:srgbClr val="F4F5F7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res_row5"/>
          <p:cNvSpPr/>
          <p:nvPr/>
        </p:nvSpPr>
        <p:spPr>
          <a:xfrm>
            <a:off x="762000" y="5524500"/>
            <a:ext cx="14732000" cy="635000"/>
          </a:xfrm>
          <a:prstGeom prst="rect">
            <a:avLst/>
          </a:prstGeom>
          <a:solidFill>
            <a:srgbClr val="F7EEF1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res_heat"/>
          <p:cNvSpPr/>
          <p:nvPr/>
        </p:nvSpPr>
        <p:spPr>
          <a:xfrm>
            <a:off x="1066800" y="2755900"/>
            <a:ext cx="330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2000" dirty="0">
                <a:solidFill>
                  <a:srgbClr val="8B26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Heat</a:t>
            </a:r>
            <a:endParaRPr lang="en-US" sz="2000" dirty="0"/>
          </a:p>
        </p:txBody>
      </p:sp>
      <p:sp>
        <p:nvSpPr>
          <p:cNvPr id="13" name="res_heat_text"/>
          <p:cNvSpPr/>
          <p:nvPr/>
        </p:nvSpPr>
        <p:spPr>
          <a:xfrm>
            <a:off x="4953000" y="2730500"/>
            <a:ext cx="10033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altLang="en-US" sz="16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Equipment appropriate for actual conditions; shade / passive cooling where appropriate; inspection.</a:t>
            </a:r>
            <a:endParaRPr lang="en-US" sz="1600" dirty="0"/>
          </a:p>
        </p:txBody>
      </p:sp>
      <p:sp>
        <p:nvSpPr>
          <p:cNvPr id="14" name="res_dust"/>
          <p:cNvSpPr/>
          <p:nvPr/>
        </p:nvSpPr>
        <p:spPr>
          <a:xfrm>
            <a:off x="1066800" y="3492500"/>
            <a:ext cx="330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2000" dirty="0">
                <a:solidFill>
                  <a:srgbClr val="8B26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Harmattan / dust</a:t>
            </a:r>
            <a:endParaRPr lang="en-US" sz="2000" dirty="0"/>
          </a:p>
        </p:txBody>
      </p:sp>
      <p:sp>
        <p:nvSpPr>
          <p:cNvPr id="15" name="res_dust_text"/>
          <p:cNvSpPr/>
          <p:nvPr/>
        </p:nvSpPr>
        <p:spPr>
          <a:xfrm>
            <a:off x="4953000" y="3467100"/>
            <a:ext cx="10033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altLang="en-US" sz="16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Weather-resistant / sealed enclosures where appropriate; protect optics; clean and maintain.</a:t>
            </a:r>
            <a:endParaRPr lang="en-US" sz="1600" dirty="0"/>
          </a:p>
        </p:txBody>
      </p:sp>
      <p:sp>
        <p:nvSpPr>
          <p:cNvPr id="16" name="res_rain"/>
          <p:cNvSpPr/>
          <p:nvPr/>
        </p:nvSpPr>
        <p:spPr>
          <a:xfrm>
            <a:off x="1066800" y="4229100"/>
            <a:ext cx="330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2000" dirty="0">
                <a:solidFill>
                  <a:srgbClr val="8B26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Rain / wind</a:t>
            </a:r>
            <a:endParaRPr lang="en-US" sz="2000" dirty="0"/>
          </a:p>
        </p:txBody>
      </p:sp>
      <p:sp>
        <p:nvSpPr>
          <p:cNvPr id="17" name="res_rain_text"/>
          <p:cNvSpPr/>
          <p:nvPr/>
        </p:nvSpPr>
        <p:spPr>
          <a:xfrm>
            <a:off x="4953000" y="4203700"/>
            <a:ext cx="10033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altLang="en-US" sz="16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Corrosion protection; robust mounting; site-specific foundations; post-weather inspection.</a:t>
            </a:r>
            <a:endParaRPr lang="en-US" sz="1600" dirty="0"/>
          </a:p>
        </p:txBody>
      </p:sp>
      <p:sp>
        <p:nvSpPr>
          <p:cNvPr id="18" name="res_fire"/>
          <p:cNvSpPr/>
          <p:nvPr/>
        </p:nvSpPr>
        <p:spPr>
          <a:xfrm>
            <a:off x="1066800" y="4965700"/>
            <a:ext cx="330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2000" dirty="0">
                <a:solidFill>
                  <a:srgbClr val="8B26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Bushfire</a:t>
            </a:r>
            <a:endParaRPr lang="en-US" sz="2000" dirty="0"/>
          </a:p>
        </p:txBody>
      </p:sp>
      <p:sp>
        <p:nvSpPr>
          <p:cNvPr id="19" name="res_fire_text"/>
          <p:cNvSpPr/>
          <p:nvPr/>
        </p:nvSpPr>
        <p:spPr>
          <a:xfrm>
            <a:off x="4953000" y="4940300"/>
            <a:ext cx="10033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altLang="en-US" sz="16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Retain the 10 m vegetation-free firebreak as a project requirement; validate feasibility on site.</a:t>
            </a:r>
            <a:endParaRPr lang="en-US" sz="1600" dirty="0"/>
          </a:p>
        </p:txBody>
      </p:sp>
      <p:sp>
        <p:nvSpPr>
          <p:cNvPr id="20" name="res_power"/>
          <p:cNvSpPr/>
          <p:nvPr/>
        </p:nvSpPr>
        <p:spPr>
          <a:xfrm>
            <a:off x="1066800" y="5702300"/>
            <a:ext cx="330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2000" dirty="0">
                <a:solidFill>
                  <a:srgbClr val="8B26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 outage</a:t>
            </a:r>
            <a:endParaRPr lang="en-US" sz="2000" dirty="0"/>
          </a:p>
        </p:txBody>
      </p:sp>
      <p:sp>
        <p:nvSpPr>
          <p:cNvPr id="21" name="res_power_text"/>
          <p:cNvSpPr/>
          <p:nvPr/>
        </p:nvSpPr>
        <p:spPr>
          <a:xfrm>
            <a:off x="4953000" y="5676900"/>
            <a:ext cx="10033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altLang="en-US" sz="16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Dedicated backup power; retain 72-hour autonomy as a preliminary target, not a final electrical calculation.</a:t>
            </a:r>
            <a:endParaRPr lang="en-US" sz="1600" dirty="0"/>
          </a:p>
        </p:txBody>
      </p:sp>
      <p:sp>
        <p:nvSpPr>
          <p:cNvPr id="22" name="res_callout"/>
          <p:cNvSpPr/>
          <p:nvPr/>
        </p:nvSpPr>
        <p:spPr>
          <a:xfrm>
            <a:off x="762000" y="6794500"/>
            <a:ext cx="14732000" cy="6985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3" name="res_callout_text"/>
          <p:cNvSpPr/>
          <p:nvPr/>
        </p:nvSpPr>
        <p:spPr>
          <a:xfrm>
            <a:off x="1066800" y="6959600"/>
            <a:ext cx="14097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alt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requirements are retained; exact ratings, feasibility, and power sizing remain subject to validation and engineering review.</a:t>
            </a:r>
            <a:endParaRPr lang="en-US" sz="1600" dirty="0"/>
          </a:p>
        </p:txBody>
      </p:sp>
      <p:sp>
        <p:nvSpPr>
          <p:cNvPr id="24" name="res_footer_rule"/>
          <p:cNvSpPr/>
          <p:nvPr/>
        </p:nvSpPr>
        <p:spPr>
          <a:xfrm>
            <a:off x="12674600" y="8686800"/>
            <a:ext cx="12700" cy="2286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5" name="res_footer"/>
          <p:cNvSpPr/>
          <p:nvPr/>
        </p:nvSpPr>
        <p:spPr>
          <a:xfrm>
            <a:off x="12827000" y="8686800"/>
            <a:ext cx="2794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altLang="en-US" sz="12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27 AUG 2026  ·  08 / 12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c_title"/>
          <p:cNvSpPr/>
          <p:nvPr/>
        </p:nvSpPr>
        <p:spPr>
          <a:xfrm>
            <a:off x="762000" y="685800"/>
            <a:ext cx="10795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2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Preliminary Physical Specification</a:t>
            </a:r>
            <a:endParaRPr lang="en-US" sz="3200" dirty="0"/>
          </a:p>
        </p:txBody>
      </p:sp>
      <p:sp>
        <p:nvSpPr>
          <p:cNvPr id="3" name="spec_kicker"/>
          <p:cNvSpPr/>
          <p:nvPr/>
        </p:nvSpPr>
        <p:spPr>
          <a:xfrm>
            <a:off x="762000" y="1320800"/>
            <a:ext cx="14224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9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is specified now — and what is deliberately left open for validation.</a:t>
            </a:r>
            <a:endParaRPr lang="en-US" sz="1900" dirty="0"/>
          </a:p>
        </p:txBody>
      </p:sp>
      <p:graphicFrame>
        <p:nvGraphicFramePr>
          <p:cNvPr id="10" name="spec_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905000"/>
          <a:ext cx="14732000" cy="5461000"/>
        </p:xfrm>
        <a:graphic>
          <a:graphicData uri="http://schemas.openxmlformats.org/drawingml/2006/table">
            <a:tbl>
              <a:tblPr/>
              <a:tblGrid>
                <a:gridCol w="3051628"/>
                <a:gridCol w="6208486"/>
                <a:gridCol w="5471887"/>
              </a:tblGrid>
              <a:tr h="58420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COMPONENT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101600" marB="10160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PRELIMINARY SPECIFICATION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101600" marB="1016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SECURITY PURPOSE / VALIDATION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101600" marB="1016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812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b="1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Perimeter fence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101600" marB="10160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Rigid anti-climb mesh where needed; durable metallic system; corrosion protection.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101600" marB="1016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Intrusion delay and boundary control. Validate threat, dimensions, soil, and engineering.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101600" marB="1016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12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b="1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Gates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101600" marB="10160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Four conceptual functions: main, visitor, staff/operational, service/emergency.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101600" marB="1016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Separate movements. Validate locations, turning radii, throughput, and emergency procedure.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101600" marB="1016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12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b="1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Boundary signage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101600" marB="10160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Clear security, safety, and direction signage at approaches and transitions.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101600" marB="1016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Make rules legible. Validate language, visibility, placement, and durability.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101600" marB="1016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12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b="1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Firebreak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101600" marB="10160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b="1" dirty="0">
                          <a:solidFill>
                            <a:srgbClr val="8B263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10 m vegetation-free</a:t>
                      </a:r>
                      <a:r>
                        <a:rPr lang="en-US" altLang="en-US" sz="14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 project requirement; feasibility to be checked on site.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101600" marB="1016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Reduce combustible fuel. Validate site width, access, drainage, and maintenance.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101600" marB="1016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12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b="1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Outdoor equipment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101600" marB="10160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Weather-resistant / sealed where appropriate; shade / passive cooling; robust mounting.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101600" marB="1016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Support reliability. Validate exposure, enclosure data, cleaning, and spares.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101600" marB="1016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12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b="1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Security power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101600" marB="10160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Dedicated backup; </a:t>
                      </a:r>
                      <a:r>
                        <a:rPr lang="en-US" altLang="en-US" sz="1400" b="1" dirty="0">
                          <a:solidFill>
                            <a:srgbClr val="8B263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72-hour autonomy</a:t>
                      </a:r>
                      <a:r>
                        <a:rPr lang="en-US" altLang="en-US" sz="14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 preliminary project target.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101600" marB="1016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Maintain critical functions. Validate load, battery sizing, recharge, testing, and lifecycle.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101600" marB="1016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pec_banner"/>
          <p:cNvSpPr/>
          <p:nvPr/>
        </p:nvSpPr>
        <p:spPr>
          <a:xfrm>
            <a:off x="762000" y="7670800"/>
            <a:ext cx="14732000" cy="482600"/>
          </a:xfrm>
          <a:prstGeom prst="rect">
            <a:avLst/>
          </a:prstGeom>
          <a:solidFill>
            <a:srgbClr val="8B2635"/>
          </a:solidFill>
          <a:ln/>
        </p:spPr>
      </p:sp>
      <p:sp>
        <p:nvSpPr>
          <p:cNvPr id="6" name="spec_banner_text"/>
          <p:cNvSpPr/>
          <p:nvPr/>
        </p:nvSpPr>
        <p:spPr>
          <a:xfrm>
            <a:off x="1066800" y="7797800"/>
            <a:ext cx="14097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PRELIMINARY DESIGN BASELINE  ≠  FINAL PROCUREMENT SPECIFICATION</a:t>
            </a:r>
            <a:endParaRPr lang="en-US" sz="1500" dirty="0"/>
          </a:p>
        </p:txBody>
      </p:sp>
      <p:sp>
        <p:nvSpPr>
          <p:cNvPr id="7" name="spec_footer_rule"/>
          <p:cNvSpPr/>
          <p:nvPr/>
        </p:nvSpPr>
        <p:spPr>
          <a:xfrm>
            <a:off x="12674600" y="8686800"/>
            <a:ext cx="12700" cy="2286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" name="spec_footer"/>
          <p:cNvSpPr/>
          <p:nvPr/>
        </p:nvSpPr>
        <p:spPr>
          <a:xfrm>
            <a:off x="12827000" y="8686800"/>
            <a:ext cx="2794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altLang="en-US" sz="12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27 AUG 2026  ·  09 / 12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race_title"/>
          <p:cNvSpPr/>
          <p:nvPr/>
        </p:nvSpPr>
        <p:spPr>
          <a:xfrm>
            <a:off x="762000" y="685800"/>
            <a:ext cx="1143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2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 → Design Traceability</a:t>
            </a:r>
            <a:endParaRPr lang="en-US" sz="3200" dirty="0"/>
          </a:p>
        </p:txBody>
      </p:sp>
      <p:sp>
        <p:nvSpPr>
          <p:cNvPr id="3" name="trace_kicker"/>
          <p:cNvSpPr/>
          <p:nvPr/>
        </p:nvSpPr>
        <p:spPr>
          <a:xfrm>
            <a:off x="762000" y="1320800"/>
            <a:ext cx="14224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9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Week 6 physical response is anchored to an existing risk and an intended security function.</a:t>
            </a:r>
            <a:endParaRPr lang="en-US" sz="1900" dirty="0"/>
          </a:p>
        </p:txBody>
      </p:sp>
      <p:sp>
        <p:nvSpPr>
          <p:cNvPr id="4" name="trace_header"/>
          <p:cNvSpPr/>
          <p:nvPr/>
        </p:nvSpPr>
        <p:spPr>
          <a:xfrm>
            <a:off x="762000" y="1905000"/>
            <a:ext cx="14732000" cy="5334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race_h1"/>
          <p:cNvSpPr/>
          <p:nvPr/>
        </p:nvSpPr>
        <p:spPr>
          <a:xfrm>
            <a:off x="990600" y="2057400"/>
            <a:ext cx="2667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</a:t>
            </a:r>
            <a:endParaRPr lang="en-US" sz="1500" dirty="0"/>
          </a:p>
        </p:txBody>
      </p:sp>
      <p:sp>
        <p:nvSpPr>
          <p:cNvPr id="6" name="trace_h2"/>
          <p:cNvSpPr/>
          <p:nvPr/>
        </p:nvSpPr>
        <p:spPr>
          <a:xfrm>
            <a:off x="4038600" y="2057400"/>
            <a:ext cx="29845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REQUIREMENT</a:t>
            </a:r>
            <a:endParaRPr lang="en-US" sz="1500" dirty="0"/>
          </a:p>
        </p:txBody>
      </p:sp>
      <p:sp>
        <p:nvSpPr>
          <p:cNvPr id="7" name="trace_h3"/>
          <p:cNvSpPr/>
          <p:nvPr/>
        </p:nvSpPr>
        <p:spPr>
          <a:xfrm>
            <a:off x="7366000" y="2057400"/>
            <a:ext cx="3683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PHYSICAL MEASURE</a:t>
            </a:r>
            <a:endParaRPr lang="en-US" sz="1500" dirty="0"/>
          </a:p>
        </p:txBody>
      </p:sp>
      <p:sp>
        <p:nvSpPr>
          <p:cNvPr id="8" name="trace_h4"/>
          <p:cNvSpPr/>
          <p:nvPr/>
        </p:nvSpPr>
        <p:spPr>
          <a:xfrm>
            <a:off x="11430000" y="2057400"/>
            <a:ext cx="36195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FUNCTION</a:t>
            </a:r>
            <a:endParaRPr lang="en-US" sz="1500" dirty="0"/>
          </a:p>
        </p:txBody>
      </p:sp>
      <p:sp>
        <p:nvSpPr>
          <p:cNvPr id="9" name="trace_r1"/>
          <p:cNvSpPr/>
          <p:nvPr/>
        </p:nvSpPr>
        <p:spPr>
          <a:xfrm>
            <a:off x="762000" y="2514600"/>
            <a:ext cx="14732000" cy="736600"/>
          </a:xfrm>
          <a:prstGeom prst="rect">
            <a:avLst/>
          </a:prstGeom>
          <a:solidFill>
            <a:srgbClr val="F7EEF1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trace_r2"/>
          <p:cNvSpPr/>
          <p:nvPr/>
        </p:nvSpPr>
        <p:spPr>
          <a:xfrm>
            <a:off x="762000" y="3251200"/>
            <a:ext cx="14732000" cy="736600"/>
          </a:xfrm>
          <a:prstGeom prst="rect">
            <a:avLst/>
          </a:prstGeom>
          <a:solidFill>
            <a:srgbClr val="F4F5F7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race_r3"/>
          <p:cNvSpPr/>
          <p:nvPr/>
        </p:nvSpPr>
        <p:spPr>
          <a:xfrm>
            <a:off x="762000" y="3987800"/>
            <a:ext cx="14732000" cy="736600"/>
          </a:xfrm>
          <a:prstGeom prst="rect">
            <a:avLst/>
          </a:prstGeom>
          <a:solidFill>
            <a:srgbClr val="F7EEF1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trace_r4"/>
          <p:cNvSpPr/>
          <p:nvPr/>
        </p:nvSpPr>
        <p:spPr>
          <a:xfrm>
            <a:off x="762000" y="4724400"/>
            <a:ext cx="14732000" cy="736600"/>
          </a:xfrm>
          <a:prstGeom prst="rect">
            <a:avLst/>
          </a:prstGeom>
          <a:solidFill>
            <a:srgbClr val="F4F5F7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race_r5"/>
          <p:cNvSpPr/>
          <p:nvPr/>
        </p:nvSpPr>
        <p:spPr>
          <a:xfrm>
            <a:off x="762000" y="5461000"/>
            <a:ext cx="14732000" cy="736600"/>
          </a:xfrm>
          <a:prstGeom prst="rect">
            <a:avLst/>
          </a:prstGeom>
          <a:solidFill>
            <a:srgbClr val="F7EEF1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trace_r6"/>
          <p:cNvSpPr/>
          <p:nvPr/>
        </p:nvSpPr>
        <p:spPr>
          <a:xfrm>
            <a:off x="762000" y="6197600"/>
            <a:ext cx="14732000" cy="736600"/>
          </a:xfrm>
          <a:prstGeom prst="rect">
            <a:avLst/>
          </a:prstGeom>
          <a:solidFill>
            <a:srgbClr val="F4F5F7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trace_c1"/>
          <p:cNvSpPr/>
          <p:nvPr/>
        </p:nvSpPr>
        <p:spPr>
          <a:xfrm>
            <a:off x="990600" y="2743200"/>
            <a:ext cx="2667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8B26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Fence cutting</a:t>
            </a:r>
            <a:endParaRPr lang="en-US" sz="1500" dirty="0"/>
          </a:p>
        </p:txBody>
      </p:sp>
      <p:sp>
        <p:nvSpPr>
          <p:cNvPr id="16" name="trace_c2"/>
          <p:cNvSpPr/>
          <p:nvPr/>
        </p:nvSpPr>
        <p:spPr>
          <a:xfrm>
            <a:off x="4038600" y="2743200"/>
            <a:ext cx="29845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Intrusion-resistant perimeter</a:t>
            </a:r>
            <a:endParaRPr lang="en-US" sz="1500" dirty="0"/>
          </a:p>
        </p:txBody>
      </p:sp>
      <p:sp>
        <p:nvSpPr>
          <p:cNvPr id="17" name="trace_c3"/>
          <p:cNvSpPr/>
          <p:nvPr/>
        </p:nvSpPr>
        <p:spPr>
          <a:xfrm>
            <a:off x="7366000" y="2743200"/>
            <a:ext cx="3683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Rigid anti-climb fencing</a:t>
            </a:r>
            <a:endParaRPr lang="en-US" sz="1500" dirty="0"/>
          </a:p>
        </p:txBody>
      </p:sp>
      <p:sp>
        <p:nvSpPr>
          <p:cNvPr id="18" name="trace_c4"/>
          <p:cNvSpPr/>
          <p:nvPr/>
        </p:nvSpPr>
        <p:spPr>
          <a:xfrm>
            <a:off x="11430000" y="2743200"/>
            <a:ext cx="36195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Delay / deter crossing</a:t>
            </a:r>
            <a:endParaRPr lang="en-US" sz="1500" dirty="0"/>
          </a:p>
        </p:txBody>
      </p:sp>
      <p:sp>
        <p:nvSpPr>
          <p:cNvPr id="19" name="trace_c5"/>
          <p:cNvSpPr/>
          <p:nvPr/>
        </p:nvSpPr>
        <p:spPr>
          <a:xfrm>
            <a:off x="990600" y="3479800"/>
            <a:ext cx="2667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8B26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Unauthorized access</a:t>
            </a:r>
            <a:endParaRPr lang="en-US" sz="1500" dirty="0"/>
          </a:p>
        </p:txBody>
      </p:sp>
      <p:sp>
        <p:nvSpPr>
          <p:cNvPr id="20" name="trace_c6"/>
          <p:cNvSpPr/>
          <p:nvPr/>
        </p:nvSpPr>
        <p:spPr>
          <a:xfrm>
            <a:off x="4038600" y="3479800"/>
            <a:ext cx="29845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Controlled transitions</a:t>
            </a:r>
            <a:endParaRPr lang="en-US" sz="1500" dirty="0"/>
          </a:p>
        </p:txBody>
      </p:sp>
      <p:sp>
        <p:nvSpPr>
          <p:cNvPr id="21" name="trace_c7"/>
          <p:cNvSpPr/>
          <p:nvPr/>
        </p:nvSpPr>
        <p:spPr>
          <a:xfrm>
            <a:off x="7366000" y="3479800"/>
            <a:ext cx="3683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Differentiated gates + zones</a:t>
            </a:r>
            <a:endParaRPr lang="en-US" sz="1500" dirty="0"/>
          </a:p>
        </p:txBody>
      </p:sp>
      <p:sp>
        <p:nvSpPr>
          <p:cNvPr id="22" name="trace_c8"/>
          <p:cNvSpPr/>
          <p:nvPr/>
        </p:nvSpPr>
        <p:spPr>
          <a:xfrm>
            <a:off x="11430000" y="3479800"/>
            <a:ext cx="36195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Restrict authorized movement</a:t>
            </a:r>
            <a:endParaRPr lang="en-US" sz="1500" dirty="0"/>
          </a:p>
        </p:txBody>
      </p:sp>
      <p:sp>
        <p:nvSpPr>
          <p:cNvPr id="23" name="trace_c9"/>
          <p:cNvSpPr/>
          <p:nvPr/>
        </p:nvSpPr>
        <p:spPr>
          <a:xfrm>
            <a:off x="990600" y="4216400"/>
            <a:ext cx="2667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8B26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Bushfire</a:t>
            </a:r>
            <a:endParaRPr lang="en-US" sz="1500" dirty="0"/>
          </a:p>
        </p:txBody>
      </p:sp>
      <p:sp>
        <p:nvSpPr>
          <p:cNvPr id="24" name="trace_c10"/>
          <p:cNvSpPr/>
          <p:nvPr/>
        </p:nvSpPr>
        <p:spPr>
          <a:xfrm>
            <a:off x="4038600" y="4216400"/>
            <a:ext cx="29845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Protected perimeter</a:t>
            </a:r>
            <a:endParaRPr lang="en-US" sz="1500" dirty="0"/>
          </a:p>
        </p:txBody>
      </p:sp>
      <p:sp>
        <p:nvSpPr>
          <p:cNvPr id="25" name="trace_c11"/>
          <p:cNvSpPr/>
          <p:nvPr/>
        </p:nvSpPr>
        <p:spPr>
          <a:xfrm>
            <a:off x="7366000" y="4216400"/>
            <a:ext cx="3683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m vegetation-free firebreak</a:t>
            </a:r>
            <a:endParaRPr lang="en-US" sz="1500" dirty="0"/>
          </a:p>
        </p:txBody>
      </p:sp>
      <p:sp>
        <p:nvSpPr>
          <p:cNvPr id="26" name="trace_c12"/>
          <p:cNvSpPr/>
          <p:nvPr/>
        </p:nvSpPr>
        <p:spPr>
          <a:xfrm>
            <a:off x="11430000" y="4216400"/>
            <a:ext cx="36195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Reduce perimeter fire exposure</a:t>
            </a:r>
            <a:endParaRPr lang="en-US" sz="1500" dirty="0"/>
          </a:p>
        </p:txBody>
      </p:sp>
      <p:sp>
        <p:nvSpPr>
          <p:cNvPr id="27" name="trace_c13"/>
          <p:cNvSpPr/>
          <p:nvPr/>
        </p:nvSpPr>
        <p:spPr>
          <a:xfrm>
            <a:off x="990600" y="4953000"/>
            <a:ext cx="2667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8B26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 outage</a:t>
            </a:r>
            <a:endParaRPr lang="en-US" sz="1500" dirty="0"/>
          </a:p>
        </p:txBody>
      </p:sp>
      <p:sp>
        <p:nvSpPr>
          <p:cNvPr id="28" name="trace_c14"/>
          <p:cNvSpPr/>
          <p:nvPr/>
        </p:nvSpPr>
        <p:spPr>
          <a:xfrm>
            <a:off x="4038600" y="4953000"/>
            <a:ext cx="29845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Security continuity</a:t>
            </a:r>
            <a:endParaRPr lang="en-US" sz="1500" dirty="0"/>
          </a:p>
        </p:txBody>
      </p:sp>
      <p:sp>
        <p:nvSpPr>
          <p:cNvPr id="29" name="trace_c15"/>
          <p:cNvSpPr/>
          <p:nvPr/>
        </p:nvSpPr>
        <p:spPr>
          <a:xfrm>
            <a:off x="7366000" y="4953000"/>
            <a:ext cx="3683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Dedicated backup power</a:t>
            </a:r>
            <a:endParaRPr lang="en-US" sz="1500" dirty="0"/>
          </a:p>
        </p:txBody>
      </p:sp>
      <p:sp>
        <p:nvSpPr>
          <p:cNvPr id="30" name="trace_c16"/>
          <p:cNvSpPr/>
          <p:nvPr/>
        </p:nvSpPr>
        <p:spPr>
          <a:xfrm>
            <a:off x="11430000" y="4953000"/>
            <a:ext cx="36195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Maintain critical functions</a:t>
            </a:r>
            <a:endParaRPr lang="en-US" sz="1500" dirty="0"/>
          </a:p>
        </p:txBody>
      </p:sp>
      <p:sp>
        <p:nvSpPr>
          <p:cNvPr id="31" name="trace_c17"/>
          <p:cNvSpPr/>
          <p:nvPr/>
        </p:nvSpPr>
        <p:spPr>
          <a:xfrm>
            <a:off x="990600" y="5689600"/>
            <a:ext cx="2667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8B26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Extreme heat</a:t>
            </a:r>
            <a:endParaRPr lang="en-US" sz="1500" dirty="0"/>
          </a:p>
        </p:txBody>
      </p:sp>
      <p:sp>
        <p:nvSpPr>
          <p:cNvPr id="32" name="trace_c18"/>
          <p:cNvSpPr/>
          <p:nvPr/>
        </p:nvSpPr>
        <p:spPr>
          <a:xfrm>
            <a:off x="4038600" y="5689600"/>
            <a:ext cx="29845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Environmental resilience</a:t>
            </a:r>
            <a:endParaRPr lang="en-US" sz="1500" dirty="0"/>
          </a:p>
        </p:txBody>
      </p:sp>
      <p:sp>
        <p:nvSpPr>
          <p:cNvPr id="33" name="trace_c19"/>
          <p:cNvSpPr/>
          <p:nvPr/>
        </p:nvSpPr>
        <p:spPr>
          <a:xfrm>
            <a:off x="7366000" y="5689600"/>
            <a:ext cx="3683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Outdoor-rated equipment + cooling</a:t>
            </a:r>
            <a:endParaRPr lang="en-US" sz="1500" dirty="0"/>
          </a:p>
        </p:txBody>
      </p:sp>
      <p:sp>
        <p:nvSpPr>
          <p:cNvPr id="34" name="trace_c20"/>
          <p:cNvSpPr/>
          <p:nvPr/>
        </p:nvSpPr>
        <p:spPr>
          <a:xfrm>
            <a:off x="11430000" y="5689600"/>
            <a:ext cx="36195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Maintain reliability</a:t>
            </a:r>
            <a:endParaRPr lang="en-US" sz="1500" dirty="0"/>
          </a:p>
        </p:txBody>
      </p:sp>
      <p:sp>
        <p:nvSpPr>
          <p:cNvPr id="35" name="trace_c21"/>
          <p:cNvSpPr/>
          <p:nvPr/>
        </p:nvSpPr>
        <p:spPr>
          <a:xfrm>
            <a:off x="990600" y="6426200"/>
            <a:ext cx="2667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8B26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Dust</a:t>
            </a:r>
            <a:endParaRPr lang="en-US" sz="1500" dirty="0"/>
          </a:p>
        </p:txBody>
      </p:sp>
      <p:sp>
        <p:nvSpPr>
          <p:cNvPr id="36" name="trace_c22"/>
          <p:cNvSpPr/>
          <p:nvPr/>
        </p:nvSpPr>
        <p:spPr>
          <a:xfrm>
            <a:off x="4038600" y="6426200"/>
            <a:ext cx="29845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Equipment protection</a:t>
            </a:r>
            <a:endParaRPr lang="en-US" sz="1500" dirty="0"/>
          </a:p>
        </p:txBody>
      </p:sp>
      <p:sp>
        <p:nvSpPr>
          <p:cNvPr id="37" name="trace_c23"/>
          <p:cNvSpPr/>
          <p:nvPr/>
        </p:nvSpPr>
        <p:spPr>
          <a:xfrm>
            <a:off x="7366000" y="6426200"/>
            <a:ext cx="3683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Sealed / weather-resistant enclosure</a:t>
            </a:r>
            <a:endParaRPr lang="en-US" sz="1500" dirty="0"/>
          </a:p>
        </p:txBody>
      </p:sp>
      <p:sp>
        <p:nvSpPr>
          <p:cNvPr id="38" name="trace_c24"/>
          <p:cNvSpPr/>
          <p:nvPr/>
        </p:nvSpPr>
        <p:spPr>
          <a:xfrm>
            <a:off x="11430000" y="6426200"/>
            <a:ext cx="36195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Reduce degradation</a:t>
            </a:r>
            <a:endParaRPr lang="en-US" sz="1500" dirty="0"/>
          </a:p>
        </p:txBody>
      </p:sp>
      <p:sp>
        <p:nvSpPr>
          <p:cNvPr id="39" name="trace_note"/>
          <p:cNvSpPr/>
          <p:nvPr/>
        </p:nvSpPr>
        <p:spPr>
          <a:xfrm>
            <a:off x="762000" y="7493000"/>
            <a:ext cx="1422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physical measure is a preliminary project response; final products and dimensions remain subject to validation.</a:t>
            </a:r>
            <a:endParaRPr lang="en-US" sz="1400" dirty="0"/>
          </a:p>
        </p:txBody>
      </p:sp>
      <p:sp>
        <p:nvSpPr>
          <p:cNvPr id="40" name="trace_footer_rule"/>
          <p:cNvSpPr/>
          <p:nvPr/>
        </p:nvSpPr>
        <p:spPr>
          <a:xfrm>
            <a:off x="12674600" y="8686800"/>
            <a:ext cx="12700" cy="2286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1" name="trace_footer"/>
          <p:cNvSpPr/>
          <p:nvPr/>
        </p:nvSpPr>
        <p:spPr>
          <a:xfrm>
            <a:off x="12827000" y="8686800"/>
            <a:ext cx="2794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altLang="en-US" sz="12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27 AUG 2026  ·  10 / 12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al_title"/>
          <p:cNvSpPr/>
          <p:nvPr/>
        </p:nvSpPr>
        <p:spPr>
          <a:xfrm>
            <a:off x="762000" y="685800"/>
            <a:ext cx="1143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2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Validation Before Implementation</a:t>
            </a:r>
            <a:endParaRPr lang="en-US" sz="3200" dirty="0"/>
          </a:p>
        </p:txBody>
      </p:sp>
      <p:sp>
        <p:nvSpPr>
          <p:cNvPr id="3" name="val_kicker"/>
          <p:cNvSpPr/>
          <p:nvPr/>
        </p:nvSpPr>
        <p:spPr>
          <a:xfrm>
            <a:off x="762000" y="1320800"/>
            <a:ext cx="14224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9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must still be measured, verified, or engineered before construction or procurement?</a:t>
            </a:r>
            <a:endParaRPr lang="en-US" sz="1900" dirty="0"/>
          </a:p>
        </p:txBody>
      </p:sp>
      <p:sp>
        <p:nvSpPr>
          <p:cNvPr id="4" name="val_site_card"/>
          <p:cNvSpPr/>
          <p:nvPr/>
        </p:nvSpPr>
        <p:spPr>
          <a:xfrm>
            <a:off x="762000" y="2032000"/>
            <a:ext cx="3175000" cy="4191000"/>
          </a:xfrm>
          <a:prstGeom prst="rect">
            <a:avLst/>
          </a:prstGeom>
          <a:solidFill>
            <a:srgbClr val="F4F5F7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val_ops_card"/>
          <p:cNvSpPr/>
          <p:nvPr/>
        </p:nvSpPr>
        <p:spPr>
          <a:xfrm>
            <a:off x="4445000" y="2032000"/>
            <a:ext cx="3175000" cy="4191000"/>
          </a:xfrm>
          <a:prstGeom prst="rect">
            <a:avLst/>
          </a:prstGeom>
          <a:solidFill>
            <a:srgbClr val="F7EEF1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val_eng_card"/>
          <p:cNvSpPr/>
          <p:nvPr/>
        </p:nvSpPr>
        <p:spPr>
          <a:xfrm>
            <a:off x="8128000" y="2032000"/>
            <a:ext cx="3175000" cy="4191000"/>
          </a:xfrm>
          <a:prstGeom prst="rect">
            <a:avLst/>
          </a:prstGeom>
          <a:solidFill>
            <a:srgbClr val="F4F5F7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val_ready_card"/>
          <p:cNvSpPr/>
          <p:nvPr/>
        </p:nvSpPr>
        <p:spPr>
          <a:xfrm>
            <a:off x="11811000" y="2032000"/>
            <a:ext cx="3175000" cy="4191000"/>
          </a:xfrm>
          <a:prstGeom prst="rect">
            <a:avLst/>
          </a:prstGeom>
          <a:solidFill>
            <a:srgbClr val="F7EEF1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val_site_title"/>
          <p:cNvSpPr/>
          <p:nvPr/>
        </p:nvSpPr>
        <p:spPr>
          <a:xfrm>
            <a:off x="1066800" y="23622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22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SITE</a:t>
            </a:r>
            <a:endParaRPr lang="en-US" sz="2200" dirty="0"/>
          </a:p>
        </p:txBody>
      </p:sp>
      <p:sp>
        <p:nvSpPr>
          <p:cNvPr id="9" name="val_site_body"/>
          <p:cNvSpPr/>
          <p:nvPr/>
        </p:nvSpPr>
        <p:spPr>
          <a:xfrm>
            <a:off x="1066800" y="2997200"/>
            <a:ext cx="2540000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20"/>
              </a:lnSpc>
              <a:buNone/>
            </a:pPr>
            <a:r>
              <a:rPr lang="en-US" altLang="en-US" sz="16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Perimeter measurements</a:t>
            </a:r>
            <a:endParaRPr lang="en-US" sz="1600" dirty="0"/>
          </a:p>
          <a:p>
            <a:pPr algn="l" indent="0" marL="0">
              <a:lnSpc>
                <a:spcPts val="2320"/>
              </a:lnSpc>
              <a:buNone/>
            </a:pPr>
            <a:r>
              <a:rPr lang="en-US" altLang="en-US" sz="16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Gate locations</a:t>
            </a:r>
            <a:endParaRPr lang="en-US" sz="1600" dirty="0"/>
          </a:p>
          <a:p>
            <a:pPr algn="l" indent="0" marL="0">
              <a:lnSpc>
                <a:spcPts val="2320"/>
              </a:lnSpc>
              <a:buNone/>
            </a:pPr>
            <a:r>
              <a:rPr lang="en-US" altLang="en-US" sz="16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Soil / terrain</a:t>
            </a:r>
            <a:endParaRPr lang="en-US" sz="1600" dirty="0"/>
          </a:p>
          <a:p>
            <a:pPr algn="l" indent="0" marL="0">
              <a:lnSpc>
                <a:spcPts val="2320"/>
              </a:lnSpc>
              <a:buNone/>
            </a:pPr>
            <a:r>
              <a:rPr lang="en-US" altLang="en-US" sz="16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Drainage</a:t>
            </a:r>
            <a:endParaRPr lang="en-US" sz="1600" dirty="0"/>
          </a:p>
          <a:p>
            <a:pPr algn="l" indent="0" marL="0">
              <a:lnSpc>
                <a:spcPts val="2320"/>
              </a:lnSpc>
              <a:buNone/>
            </a:pPr>
            <a:r>
              <a:rPr lang="en-US" altLang="en-US" sz="16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Firebreak feasibility</a:t>
            </a:r>
            <a:endParaRPr lang="en-US" sz="1600" dirty="0"/>
          </a:p>
          <a:p>
            <a:pPr algn="l" indent="0" marL="0">
              <a:lnSpc>
                <a:spcPts val="2320"/>
              </a:lnSpc>
              <a:buNone/>
            </a:pPr>
            <a:r>
              <a:rPr lang="en-US" altLang="en-US" sz="16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Environmental exposure</a:t>
            </a:r>
            <a:endParaRPr lang="en-US" sz="1600" dirty="0"/>
          </a:p>
        </p:txBody>
      </p:sp>
      <p:sp>
        <p:nvSpPr>
          <p:cNvPr id="10" name="val_ops_title"/>
          <p:cNvSpPr/>
          <p:nvPr/>
        </p:nvSpPr>
        <p:spPr>
          <a:xfrm>
            <a:off x="4749800" y="23622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2200" dirty="0">
                <a:solidFill>
                  <a:srgbClr val="8B26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OPERATIONS</a:t>
            </a:r>
            <a:endParaRPr lang="en-US" sz="2200" dirty="0"/>
          </a:p>
        </p:txBody>
      </p:sp>
      <p:sp>
        <p:nvSpPr>
          <p:cNvPr id="11" name="val_ops_body"/>
          <p:cNvSpPr/>
          <p:nvPr/>
        </p:nvSpPr>
        <p:spPr>
          <a:xfrm>
            <a:off x="4749800" y="2997200"/>
            <a:ext cx="2540000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20"/>
              </a:lnSpc>
              <a:buNone/>
            </a:pPr>
            <a:r>
              <a:rPr lang="en-US" altLang="en-US" sz="16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Vehicle turning radius</a:t>
            </a:r>
            <a:endParaRPr lang="en-US" sz="1600" dirty="0"/>
          </a:p>
          <a:p>
            <a:pPr algn="l" indent="0" marL="0">
              <a:lnSpc>
                <a:spcPts val="2320"/>
              </a:lnSpc>
              <a:buNone/>
            </a:pPr>
            <a:r>
              <a:rPr lang="en-US" altLang="en-US" sz="16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Pedestrian routes</a:t>
            </a:r>
            <a:endParaRPr lang="en-US" sz="1600" dirty="0"/>
          </a:p>
          <a:p>
            <a:pPr algn="l" indent="0" marL="0">
              <a:lnSpc>
                <a:spcPts val="2320"/>
              </a:lnSpc>
              <a:buNone/>
            </a:pPr>
            <a:r>
              <a:rPr lang="en-US" altLang="en-US" sz="16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Visitor journey</a:t>
            </a:r>
            <a:endParaRPr lang="en-US" sz="1600" dirty="0"/>
          </a:p>
          <a:p>
            <a:pPr algn="l" indent="0" marL="0">
              <a:lnSpc>
                <a:spcPts val="2320"/>
              </a:lnSpc>
              <a:buNone/>
            </a:pPr>
            <a:r>
              <a:rPr lang="en-US" altLang="en-US" sz="16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Seasonal workforce movement</a:t>
            </a:r>
            <a:endParaRPr lang="en-US" sz="1600" dirty="0"/>
          </a:p>
          <a:p>
            <a:pPr algn="l" indent="0" marL="0">
              <a:lnSpc>
                <a:spcPts val="2320"/>
              </a:lnSpc>
              <a:buNone/>
            </a:pPr>
            <a:r>
              <a:rPr lang="en-US" altLang="en-US" sz="16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Loading and emergency access</a:t>
            </a:r>
            <a:endParaRPr lang="en-US" sz="1600" dirty="0"/>
          </a:p>
        </p:txBody>
      </p:sp>
      <p:sp>
        <p:nvSpPr>
          <p:cNvPr id="12" name="val_eng_title"/>
          <p:cNvSpPr/>
          <p:nvPr/>
        </p:nvSpPr>
        <p:spPr>
          <a:xfrm>
            <a:off x="8432800" y="23622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22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ENGINEERING</a:t>
            </a:r>
            <a:endParaRPr lang="en-US" sz="2200" dirty="0"/>
          </a:p>
        </p:txBody>
      </p:sp>
      <p:sp>
        <p:nvSpPr>
          <p:cNvPr id="13" name="val_eng_body"/>
          <p:cNvSpPr/>
          <p:nvPr/>
        </p:nvSpPr>
        <p:spPr>
          <a:xfrm>
            <a:off x="8432800" y="2997200"/>
            <a:ext cx="2540000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20"/>
              </a:lnSpc>
              <a:buNone/>
            </a:pPr>
            <a:r>
              <a:rPr lang="en-US" altLang="en-US" sz="16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Foundations</a:t>
            </a:r>
            <a:endParaRPr lang="en-US" sz="1600" dirty="0"/>
          </a:p>
          <a:p>
            <a:pPr algn="l" indent="0" marL="0">
              <a:lnSpc>
                <a:spcPts val="2320"/>
              </a:lnSpc>
              <a:buNone/>
            </a:pPr>
            <a:r>
              <a:rPr lang="en-US" altLang="en-US" sz="16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Structural requirements</a:t>
            </a:r>
            <a:endParaRPr lang="en-US" sz="1600" dirty="0"/>
          </a:p>
          <a:p>
            <a:pPr algn="l" indent="0" marL="0">
              <a:lnSpc>
                <a:spcPts val="2320"/>
              </a:lnSpc>
              <a:buNone/>
            </a:pPr>
            <a:r>
              <a:rPr lang="en-US" altLang="en-US" sz="16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Final quantities / dimensions</a:t>
            </a:r>
            <a:endParaRPr lang="en-US" sz="1600" dirty="0"/>
          </a:p>
          <a:p>
            <a:pPr algn="l" indent="0" marL="0">
              <a:lnSpc>
                <a:spcPts val="2320"/>
              </a:lnSpc>
              <a:buNone/>
            </a:pPr>
            <a:r>
              <a:rPr lang="en-US" altLang="en-US" sz="16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Electrical load and 72-hour calculation</a:t>
            </a:r>
            <a:endParaRPr lang="en-US" sz="1600" dirty="0"/>
          </a:p>
          <a:p>
            <a:pPr algn="l" indent="0" marL="0">
              <a:lnSpc>
                <a:spcPts val="2320"/>
              </a:lnSpc>
              <a:buNone/>
            </a:pPr>
            <a:r>
              <a:rPr lang="en-US" altLang="en-US" sz="16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Professional sign-off</a:t>
            </a:r>
            <a:endParaRPr lang="en-US" sz="1600" dirty="0"/>
          </a:p>
        </p:txBody>
      </p:sp>
      <p:sp>
        <p:nvSpPr>
          <p:cNvPr id="14" name="val_ready_title"/>
          <p:cNvSpPr/>
          <p:nvPr/>
        </p:nvSpPr>
        <p:spPr>
          <a:xfrm>
            <a:off x="12115800" y="23622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2200" dirty="0">
                <a:solidFill>
                  <a:srgbClr val="8B26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READINESS</a:t>
            </a:r>
            <a:endParaRPr lang="en-US" sz="2200" dirty="0"/>
          </a:p>
        </p:txBody>
      </p:sp>
      <p:sp>
        <p:nvSpPr>
          <p:cNvPr id="15" name="val_ready_body"/>
          <p:cNvSpPr/>
          <p:nvPr/>
        </p:nvSpPr>
        <p:spPr>
          <a:xfrm>
            <a:off x="12115800" y="2997200"/>
            <a:ext cx="2540000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20"/>
              </a:lnSpc>
              <a:buNone/>
            </a:pPr>
            <a:r>
              <a:rPr lang="en-US" altLang="en-US" sz="16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Local procurement availability</a:t>
            </a:r>
            <a:endParaRPr lang="en-US" sz="1600" dirty="0"/>
          </a:p>
          <a:p>
            <a:pPr algn="l" indent="0" marL="0">
              <a:lnSpc>
                <a:spcPts val="2320"/>
              </a:lnSpc>
              <a:buNone/>
            </a:pPr>
            <a:r>
              <a:rPr lang="en-US" altLang="en-US" sz="16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Maintenance capability</a:t>
            </a:r>
            <a:endParaRPr lang="en-US" sz="1600" dirty="0"/>
          </a:p>
          <a:p>
            <a:pPr algn="l" indent="0" marL="0">
              <a:lnSpc>
                <a:spcPts val="2320"/>
              </a:lnSpc>
              <a:buNone/>
            </a:pPr>
            <a:r>
              <a:rPr lang="en-US" altLang="en-US" sz="16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Applicable regulations</a:t>
            </a:r>
            <a:endParaRPr lang="en-US" sz="1600" dirty="0"/>
          </a:p>
          <a:p>
            <a:pPr algn="l" indent="0" marL="0">
              <a:lnSpc>
                <a:spcPts val="2320"/>
              </a:lnSpc>
              <a:buNone/>
            </a:pPr>
            <a:r>
              <a:rPr lang="en-US" altLang="en-US" sz="16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Testing and records</a:t>
            </a:r>
            <a:endParaRPr lang="en-US" sz="1600" dirty="0"/>
          </a:p>
          <a:p>
            <a:pPr algn="l" indent="0" marL="0">
              <a:lnSpc>
                <a:spcPts val="2320"/>
              </a:lnSpc>
              <a:buNone/>
            </a:pPr>
            <a:r>
              <a:rPr lang="en-US" altLang="en-US" sz="16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Emergency procedure</a:t>
            </a:r>
            <a:endParaRPr lang="en-US" sz="1600" dirty="0"/>
          </a:p>
        </p:txBody>
      </p:sp>
      <p:sp>
        <p:nvSpPr>
          <p:cNvPr id="16" name="val_callout"/>
          <p:cNvSpPr/>
          <p:nvPr/>
        </p:nvSpPr>
        <p:spPr>
          <a:xfrm>
            <a:off x="762000" y="6794500"/>
            <a:ext cx="14732000" cy="698500"/>
          </a:xfrm>
          <a:prstGeom prst="rect">
            <a:avLst/>
          </a:prstGeom>
          <a:solidFill>
            <a:srgbClr val="8B2635"/>
          </a:solidFill>
          <a:ln/>
        </p:spPr>
      </p:sp>
      <p:sp>
        <p:nvSpPr>
          <p:cNvPr id="17" name="val_callout_text"/>
          <p:cNvSpPr/>
          <p:nvPr/>
        </p:nvSpPr>
        <p:spPr>
          <a:xfrm>
            <a:off x="1066800" y="6959600"/>
            <a:ext cx="14097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altLang="en-US" sz="1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 6 creates a preliminary design baseline. Construction and procurement require validation.</a:t>
            </a:r>
            <a:endParaRPr lang="en-US" sz="1900" dirty="0"/>
          </a:p>
        </p:txBody>
      </p:sp>
      <p:sp>
        <p:nvSpPr>
          <p:cNvPr id="18" name="val_footer_rule"/>
          <p:cNvSpPr/>
          <p:nvPr/>
        </p:nvSpPr>
        <p:spPr>
          <a:xfrm>
            <a:off x="12674600" y="8686800"/>
            <a:ext cx="12700" cy="2286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9" name="val_footer"/>
          <p:cNvSpPr/>
          <p:nvPr/>
        </p:nvSpPr>
        <p:spPr>
          <a:xfrm>
            <a:off x="12827000" y="8686800"/>
            <a:ext cx="2794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altLang="en-US" sz="12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27 AUG 2026  ·  11 / 12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lose_kicker"/>
          <p:cNvSpPr/>
          <p:nvPr/>
        </p:nvSpPr>
        <p:spPr>
          <a:xfrm>
            <a:off x="762000" y="685800"/>
            <a:ext cx="6604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8B26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 6  /  DECISION POINT</a:t>
            </a:r>
            <a:endParaRPr lang="en-US" sz="1500" dirty="0"/>
          </a:p>
        </p:txBody>
      </p:sp>
      <p:sp>
        <p:nvSpPr>
          <p:cNvPr id="3" name="close_title"/>
          <p:cNvSpPr/>
          <p:nvPr/>
        </p:nvSpPr>
        <p:spPr>
          <a:xfrm>
            <a:off x="762000" y="1092200"/>
            <a:ext cx="9906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4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Conclusion + References</a:t>
            </a:r>
            <a:endParaRPr lang="en-US" sz="3400" dirty="0"/>
          </a:p>
        </p:txBody>
      </p:sp>
      <p:sp>
        <p:nvSpPr>
          <p:cNvPr id="4" name="close_left_head"/>
          <p:cNvSpPr/>
          <p:nvPr/>
        </p:nvSpPr>
        <p:spPr>
          <a:xfrm>
            <a:off x="762000" y="20320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22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Week 6 decision</a:t>
            </a:r>
            <a:endParaRPr lang="en-US" sz="2200" dirty="0"/>
          </a:p>
        </p:txBody>
      </p:sp>
      <p:sp>
        <p:nvSpPr>
          <p:cNvPr id="5" name="close_left_body"/>
          <p:cNvSpPr/>
          <p:nvPr/>
        </p:nvSpPr>
        <p:spPr>
          <a:xfrm>
            <a:off x="762000" y="2667000"/>
            <a:ext cx="6350000" cy="3937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01625" indent="-301625">
              <a:lnSpc>
                <a:spcPts val="2755"/>
              </a:lnSpc>
              <a:spcBef>
                <a:spcPts val="10"/>
              </a:spcBef>
              <a:buSzPct val="100000"/>
              <a:buChar char="—"/>
            </a:pPr>
            <a:r>
              <a:rPr lang="en-US" altLang="en-US" sz="19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Establish a layered physical-security baseline centered on perimeter, gates, zones, authorization, monitoring, and emergency procedures.</a:t>
            </a:r>
            <a:endParaRPr lang="en-US" sz="1900" dirty="0"/>
          </a:p>
          <a:p>
            <a:pPr algn="l" marL="301625" indent="-301625">
              <a:lnSpc>
                <a:spcPts val="2755"/>
              </a:lnSpc>
              <a:spcBef>
                <a:spcPts val="10"/>
              </a:spcBef>
              <a:buSzPct val="100000"/>
              <a:buChar char="—"/>
            </a:pPr>
            <a:r>
              <a:rPr lang="en-US" altLang="en-US" sz="19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Preserve farm usability by separating movements without creating unnecessary gates.</a:t>
            </a:r>
            <a:endParaRPr lang="en-US" sz="1900" dirty="0"/>
          </a:p>
          <a:p>
            <a:pPr algn="l" marL="301625" indent="-301625">
              <a:lnSpc>
                <a:spcPts val="2755"/>
              </a:lnSpc>
              <a:spcBef>
                <a:spcPts val="10"/>
              </a:spcBef>
              <a:buSzPct val="100000"/>
              <a:buChar char="—"/>
            </a:pPr>
            <a:r>
              <a:rPr lang="en-US" altLang="en-US" sz="19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Retain the </a:t>
            </a:r>
            <a:r>
              <a:rPr lang="en-US" altLang="en-US" sz="1900" b="1" dirty="0">
                <a:solidFill>
                  <a:srgbClr val="8B26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m firebreak</a:t>
            </a:r>
            <a:r>
              <a:rPr lang="en-US" altLang="en-US" sz="19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</a:t>
            </a:r>
            <a:r>
              <a:rPr lang="en-US" altLang="en-US" sz="1900" b="1" dirty="0">
                <a:solidFill>
                  <a:srgbClr val="8B26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72-hour autonomy</a:t>
            </a:r>
            <a:r>
              <a:rPr lang="en-US" altLang="en-US" sz="19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as project requirements / preliminary targets requiring validation.</a:t>
            </a:r>
            <a:endParaRPr lang="en-US" sz="1900" dirty="0"/>
          </a:p>
          <a:p>
            <a:pPr algn="l" marL="301625" indent="-301625">
              <a:lnSpc>
                <a:spcPts val="2755"/>
              </a:lnSpc>
              <a:spcBef>
                <a:spcPts val="10"/>
              </a:spcBef>
              <a:buSzPct val="100000"/>
              <a:buChar char="—"/>
            </a:pPr>
            <a:r>
              <a:rPr lang="en-US" altLang="en-US" sz="19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Proceed to site validation and engineering review before final design, quantities, or procurement.</a:t>
            </a:r>
            <a:endParaRPr lang="en-US" sz="1900" dirty="0"/>
          </a:p>
        </p:txBody>
      </p:sp>
      <p:sp>
        <p:nvSpPr>
          <p:cNvPr id="6" name="close_divider"/>
          <p:cNvSpPr/>
          <p:nvPr/>
        </p:nvSpPr>
        <p:spPr>
          <a:xfrm>
            <a:off x="7874000" y="1905000"/>
            <a:ext cx="12700" cy="46990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7" name="close_ref_head"/>
          <p:cNvSpPr/>
          <p:nvPr/>
        </p:nvSpPr>
        <p:spPr>
          <a:xfrm>
            <a:off x="8382000" y="20320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22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Official references</a:t>
            </a:r>
            <a:endParaRPr lang="en-US" sz="2200" dirty="0"/>
          </a:p>
        </p:txBody>
      </p:sp>
      <p:sp>
        <p:nvSpPr>
          <p:cNvPr id="8" name="close_refs"/>
          <p:cNvSpPr/>
          <p:nvPr/>
        </p:nvSpPr>
        <p:spPr>
          <a:xfrm>
            <a:off x="8382000" y="2603500"/>
            <a:ext cx="6350000" cy="419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0"/>
              </a:lnSpc>
              <a:buNone/>
            </a:pPr>
            <a:r>
              <a:rPr lang="en-US" altLang="en-US" sz="14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[1] USDA NRCS</a:t>
            </a:r>
            <a:r>
              <a:rPr lang="en-US" altLang="en-US" sz="1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Access Control (Ac.) (472) Conservation Practice Standard. nrcs.usda.gov/resources/guides-and-instructions/access-control-ac-472-conservation-practice-standard</a:t>
            </a:r>
            <a:endParaRPr lang="en-US" sz="1400" dirty="0"/>
          </a:p>
          <a:p>
            <a:pPr algn="l" indent="0" marL="0">
              <a:lnSpc>
                <a:spcPts val="1750"/>
              </a:lnSpc>
              <a:buNone/>
            </a:pPr>
            <a:r>
              <a:rPr lang="en-US" altLang="en-US" sz="14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[2] FAO</a:t>
            </a:r>
            <a:r>
              <a:rPr lang="en-US" altLang="en-US" sz="1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Farm Structures — External Facilities / Fencing. fao.org/4/s1250e/S1250E1c.htm</a:t>
            </a:r>
            <a:endParaRPr lang="en-US" sz="1400" dirty="0"/>
          </a:p>
          <a:p>
            <a:pPr algn="l" indent="0" marL="0">
              <a:lnSpc>
                <a:spcPts val="1750"/>
              </a:lnSpc>
              <a:buNone/>
            </a:pPr>
            <a:r>
              <a:rPr lang="en-US" altLang="en-US" sz="14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[3] CISA</a:t>
            </a:r>
            <a:r>
              <a:rPr lang="en-US" altLang="en-US" sz="1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Security Planning Workbook, September 2023. cisa.gov/sites/default/files/2023-09/CISA_Security_Planning_Workbook_508-FINAL.pdf</a:t>
            </a:r>
            <a:endParaRPr lang="en-US" sz="1400" dirty="0"/>
          </a:p>
          <a:p>
            <a:pPr algn="l" indent="0" marL="0">
              <a:lnSpc>
                <a:spcPts val="1750"/>
              </a:lnSpc>
              <a:buNone/>
            </a:pPr>
            <a:r>
              <a:rPr lang="en-US" altLang="en-US" sz="14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[4] CISA</a:t>
            </a:r>
            <a:r>
              <a:rPr lang="en-US" altLang="en-US" sz="1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Vehicle Incident Prevention and Mitigation Security Guide, 23 April 2024. cisa.gov/resources-tools/resources/vehicle-incident-prevention-and-mitigation-security-guide</a:t>
            </a:r>
            <a:endParaRPr lang="en-US" sz="1400" dirty="0"/>
          </a:p>
          <a:p>
            <a:pPr algn="l" indent="0" marL="0">
              <a:lnSpc>
                <a:spcPts val="1750"/>
              </a:lnSpc>
              <a:buNone/>
            </a:pPr>
            <a:r>
              <a:rPr lang="en-US" altLang="en-US" sz="1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Access date: 27 August 2026</a:t>
            </a:r>
            <a:endParaRPr lang="en-US" sz="1400" dirty="0"/>
          </a:p>
        </p:txBody>
      </p:sp>
      <p:sp>
        <p:nvSpPr>
          <p:cNvPr id="9" name="close_decision"/>
          <p:cNvSpPr/>
          <p:nvPr/>
        </p:nvSpPr>
        <p:spPr>
          <a:xfrm>
            <a:off x="762000" y="7048500"/>
            <a:ext cx="14224000" cy="609600"/>
          </a:xfrm>
          <a:prstGeom prst="rect">
            <a:avLst/>
          </a:prstGeom>
          <a:solidFill>
            <a:srgbClr val="8B2635"/>
          </a:solidFill>
          <a:ln/>
        </p:spPr>
      </p:sp>
      <p:sp>
        <p:nvSpPr>
          <p:cNvPr id="10" name="close_decision_text"/>
          <p:cNvSpPr/>
          <p:nvPr/>
        </p:nvSpPr>
        <p:spPr>
          <a:xfrm>
            <a:off x="1066800" y="7213600"/>
            <a:ext cx="13589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altLang="en-US" sz="1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PRELIMINARY DESIGN  ≠  FINAL CONSTRUCTION DESIGN  ·  VALIDATE BEFORE IMPLEMENTATION</a:t>
            </a:r>
            <a:endParaRPr lang="en-US" sz="1800" dirty="0"/>
          </a:p>
        </p:txBody>
      </p:sp>
      <p:sp>
        <p:nvSpPr>
          <p:cNvPr id="11" name="close_footer_rule"/>
          <p:cNvSpPr/>
          <p:nvPr/>
        </p:nvSpPr>
        <p:spPr>
          <a:xfrm>
            <a:off x="12674600" y="8686800"/>
            <a:ext cx="12700" cy="2286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2" name="close_footer"/>
          <p:cNvSpPr/>
          <p:nvPr/>
        </p:nvSpPr>
        <p:spPr>
          <a:xfrm>
            <a:off x="12827000" y="8686800"/>
            <a:ext cx="2794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altLang="en-US" sz="12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27 AUG 2026  ·  12 / 12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Manus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6 — Physical Design &amp; Final Specification</dc:title>
  <dc:subject>WEEK 6 — Physical Design &amp; Final Specification</dc:subject>
  <dc:creator>Manus</dc:creator>
  <cp:lastModifiedBy>Manus</cp:lastModifiedBy>
  <cp:revision>1</cp:revision>
  <dcterms:created xsi:type="dcterms:W3CDTF">2026-08-27T01:56:47Z</dcterms:created>
  <dcterms:modified xsi:type="dcterms:W3CDTF">2026-08-27T01:56:47Z</dcterms:modified>
</cp:coreProperties>
</file>