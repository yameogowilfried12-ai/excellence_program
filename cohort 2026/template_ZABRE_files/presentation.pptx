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6256000" cy="9144000"/>
  <p:notesSz cx="9144000" cy="16256000"/>
  <p:embeddedFontLst>
    <p:embeddedFont>
      <p:font typeface="Inter" charset="-122" pitchFamily="34"/>
      <p:regular r:id="rId16"/>
    </p:embeddedFont>
    <p:embeddedFont>
      <p:font typeface="Montserrat" charset="-122" pitchFamily="34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project"/>
          <p:cNvSpPr/>
          <p:nvPr/>
        </p:nvSpPr>
        <p:spPr>
          <a:xfrm>
            <a:off x="2032000" y="2159000"/>
            <a:ext cx="1219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SUSTAINABLE SUPPLY CHAIN FOR DRIED MANGO FROM AFRICA TO GERMANY</a:t>
            </a:r>
            <a:endParaRPr lang="en-US" sz="1400" dirty="0"/>
          </a:p>
        </p:txBody>
      </p:sp>
      <p:sp>
        <p:nvSpPr>
          <p:cNvPr id="3" name="cover-title"/>
          <p:cNvSpPr/>
          <p:nvPr/>
        </p:nvSpPr>
        <p:spPr>
          <a:xfrm>
            <a:off x="1016000" y="3111500"/>
            <a:ext cx="1422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5000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4 — FARM SECURITY ZONING</a:t>
            </a:r>
            <a:endParaRPr lang="en-US" sz="5000" dirty="0"/>
          </a:p>
        </p:txBody>
      </p:sp>
      <p:sp>
        <p:nvSpPr>
          <p:cNvPr id="4" name="cover-divider"/>
          <p:cNvSpPr/>
          <p:nvPr/>
        </p:nvSpPr>
        <p:spPr>
          <a:xfrm>
            <a:off x="6477000" y="4254500"/>
            <a:ext cx="3302000" cy="9144"/>
          </a:xfrm>
          <a:prstGeom prst="line">
            <a:avLst/>
          </a:prstGeom>
          <a:ln w="50800">
            <a:solidFill>
              <a:srgbClr val="A8D5BA"/>
            </a:solidFill>
            <a:prstDash val="solid"/>
          </a:ln>
        </p:spPr>
      </p:sp>
      <p:sp>
        <p:nvSpPr>
          <p:cNvPr id="5" name="cover-subtitle"/>
          <p:cNvSpPr/>
          <p:nvPr/>
        </p:nvSpPr>
        <p:spPr>
          <a:xfrm>
            <a:off x="2286000" y="4572000"/>
            <a:ext cx="1168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500" dirty="0">
                <a:solidFill>
                  <a:srgbClr val="2431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Risk &amp; Asset Analysis to a Clear Spatial Security Structure</a:t>
            </a:r>
            <a:endParaRPr lang="en-US" sz="2500" dirty="0"/>
          </a:p>
        </p:txBody>
      </p:sp>
      <p:sp>
        <p:nvSpPr>
          <p:cNvPr id="6" name="cover-card"/>
          <p:cNvSpPr/>
          <p:nvPr/>
        </p:nvSpPr>
        <p:spPr>
          <a:xfrm>
            <a:off x="4508500" y="5740400"/>
            <a:ext cx="7239000" cy="1041400"/>
          </a:xfrm>
          <a:prstGeom prst="roundRect">
            <a:avLst>
              <a:gd name="adj" fmla="val 14634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cover-app"/>
          <p:cNvSpPr/>
          <p:nvPr/>
        </p:nvSpPr>
        <p:spPr>
          <a:xfrm>
            <a:off x="4762500" y="5969000"/>
            <a:ext cx="673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Fencing &amp; Security App</a:t>
            </a:r>
            <a:endParaRPr lang="en-US" sz="2000" dirty="0"/>
          </a:p>
        </p:txBody>
      </p:sp>
      <p:sp>
        <p:nvSpPr>
          <p:cNvPr id="8" name="cover-presenter"/>
          <p:cNvSpPr/>
          <p:nvPr/>
        </p:nvSpPr>
        <p:spPr>
          <a:xfrm>
            <a:off x="4762500" y="6413500"/>
            <a:ext cx="673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 Tania  ·  Excellence Program — Week 4</a:t>
            </a:r>
            <a:endParaRPr lang="en-US" sz="1400" dirty="0"/>
          </a:p>
        </p:txBody>
      </p:sp>
      <p:sp>
        <p:nvSpPr>
          <p:cNvPr id="9" name="cover-strip-open"/>
          <p:cNvSpPr/>
          <p:nvPr/>
        </p:nvSpPr>
        <p:spPr>
          <a:xfrm>
            <a:off x="0" y="8763000"/>
            <a:ext cx="4064000" cy="127000"/>
          </a:xfrm>
          <a:prstGeom prst="rect">
            <a:avLst/>
          </a:prstGeom>
          <a:solidFill>
            <a:srgbClr val="A8D5BA"/>
          </a:solidFill>
          <a:ln/>
        </p:spPr>
      </p:sp>
      <p:sp>
        <p:nvSpPr>
          <p:cNvPr id="10" name="cover-strip-controlled"/>
          <p:cNvSpPr/>
          <p:nvPr/>
        </p:nvSpPr>
        <p:spPr>
          <a:xfrm>
            <a:off x="4064000" y="8763000"/>
            <a:ext cx="4064000" cy="127000"/>
          </a:xfrm>
          <a:prstGeom prst="rect">
            <a:avLst/>
          </a:prstGeom>
          <a:solidFill>
            <a:srgbClr val="A3C4ED"/>
          </a:solidFill>
          <a:ln/>
        </p:spPr>
      </p:sp>
      <p:sp>
        <p:nvSpPr>
          <p:cNvPr id="11" name="cover-strip-restricted"/>
          <p:cNvSpPr/>
          <p:nvPr/>
        </p:nvSpPr>
        <p:spPr>
          <a:xfrm>
            <a:off x="8128000" y="8763000"/>
            <a:ext cx="4064000" cy="127000"/>
          </a:xfrm>
          <a:prstGeom prst="rect">
            <a:avLst/>
          </a:prstGeom>
          <a:solidFill>
            <a:srgbClr val="F4D392"/>
          </a:solidFill>
          <a:ln/>
        </p:spPr>
      </p:sp>
      <p:sp>
        <p:nvSpPr>
          <p:cNvPr id="12" name="cover-strip-critical"/>
          <p:cNvSpPr/>
          <p:nvPr/>
        </p:nvSpPr>
        <p:spPr>
          <a:xfrm>
            <a:off x="12192000" y="8763000"/>
            <a:ext cx="4064000" cy="127000"/>
          </a:xfrm>
          <a:prstGeom prst="rect">
            <a:avLst/>
          </a:prstGeom>
          <a:solidFill>
            <a:srgbClr val="ECA8A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y-title"/>
          <p:cNvSpPr/>
          <p:nvPr/>
        </p:nvSpPr>
        <p:spPr>
          <a:xfrm>
            <a:off x="762000" y="6604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are we doing zoning?</a:t>
            </a:r>
            <a:endParaRPr lang="en-US" sz="3200" dirty="0"/>
          </a:p>
        </p:txBody>
      </p:sp>
      <p:sp>
        <p:nvSpPr>
          <p:cNvPr id="3" name="why-kicker"/>
          <p:cNvSpPr/>
          <p:nvPr/>
        </p:nvSpPr>
        <p:spPr>
          <a:xfrm>
            <a:off x="762000" y="1231900"/>
            <a:ext cx="1270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4 turns the Week 3 risk and asset analysis into a spatial security structure.</a:t>
            </a:r>
            <a:endParaRPr lang="en-US" sz="1400" dirty="0"/>
          </a:p>
        </p:txBody>
      </p:sp>
      <p:sp>
        <p:nvSpPr>
          <p:cNvPr id="4" name="why-insight-card"/>
          <p:cNvSpPr/>
          <p:nvPr/>
        </p:nvSpPr>
        <p:spPr>
          <a:xfrm>
            <a:off x="762000" y="1778000"/>
            <a:ext cx="14732000" cy="1117600"/>
          </a:xfrm>
          <a:prstGeom prst="roundRect">
            <a:avLst>
              <a:gd name="adj" fmla="val 13636"/>
            </a:avLst>
          </a:prstGeom>
          <a:solidFill>
            <a:srgbClr val="A3C4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why-insight"/>
          <p:cNvSpPr/>
          <p:nvPr/>
        </p:nvSpPr>
        <p:spPr>
          <a:xfrm>
            <a:off x="1168400" y="2082800"/>
            <a:ext cx="1391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2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farm should not be treated as one uniform security area.</a:t>
            </a:r>
            <a:endParaRPr lang="en-US" sz="2200" dirty="0"/>
          </a:p>
        </p:txBody>
      </p:sp>
      <p:sp>
        <p:nvSpPr>
          <p:cNvPr id="6" name="why-context-card"/>
          <p:cNvSpPr/>
          <p:nvPr/>
        </p:nvSpPr>
        <p:spPr>
          <a:xfrm>
            <a:off x="762000" y="3302000"/>
            <a:ext cx="6985000" cy="3810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why-context"/>
          <p:cNvSpPr/>
          <p:nvPr/>
        </p:nvSpPr>
        <p:spPr>
          <a:xfrm>
            <a:off x="1168400" y="3644900"/>
            <a:ext cx="6172200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en-US" altLang="en-US" sz="20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Week 3 showed</a:t>
            </a:r>
            <a:endParaRPr lang="en-US" sz="180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includes assets, people, activities, access, theft, unauthorized entry and operating conditions.</a:t>
            </a:r>
            <a:endParaRPr lang="en-US" sz="180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Heat, dust, weather, power reliability and connectivity can affect how the security organization works.</a:t>
            </a:r>
            <a:endParaRPr lang="en-US" sz="180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4 gives this understanding a clearer spatial form.</a:t>
            </a:r>
            <a:endParaRPr lang="en-US" sz="1800" dirty="0"/>
          </a:p>
        </p:txBody>
      </p:sp>
      <p:sp>
        <p:nvSpPr>
          <p:cNvPr id="8" name="why-output-card"/>
          <p:cNvSpPr/>
          <p:nvPr/>
        </p:nvSpPr>
        <p:spPr>
          <a:xfrm>
            <a:off x="8509000" y="3302000"/>
            <a:ext cx="6985000" cy="3810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why-output"/>
          <p:cNvSpPr/>
          <p:nvPr/>
        </p:nvSpPr>
        <p:spPr>
          <a:xfrm>
            <a:off x="8915400" y="3644900"/>
            <a:ext cx="6172200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en-US" altLang="en-US" sz="20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zoning produces</a:t>
            </a:r>
            <a:endParaRPr lang="en-US" sz="180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identifies the main functional areas of the farm.</a:t>
            </a:r>
            <a:endParaRPr lang="en-US" sz="180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distinguishes levels of sensitivity and makes access needs easier to discuss.</a:t>
            </a:r>
            <a:endParaRPr lang="en-US" sz="1800" dirty="0"/>
          </a:p>
          <a:p>
            <a:pPr algn="l" indent="0" marL="0">
              <a:lnSpc>
                <a:spcPts val="2304"/>
              </a:lnSpc>
              <a:buNone/>
            </a:pPr>
            <a:r>
              <a:rPr lang="en-US" altLang="en-US" sz="18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organizes movement of workers, visitors, vehicles and products before later physical-security decisions are made.</a:t>
            </a:r>
            <a:endParaRPr lang="en-US" sz="1800" dirty="0"/>
          </a:p>
        </p:txBody>
      </p:sp>
      <p:sp>
        <p:nvSpPr>
          <p:cNvPr id="10" name="why-strip-open"/>
          <p:cNvSpPr/>
          <p:nvPr/>
        </p:nvSpPr>
        <p:spPr>
          <a:xfrm>
            <a:off x="0" y="8763000"/>
            <a:ext cx="4064000" cy="127000"/>
          </a:xfrm>
          <a:prstGeom prst="rect">
            <a:avLst/>
          </a:prstGeom>
          <a:solidFill>
            <a:srgbClr val="A8D5BA"/>
          </a:solidFill>
          <a:ln/>
        </p:spPr>
      </p:sp>
      <p:sp>
        <p:nvSpPr>
          <p:cNvPr id="11" name="why-strip-controlled"/>
          <p:cNvSpPr/>
          <p:nvPr/>
        </p:nvSpPr>
        <p:spPr>
          <a:xfrm>
            <a:off x="4064000" y="8763000"/>
            <a:ext cx="4064000" cy="127000"/>
          </a:xfrm>
          <a:prstGeom prst="rect">
            <a:avLst/>
          </a:prstGeom>
          <a:solidFill>
            <a:srgbClr val="A3C4ED"/>
          </a:solidFill>
          <a:ln/>
        </p:spPr>
      </p:sp>
      <p:sp>
        <p:nvSpPr>
          <p:cNvPr id="12" name="why-strip-restricted"/>
          <p:cNvSpPr/>
          <p:nvPr/>
        </p:nvSpPr>
        <p:spPr>
          <a:xfrm>
            <a:off x="8128000" y="8763000"/>
            <a:ext cx="4064000" cy="127000"/>
          </a:xfrm>
          <a:prstGeom prst="rect">
            <a:avLst/>
          </a:prstGeom>
          <a:solidFill>
            <a:srgbClr val="F4D392"/>
          </a:solidFill>
          <a:ln/>
        </p:spPr>
      </p:sp>
      <p:sp>
        <p:nvSpPr>
          <p:cNvPr id="13" name="why-strip-critical"/>
          <p:cNvSpPr/>
          <p:nvPr/>
        </p:nvSpPr>
        <p:spPr>
          <a:xfrm>
            <a:off x="12192000" y="8763000"/>
            <a:ext cx="4064000" cy="127000"/>
          </a:xfrm>
          <a:prstGeom prst="rect">
            <a:avLst/>
          </a:prstGeom>
          <a:solidFill>
            <a:srgbClr val="ECA8A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sk-title"/>
          <p:cNvSpPr/>
          <p:nvPr/>
        </p:nvSpPr>
        <p:spPr>
          <a:xfrm>
            <a:off x="762000" y="660400"/>
            <a:ext cx="1346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Risk &amp; Asset Analysis to Zoning</a:t>
            </a:r>
            <a:endParaRPr lang="en-US" sz="3200" dirty="0"/>
          </a:p>
        </p:txBody>
      </p:sp>
      <p:sp>
        <p:nvSpPr>
          <p:cNvPr id="3" name="risk-subtitle"/>
          <p:cNvSpPr/>
          <p:nvPr/>
        </p:nvSpPr>
        <p:spPr>
          <a:xfrm>
            <a:off x="762000" y="1270000"/>
            <a:ext cx="137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4 asks how the farm should be divided according to activities, assets, movement and security needs.</a:t>
            </a:r>
            <a:endParaRPr lang="en-US" sz="1400" dirty="0"/>
          </a:p>
        </p:txBody>
      </p:sp>
      <p:sp>
        <p:nvSpPr>
          <p:cNvPr id="4" name="risk-card-1"/>
          <p:cNvSpPr/>
          <p:nvPr/>
        </p:nvSpPr>
        <p:spPr>
          <a:xfrm>
            <a:off x="762000" y="2667000"/>
            <a:ext cx="3556000" cy="1981200"/>
          </a:xfrm>
          <a:prstGeom prst="roundRect">
            <a:avLst>
              <a:gd name="adj" fmla="val 7692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risk-stage-1"/>
          <p:cNvSpPr/>
          <p:nvPr/>
        </p:nvSpPr>
        <p:spPr>
          <a:xfrm>
            <a:off x="1066800" y="3009900"/>
            <a:ext cx="29464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&amp; Assets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6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needs protection?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· activities · assets</a:t>
            </a:r>
            <a:endParaRPr lang="en-US" sz="1800" dirty="0"/>
          </a:p>
        </p:txBody>
      </p:sp>
      <p:sp>
        <p:nvSpPr>
          <p:cNvPr id="6" name="risk-arrow-1"/>
          <p:cNvSpPr/>
          <p:nvPr/>
        </p:nvSpPr>
        <p:spPr>
          <a:xfrm>
            <a:off x="4445000" y="3657600"/>
            <a:ext cx="635000" cy="9144"/>
          </a:xfrm>
          <a:prstGeom prst="line">
            <a:avLst/>
          </a:prstGeom>
          <a:ln w="381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7" name="risk-card-2"/>
          <p:cNvSpPr/>
          <p:nvPr/>
        </p:nvSpPr>
        <p:spPr>
          <a:xfrm>
            <a:off x="5270500" y="2667000"/>
            <a:ext cx="3556000" cy="1981200"/>
          </a:xfrm>
          <a:prstGeom prst="roundRect">
            <a:avLst>
              <a:gd name="adj" fmla="val 7692"/>
            </a:avLst>
          </a:prstGeom>
          <a:solidFill>
            <a:srgbClr val="A3C4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risk-stage-2"/>
          <p:cNvSpPr/>
          <p:nvPr/>
        </p:nvSpPr>
        <p:spPr>
          <a:xfrm>
            <a:off x="5575300" y="3009900"/>
            <a:ext cx="29464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Needs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6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sensitive is it?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Protection · access · movement</a:t>
            </a:r>
            <a:endParaRPr lang="en-US" sz="1800" dirty="0"/>
          </a:p>
        </p:txBody>
      </p:sp>
      <p:sp>
        <p:nvSpPr>
          <p:cNvPr id="9" name="risk-arrow-2"/>
          <p:cNvSpPr/>
          <p:nvPr/>
        </p:nvSpPr>
        <p:spPr>
          <a:xfrm>
            <a:off x="8953500" y="3657600"/>
            <a:ext cx="635000" cy="9144"/>
          </a:xfrm>
          <a:prstGeom prst="line">
            <a:avLst/>
          </a:prstGeom>
          <a:ln w="381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10" name="risk-card-3"/>
          <p:cNvSpPr/>
          <p:nvPr/>
        </p:nvSpPr>
        <p:spPr>
          <a:xfrm>
            <a:off x="9779000" y="2667000"/>
            <a:ext cx="3556000" cy="1981200"/>
          </a:xfrm>
          <a:prstGeom prst="roundRect">
            <a:avLst>
              <a:gd name="adj" fmla="val 7692"/>
            </a:avLst>
          </a:prstGeom>
          <a:solidFill>
            <a:srgbClr val="A8D5B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risk-stage-3"/>
          <p:cNvSpPr/>
          <p:nvPr/>
        </p:nvSpPr>
        <p:spPr>
          <a:xfrm>
            <a:off x="10083800" y="3009900"/>
            <a:ext cx="29464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Farm Zoning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6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should movement work?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8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Areas · sensitivity · routes</a:t>
            </a:r>
            <a:endParaRPr lang="en-US" sz="1800" dirty="0"/>
          </a:p>
        </p:txBody>
      </p:sp>
      <p:sp>
        <p:nvSpPr>
          <p:cNvPr id="12" name="risk-question-card"/>
          <p:cNvSpPr/>
          <p:nvPr/>
        </p:nvSpPr>
        <p:spPr>
          <a:xfrm>
            <a:off x="762000" y="5461000"/>
            <a:ext cx="14732000" cy="1498600"/>
          </a:xfrm>
          <a:prstGeom prst="roundRect">
            <a:avLst>
              <a:gd name="adj" fmla="val 10169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risk-questions"/>
          <p:cNvSpPr/>
          <p:nvPr/>
        </p:nvSpPr>
        <p:spPr>
          <a:xfrm>
            <a:off x="1168400" y="5803900"/>
            <a:ext cx="13919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altLang="en-US" sz="20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spatial questions</a:t>
            </a:r>
            <a:endParaRPr lang="en-US" sz="1800" dirty="0"/>
          </a:p>
          <a:p>
            <a:pPr algn="ctr" indent="0" marL="0">
              <a:lnSpc>
                <a:spcPts val="2250"/>
              </a:lnSpc>
              <a:buNone/>
            </a:pPr>
            <a:r>
              <a:rPr lang="en-US" altLang="en-US" sz="18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are the important areas?  ·  How sensitive is each area?  ·  Who should access it?  ·  How should movement be organized?</a:t>
            </a:r>
            <a:endParaRPr lang="en-US" sz="1800" dirty="0"/>
          </a:p>
        </p:txBody>
      </p:sp>
      <p:sp>
        <p:nvSpPr>
          <p:cNvPr id="14" name="risk-strip-open"/>
          <p:cNvSpPr/>
          <p:nvPr/>
        </p:nvSpPr>
        <p:spPr>
          <a:xfrm>
            <a:off x="0" y="8763000"/>
            <a:ext cx="4064000" cy="127000"/>
          </a:xfrm>
          <a:prstGeom prst="rect">
            <a:avLst/>
          </a:prstGeom>
          <a:solidFill>
            <a:srgbClr val="A8D5BA"/>
          </a:solidFill>
          <a:ln/>
        </p:spPr>
      </p:sp>
      <p:sp>
        <p:nvSpPr>
          <p:cNvPr id="15" name="risk-strip-controlled"/>
          <p:cNvSpPr/>
          <p:nvPr/>
        </p:nvSpPr>
        <p:spPr>
          <a:xfrm>
            <a:off x="4064000" y="8763000"/>
            <a:ext cx="4064000" cy="127000"/>
          </a:xfrm>
          <a:prstGeom prst="rect">
            <a:avLst/>
          </a:prstGeom>
          <a:solidFill>
            <a:srgbClr val="A3C4ED"/>
          </a:solidFill>
          <a:ln/>
        </p:spPr>
      </p:sp>
      <p:sp>
        <p:nvSpPr>
          <p:cNvPr id="16" name="risk-strip-restricted"/>
          <p:cNvSpPr/>
          <p:nvPr/>
        </p:nvSpPr>
        <p:spPr>
          <a:xfrm>
            <a:off x="8128000" y="8763000"/>
            <a:ext cx="4064000" cy="127000"/>
          </a:xfrm>
          <a:prstGeom prst="rect">
            <a:avLst/>
          </a:prstGeom>
          <a:solidFill>
            <a:srgbClr val="F4D392"/>
          </a:solidFill>
          <a:ln/>
        </p:spPr>
      </p:sp>
      <p:sp>
        <p:nvSpPr>
          <p:cNvPr id="17" name="risk-strip-critical"/>
          <p:cNvSpPr/>
          <p:nvPr/>
        </p:nvSpPr>
        <p:spPr>
          <a:xfrm>
            <a:off x="12192000" y="8763000"/>
            <a:ext cx="4064000" cy="127000"/>
          </a:xfrm>
          <a:prstGeom prst="rect">
            <a:avLst/>
          </a:prstGeom>
          <a:solidFill>
            <a:srgbClr val="ECA8A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hod-title"/>
          <p:cNvSpPr/>
          <p:nvPr/>
        </p:nvSpPr>
        <p:spPr>
          <a:xfrm>
            <a:off x="762000" y="6604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Four-Step Zoning Method</a:t>
            </a:r>
            <a:endParaRPr lang="en-US" sz="3200" dirty="0"/>
          </a:p>
        </p:txBody>
      </p:sp>
      <p:sp>
        <p:nvSpPr>
          <p:cNvPr id="3" name="method-subtitle"/>
          <p:cNvSpPr/>
          <p:nvPr/>
        </p:nvSpPr>
        <p:spPr>
          <a:xfrm>
            <a:off x="762000" y="1270000"/>
            <a:ext cx="1384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sequence shows that zoning is a method, not an arbitrary set of colored boxes.</a:t>
            </a:r>
            <a:endParaRPr lang="en-US" sz="1400" dirty="0"/>
          </a:p>
        </p:txBody>
      </p:sp>
      <p:sp>
        <p:nvSpPr>
          <p:cNvPr id="4" name="method-card-1"/>
          <p:cNvSpPr/>
          <p:nvPr/>
        </p:nvSpPr>
        <p:spPr>
          <a:xfrm>
            <a:off x="762000" y="2603500"/>
            <a:ext cx="3175000" cy="3175000"/>
          </a:xfrm>
          <a:prstGeom prst="roundRect">
            <a:avLst>
              <a:gd name="adj" fmla="val 4800"/>
            </a:avLst>
          </a:prstGeom>
          <a:solidFill>
            <a:srgbClr val="A8D5B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method-step-1"/>
          <p:cNvSpPr/>
          <p:nvPr/>
        </p:nvSpPr>
        <p:spPr>
          <a:xfrm>
            <a:off x="1041400" y="2946400"/>
            <a:ext cx="26162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4400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21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the main functional areas of the farm.</a:t>
            </a:r>
            <a:endParaRPr lang="en-US" sz="1800" dirty="0"/>
          </a:p>
        </p:txBody>
      </p:sp>
      <p:sp>
        <p:nvSpPr>
          <p:cNvPr id="6" name="method-card-2"/>
          <p:cNvSpPr/>
          <p:nvPr/>
        </p:nvSpPr>
        <p:spPr>
          <a:xfrm>
            <a:off x="4445000" y="2603500"/>
            <a:ext cx="3175000" cy="3175000"/>
          </a:xfrm>
          <a:prstGeom prst="roundRect">
            <a:avLst>
              <a:gd name="adj" fmla="val 4800"/>
            </a:avLst>
          </a:prstGeom>
          <a:solidFill>
            <a:srgbClr val="A3C4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method-step-2"/>
          <p:cNvSpPr/>
          <p:nvPr/>
        </p:nvSpPr>
        <p:spPr>
          <a:xfrm>
            <a:off x="4724400" y="2946400"/>
            <a:ext cx="26162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4400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21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CLASSIFY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Classify each area according to its security sensitivity.</a:t>
            </a:r>
            <a:endParaRPr lang="en-US" sz="1800" dirty="0"/>
          </a:p>
        </p:txBody>
      </p:sp>
      <p:sp>
        <p:nvSpPr>
          <p:cNvPr id="8" name="method-card-3"/>
          <p:cNvSpPr/>
          <p:nvPr/>
        </p:nvSpPr>
        <p:spPr>
          <a:xfrm>
            <a:off x="8128000" y="2603500"/>
            <a:ext cx="3175000" cy="3175000"/>
          </a:xfrm>
          <a:prstGeom prst="roundRect">
            <a:avLst>
              <a:gd name="adj" fmla="val 4800"/>
            </a:avLst>
          </a:prstGeom>
          <a:solidFill>
            <a:srgbClr val="F4D39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method-step-3"/>
          <p:cNvSpPr/>
          <p:nvPr/>
        </p:nvSpPr>
        <p:spPr>
          <a:xfrm>
            <a:off x="8407400" y="2946400"/>
            <a:ext cx="26162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4400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21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 workers, visitors, vehicles and products.</a:t>
            </a:r>
            <a:endParaRPr lang="en-US" sz="1800" dirty="0"/>
          </a:p>
        </p:txBody>
      </p:sp>
      <p:sp>
        <p:nvSpPr>
          <p:cNvPr id="10" name="method-card-4"/>
          <p:cNvSpPr/>
          <p:nvPr/>
        </p:nvSpPr>
        <p:spPr>
          <a:xfrm>
            <a:off x="11811000" y="2603500"/>
            <a:ext cx="3175000" cy="3175000"/>
          </a:xfrm>
          <a:prstGeom prst="roundRect">
            <a:avLst>
              <a:gd name="adj" fmla="val 4800"/>
            </a:avLst>
          </a:prstGeom>
          <a:solidFill>
            <a:srgbClr val="ECA8A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method-step-4"/>
          <p:cNvSpPr/>
          <p:nvPr/>
        </p:nvSpPr>
        <p:spPr>
          <a:xfrm>
            <a:off x="12090400" y="2946400"/>
            <a:ext cx="26162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4400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21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 a preliminary model for review and refinement.</a:t>
            </a:r>
            <a:endParaRPr lang="en-US" sz="1800" dirty="0"/>
          </a:p>
        </p:txBody>
      </p:sp>
      <p:sp>
        <p:nvSpPr>
          <p:cNvPr id="12" name="method-logic-band"/>
          <p:cNvSpPr/>
          <p:nvPr/>
        </p:nvSpPr>
        <p:spPr>
          <a:xfrm>
            <a:off x="762000" y="6540500"/>
            <a:ext cx="14732000" cy="863600"/>
          </a:xfrm>
          <a:prstGeom prst="roundRect">
            <a:avLst>
              <a:gd name="adj" fmla="val 14706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method-logic"/>
          <p:cNvSpPr/>
          <p:nvPr/>
        </p:nvSpPr>
        <p:spPr>
          <a:xfrm>
            <a:off x="1016000" y="6807200"/>
            <a:ext cx="142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 →  CLASSIFY  →  ORGANIZE MOVEMENT  →  CREATE ZONING MODEL</a:t>
            </a:r>
            <a:endParaRPr lang="en-US" sz="2000" dirty="0"/>
          </a:p>
        </p:txBody>
      </p:sp>
      <p:sp>
        <p:nvSpPr>
          <p:cNvPr id="14" name="method-strip-open"/>
          <p:cNvSpPr/>
          <p:nvPr/>
        </p:nvSpPr>
        <p:spPr>
          <a:xfrm>
            <a:off x="0" y="8763000"/>
            <a:ext cx="4064000" cy="127000"/>
          </a:xfrm>
          <a:prstGeom prst="rect">
            <a:avLst/>
          </a:prstGeom>
          <a:solidFill>
            <a:srgbClr val="A8D5BA"/>
          </a:solidFill>
          <a:ln/>
        </p:spPr>
      </p:sp>
      <p:sp>
        <p:nvSpPr>
          <p:cNvPr id="15" name="method-strip-controlled"/>
          <p:cNvSpPr/>
          <p:nvPr/>
        </p:nvSpPr>
        <p:spPr>
          <a:xfrm>
            <a:off x="4064000" y="8763000"/>
            <a:ext cx="4064000" cy="127000"/>
          </a:xfrm>
          <a:prstGeom prst="rect">
            <a:avLst/>
          </a:prstGeom>
          <a:solidFill>
            <a:srgbClr val="A3C4ED"/>
          </a:solidFill>
          <a:ln/>
        </p:spPr>
      </p:sp>
      <p:sp>
        <p:nvSpPr>
          <p:cNvPr id="16" name="method-strip-restricted"/>
          <p:cNvSpPr/>
          <p:nvPr/>
        </p:nvSpPr>
        <p:spPr>
          <a:xfrm>
            <a:off x="8128000" y="8763000"/>
            <a:ext cx="4064000" cy="127000"/>
          </a:xfrm>
          <a:prstGeom prst="rect">
            <a:avLst/>
          </a:prstGeom>
          <a:solidFill>
            <a:srgbClr val="F4D392"/>
          </a:solidFill>
          <a:ln/>
        </p:spPr>
      </p:sp>
      <p:sp>
        <p:nvSpPr>
          <p:cNvPr id="17" name="method-strip-critical"/>
          <p:cNvSpPr/>
          <p:nvPr/>
        </p:nvSpPr>
        <p:spPr>
          <a:xfrm>
            <a:off x="12192000" y="8763000"/>
            <a:ext cx="4064000" cy="127000"/>
          </a:xfrm>
          <a:prstGeom prst="rect">
            <a:avLst/>
          </a:prstGeom>
          <a:solidFill>
            <a:srgbClr val="ECA8A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s-title"/>
          <p:cNvSpPr/>
          <p:nvPr/>
        </p:nvSpPr>
        <p:spPr>
          <a:xfrm>
            <a:off x="762000" y="6604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Levels Make Sensitivity Visible</a:t>
            </a:r>
            <a:endParaRPr lang="en-US" sz="3200" dirty="0"/>
          </a:p>
        </p:txBody>
      </p:sp>
      <p:sp>
        <p:nvSpPr>
          <p:cNvPr id="3" name="levels-subtitle"/>
          <p:cNvSpPr/>
          <p:nvPr/>
        </p:nvSpPr>
        <p:spPr>
          <a:xfrm>
            <a:off x="762000" y="1270000"/>
            <a:ext cx="142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simple four-level model helps distinguish areas with different protection and access needs.</a:t>
            </a:r>
            <a:endParaRPr lang="en-US" sz="1400" dirty="0"/>
          </a:p>
        </p:txBody>
      </p:sp>
      <p:sp>
        <p:nvSpPr>
          <p:cNvPr id="4" name="open-card"/>
          <p:cNvSpPr/>
          <p:nvPr/>
        </p:nvSpPr>
        <p:spPr>
          <a:xfrm>
            <a:off x="762000" y="2159000"/>
            <a:ext cx="7239000" cy="2032000"/>
          </a:xfrm>
          <a:prstGeom prst="roundRect">
            <a:avLst>
              <a:gd name="adj" fmla="val 7500"/>
            </a:avLst>
          </a:prstGeom>
          <a:solidFill>
            <a:srgbClr val="A8D5B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open-content"/>
          <p:cNvSpPr/>
          <p:nvPr/>
        </p:nvSpPr>
        <p:spPr>
          <a:xfrm>
            <a:off x="1117600" y="2463800"/>
            <a:ext cx="6527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ZONE 1 — OPEN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</a:t>
            </a:r>
            <a:r>
              <a:rPr lang="en-US" altLang="en-US" sz="1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More frequent and less sensitive movement.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6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Examples: entrance, reception, designated visitor area.</a:t>
            </a:r>
            <a:endParaRPr lang="en-US" sz="1800" dirty="0"/>
          </a:p>
        </p:txBody>
      </p:sp>
      <p:sp>
        <p:nvSpPr>
          <p:cNvPr id="6" name="controlled-card"/>
          <p:cNvSpPr/>
          <p:nvPr/>
        </p:nvSpPr>
        <p:spPr>
          <a:xfrm>
            <a:off x="8255000" y="2159000"/>
            <a:ext cx="7239000" cy="2032000"/>
          </a:xfrm>
          <a:prstGeom prst="roundRect">
            <a:avLst>
              <a:gd name="adj" fmla="val 7500"/>
            </a:avLst>
          </a:prstGeom>
          <a:solidFill>
            <a:srgbClr val="A3C4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controlled-content"/>
          <p:cNvSpPr/>
          <p:nvPr/>
        </p:nvSpPr>
        <p:spPr>
          <a:xfrm>
            <a:off x="8610600" y="2463800"/>
            <a:ext cx="6527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ZONE 2 — CONTROLLED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</a:t>
            </a:r>
            <a:r>
              <a:rPr lang="en-US" altLang="en-US" sz="1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Access mainly for authorized personnel.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6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Examples: production areas, staff operational areas.</a:t>
            </a:r>
            <a:endParaRPr lang="en-US" sz="1800" dirty="0"/>
          </a:p>
        </p:txBody>
      </p:sp>
      <p:sp>
        <p:nvSpPr>
          <p:cNvPr id="8" name="restricted-card"/>
          <p:cNvSpPr/>
          <p:nvPr/>
        </p:nvSpPr>
        <p:spPr>
          <a:xfrm>
            <a:off x="762000" y="4635500"/>
            <a:ext cx="7239000" cy="2032000"/>
          </a:xfrm>
          <a:prstGeom prst="roundRect">
            <a:avLst>
              <a:gd name="adj" fmla="val 7500"/>
            </a:avLst>
          </a:prstGeom>
          <a:solidFill>
            <a:srgbClr val="F4D39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restricted-content"/>
          <p:cNvSpPr/>
          <p:nvPr/>
        </p:nvSpPr>
        <p:spPr>
          <a:xfrm>
            <a:off x="1117600" y="4940300"/>
            <a:ext cx="6527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ZONE 3 — RESTRICTED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</a:t>
            </a:r>
            <a:r>
              <a:rPr lang="en-US" altLang="en-US" sz="1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Protect valuable assets and sensitive operations.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6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Examples: warehouse, storage, equipment, sensitive loading areas.</a:t>
            </a:r>
            <a:endParaRPr lang="en-US" sz="1800" dirty="0"/>
          </a:p>
        </p:txBody>
      </p:sp>
      <p:sp>
        <p:nvSpPr>
          <p:cNvPr id="10" name="critical-card"/>
          <p:cNvSpPr/>
          <p:nvPr/>
        </p:nvSpPr>
        <p:spPr>
          <a:xfrm>
            <a:off x="8255000" y="4635500"/>
            <a:ext cx="7239000" cy="2032000"/>
          </a:xfrm>
          <a:prstGeom prst="roundRect">
            <a:avLst>
              <a:gd name="adj" fmla="val 7500"/>
            </a:avLst>
          </a:prstGeom>
          <a:solidFill>
            <a:srgbClr val="ECA8A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critical-content"/>
          <p:cNvSpPr/>
          <p:nvPr/>
        </p:nvSpPr>
        <p:spPr>
          <a:xfrm>
            <a:off x="8610600" y="4940300"/>
            <a:ext cx="6527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ZONE 4 — CRITICAL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</a:t>
            </a:r>
            <a:r>
              <a:rPr lang="en-US" altLang="en-US" sz="1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Strictly controlled access.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6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Examples: critical infrastructure and high-impact assets.</a:t>
            </a:r>
            <a:endParaRPr lang="en-US" sz="1800" dirty="0"/>
          </a:p>
        </p:txBody>
      </p:sp>
      <p:sp>
        <p:nvSpPr>
          <p:cNvPr id="12" name="levels-note-band"/>
          <p:cNvSpPr/>
          <p:nvPr/>
        </p:nvSpPr>
        <p:spPr>
          <a:xfrm>
            <a:off x="762000" y="7175500"/>
            <a:ext cx="14732000" cy="787400"/>
          </a:xfrm>
          <a:prstGeom prst="roundRect">
            <a:avLst>
              <a:gd name="adj" fmla="val 16129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levels-note"/>
          <p:cNvSpPr/>
          <p:nvPr/>
        </p:nvSpPr>
        <p:spPr>
          <a:xfrm>
            <a:off x="1092200" y="7429500"/>
            <a:ext cx="14071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6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Preliminary classification model — to be confirmed against the real farm layout and operational information.</a:t>
            </a:r>
            <a:endParaRPr lang="en-US" sz="1600" dirty="0"/>
          </a:p>
        </p:txBody>
      </p:sp>
      <p:sp>
        <p:nvSpPr>
          <p:cNvPr id="14" name="levels-strip-open"/>
          <p:cNvSpPr/>
          <p:nvPr/>
        </p:nvSpPr>
        <p:spPr>
          <a:xfrm>
            <a:off x="0" y="8763000"/>
            <a:ext cx="4064000" cy="127000"/>
          </a:xfrm>
          <a:prstGeom prst="rect">
            <a:avLst/>
          </a:prstGeom>
          <a:solidFill>
            <a:srgbClr val="A8D5BA"/>
          </a:solidFill>
          <a:ln/>
        </p:spPr>
      </p:sp>
      <p:sp>
        <p:nvSpPr>
          <p:cNvPr id="15" name="levels-strip-controlled"/>
          <p:cNvSpPr/>
          <p:nvPr/>
        </p:nvSpPr>
        <p:spPr>
          <a:xfrm>
            <a:off x="4064000" y="8763000"/>
            <a:ext cx="4064000" cy="127000"/>
          </a:xfrm>
          <a:prstGeom prst="rect">
            <a:avLst/>
          </a:prstGeom>
          <a:solidFill>
            <a:srgbClr val="A3C4ED"/>
          </a:solidFill>
          <a:ln/>
        </p:spPr>
      </p:sp>
      <p:sp>
        <p:nvSpPr>
          <p:cNvPr id="16" name="levels-strip-restricted"/>
          <p:cNvSpPr/>
          <p:nvPr/>
        </p:nvSpPr>
        <p:spPr>
          <a:xfrm>
            <a:off x="8128000" y="8763000"/>
            <a:ext cx="4064000" cy="127000"/>
          </a:xfrm>
          <a:prstGeom prst="rect">
            <a:avLst/>
          </a:prstGeom>
          <a:solidFill>
            <a:srgbClr val="F4D392"/>
          </a:solidFill>
          <a:ln/>
        </p:spPr>
      </p:sp>
      <p:sp>
        <p:nvSpPr>
          <p:cNvPr id="17" name="levels-strip-critical"/>
          <p:cNvSpPr/>
          <p:nvPr/>
        </p:nvSpPr>
        <p:spPr>
          <a:xfrm>
            <a:off x="12192000" y="8763000"/>
            <a:ext cx="4064000" cy="127000"/>
          </a:xfrm>
          <a:prstGeom prst="rect">
            <a:avLst/>
          </a:prstGeom>
          <a:solidFill>
            <a:srgbClr val="ECA8A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vement-title"/>
          <p:cNvSpPr/>
          <p:nvPr/>
        </p:nvSpPr>
        <p:spPr>
          <a:xfrm>
            <a:off x="762000" y="660400"/>
            <a:ext cx="1371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Movement Should Become More Controlled</a:t>
            </a:r>
            <a:endParaRPr lang="en-US" sz="3200" dirty="0"/>
          </a:p>
        </p:txBody>
      </p:sp>
      <p:sp>
        <p:nvSpPr>
          <p:cNvPr id="3" name="movement-subtitle"/>
          <p:cNvSpPr/>
          <p:nvPr/>
        </p:nvSpPr>
        <p:spPr>
          <a:xfrm>
            <a:off x="762000" y="1270000"/>
            <a:ext cx="1409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Zoning is not simply drawing colored boxes on a map; it must guide how people, vehicles and products move.</a:t>
            </a:r>
            <a:endParaRPr lang="en-US" sz="1400" dirty="0"/>
          </a:p>
        </p:txBody>
      </p:sp>
      <p:sp>
        <p:nvSpPr>
          <p:cNvPr id="4" name="workers-card"/>
          <p:cNvSpPr/>
          <p:nvPr/>
        </p:nvSpPr>
        <p:spPr>
          <a:xfrm>
            <a:off x="762000" y="2032000"/>
            <a:ext cx="4572000" cy="2159000"/>
          </a:xfrm>
          <a:prstGeom prst="roundRect">
            <a:avLst>
              <a:gd name="adj" fmla="val 7059"/>
            </a:avLst>
          </a:prstGeom>
          <a:solidFill>
            <a:srgbClr val="A8D5B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workers-content"/>
          <p:cNvSpPr/>
          <p:nvPr/>
        </p:nvSpPr>
        <p:spPr>
          <a:xfrm>
            <a:off x="1092200" y="2349500"/>
            <a:ext cx="3911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Workers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regular access to operational areas.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6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Movement should support daily work while remaining connected to the purpose of each zone.</a:t>
            </a:r>
            <a:endParaRPr lang="en-US" sz="1800" dirty="0"/>
          </a:p>
        </p:txBody>
      </p:sp>
      <p:sp>
        <p:nvSpPr>
          <p:cNvPr id="6" name="visitors-card"/>
          <p:cNvSpPr/>
          <p:nvPr/>
        </p:nvSpPr>
        <p:spPr>
          <a:xfrm>
            <a:off x="5842000" y="2032000"/>
            <a:ext cx="4572000" cy="2159000"/>
          </a:xfrm>
          <a:prstGeom prst="roundRect">
            <a:avLst>
              <a:gd name="adj" fmla="val 7059"/>
            </a:avLst>
          </a:prstGeom>
          <a:solidFill>
            <a:srgbClr val="A3C4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visitors-content"/>
          <p:cNvSpPr/>
          <p:nvPr/>
        </p:nvSpPr>
        <p:spPr>
          <a:xfrm>
            <a:off x="6172200" y="2349500"/>
            <a:ext cx="3911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Visitors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Should remain concentrated around entrance, reception and designated visitor areas as much as possible.</a:t>
            </a:r>
            <a:endParaRPr lang="en-US" sz="1800" dirty="0"/>
          </a:p>
        </p:txBody>
      </p:sp>
      <p:sp>
        <p:nvSpPr>
          <p:cNvPr id="8" name="vehicles-card"/>
          <p:cNvSpPr/>
          <p:nvPr/>
        </p:nvSpPr>
        <p:spPr>
          <a:xfrm>
            <a:off x="10922000" y="2032000"/>
            <a:ext cx="4572000" cy="2159000"/>
          </a:xfrm>
          <a:prstGeom prst="roundRect">
            <a:avLst>
              <a:gd name="adj" fmla="val 7059"/>
            </a:avLst>
          </a:prstGeom>
          <a:solidFill>
            <a:srgbClr val="F4D39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vehicles-content"/>
          <p:cNvSpPr/>
          <p:nvPr/>
        </p:nvSpPr>
        <p:spPr>
          <a:xfrm>
            <a:off x="11252200" y="2349500"/>
            <a:ext cx="3911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Vehicles &amp; Products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Loading and dispatch should avoid unnecessary access to sensitive areas.</a:t>
            </a:r>
            <a:endParaRPr lang="en-US" sz="1800" dirty="0"/>
          </a:p>
        </p:txBody>
      </p:sp>
      <p:sp>
        <p:nvSpPr>
          <p:cNvPr id="10" name="movement-flow-band"/>
          <p:cNvSpPr/>
          <p:nvPr/>
        </p:nvSpPr>
        <p:spPr>
          <a:xfrm>
            <a:off x="762000" y="4826000"/>
            <a:ext cx="14732000" cy="1651000"/>
          </a:xfrm>
          <a:prstGeom prst="roundRect">
            <a:avLst>
              <a:gd name="adj" fmla="val 9231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movement-flow-label"/>
          <p:cNvSpPr/>
          <p:nvPr/>
        </p:nvSpPr>
        <p:spPr>
          <a:xfrm>
            <a:off x="1143000" y="5080000"/>
            <a:ext cx="139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CONCEPTUAL MOVEMENT PROGRESSION</a:t>
            </a:r>
            <a:endParaRPr lang="en-US" sz="1800" dirty="0"/>
          </a:p>
        </p:txBody>
      </p:sp>
      <p:sp>
        <p:nvSpPr>
          <p:cNvPr id="12" name="movement-flow"/>
          <p:cNvSpPr/>
          <p:nvPr/>
        </p:nvSpPr>
        <p:spPr>
          <a:xfrm>
            <a:off x="1206500" y="5651500"/>
            <a:ext cx="1384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2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ENTRANCE  →  OPEN  →  CONTROLLED  →  RESTRICTED  →  CRITICAL</a:t>
            </a:r>
            <a:endParaRPr lang="en-US" sz="2200" dirty="0"/>
          </a:p>
        </p:txBody>
      </p:sp>
      <p:sp>
        <p:nvSpPr>
          <p:cNvPr id="13" name="movement-principle-band"/>
          <p:cNvSpPr/>
          <p:nvPr/>
        </p:nvSpPr>
        <p:spPr>
          <a:xfrm>
            <a:off x="762000" y="6985000"/>
            <a:ext cx="14732000" cy="762000"/>
          </a:xfrm>
          <a:prstGeom prst="roundRect">
            <a:avLst>
              <a:gd name="adj" fmla="val 16667"/>
            </a:avLst>
          </a:prstGeom>
          <a:solidFill>
            <a:srgbClr val="ECA8A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movement-principle"/>
          <p:cNvSpPr/>
          <p:nvPr/>
        </p:nvSpPr>
        <p:spPr>
          <a:xfrm>
            <a:off x="1079500" y="7226300"/>
            <a:ext cx="140970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7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people and activities do not require the same paths or the same access to every part of the farm.</a:t>
            </a:r>
            <a:endParaRPr lang="en-US" sz="1700" dirty="0"/>
          </a:p>
        </p:txBody>
      </p:sp>
      <p:sp>
        <p:nvSpPr>
          <p:cNvPr id="15" name="movement-strip-open"/>
          <p:cNvSpPr/>
          <p:nvPr/>
        </p:nvSpPr>
        <p:spPr>
          <a:xfrm>
            <a:off x="0" y="8763000"/>
            <a:ext cx="4064000" cy="127000"/>
          </a:xfrm>
          <a:prstGeom prst="rect">
            <a:avLst/>
          </a:prstGeom>
          <a:solidFill>
            <a:srgbClr val="A8D5BA"/>
          </a:solidFill>
          <a:ln/>
        </p:spPr>
      </p:sp>
      <p:sp>
        <p:nvSpPr>
          <p:cNvPr id="16" name="movement-strip-controlled"/>
          <p:cNvSpPr/>
          <p:nvPr/>
        </p:nvSpPr>
        <p:spPr>
          <a:xfrm>
            <a:off x="4064000" y="8763000"/>
            <a:ext cx="4064000" cy="127000"/>
          </a:xfrm>
          <a:prstGeom prst="rect">
            <a:avLst/>
          </a:prstGeom>
          <a:solidFill>
            <a:srgbClr val="A3C4ED"/>
          </a:solidFill>
          <a:ln/>
        </p:spPr>
      </p:sp>
      <p:sp>
        <p:nvSpPr>
          <p:cNvPr id="17" name="movement-strip-restricted"/>
          <p:cNvSpPr/>
          <p:nvPr/>
        </p:nvSpPr>
        <p:spPr>
          <a:xfrm>
            <a:off x="8128000" y="8763000"/>
            <a:ext cx="4064000" cy="127000"/>
          </a:xfrm>
          <a:prstGeom prst="rect">
            <a:avLst/>
          </a:prstGeom>
          <a:solidFill>
            <a:srgbClr val="F4D392"/>
          </a:solidFill>
          <a:ln/>
        </p:spPr>
      </p:sp>
      <p:sp>
        <p:nvSpPr>
          <p:cNvPr id="18" name="movement-strip-critical"/>
          <p:cNvSpPr/>
          <p:nvPr/>
        </p:nvSpPr>
        <p:spPr>
          <a:xfrm>
            <a:off x="12192000" y="8763000"/>
            <a:ext cx="4064000" cy="127000"/>
          </a:xfrm>
          <a:prstGeom prst="rect">
            <a:avLst/>
          </a:prstGeom>
          <a:solidFill>
            <a:srgbClr val="ECA8A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ckup-title"/>
          <p:cNvSpPr/>
          <p:nvPr/>
        </p:nvSpPr>
        <p:spPr>
          <a:xfrm>
            <a:off x="762000" y="660400"/>
            <a:ext cx="1397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Preliminary Farm Security Zoning Mock-up</a:t>
            </a:r>
            <a:endParaRPr lang="en-US" sz="3200" dirty="0"/>
          </a:p>
        </p:txBody>
      </p:sp>
      <p:sp>
        <p:nvSpPr>
          <p:cNvPr id="3" name="mockup-subtitle"/>
          <p:cNvSpPr/>
          <p:nvPr/>
        </p:nvSpPr>
        <p:spPr>
          <a:xfrm>
            <a:off x="762000" y="1270000"/>
            <a:ext cx="142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working model — to be refined using the real farm layout and operational information.</a:t>
            </a:r>
            <a:endParaRPr lang="en-US" sz="1400" dirty="0"/>
          </a:p>
        </p:txBody>
      </p:sp>
      <p:sp>
        <p:nvSpPr>
          <p:cNvPr id="4" name="mock-open"/>
          <p:cNvSpPr/>
          <p:nvPr/>
        </p:nvSpPr>
        <p:spPr>
          <a:xfrm>
            <a:off x="762000" y="2286000"/>
            <a:ext cx="3556000" cy="1778000"/>
          </a:xfrm>
          <a:prstGeom prst="roundRect">
            <a:avLst>
              <a:gd name="adj" fmla="val 7143"/>
            </a:avLst>
          </a:prstGeom>
          <a:solidFill>
            <a:srgbClr val="A8D5B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mock-open-text"/>
          <p:cNvSpPr/>
          <p:nvPr/>
        </p:nvSpPr>
        <p:spPr>
          <a:xfrm>
            <a:off x="1041400" y="2667000"/>
            <a:ext cx="299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6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Entrance / Reception / Visitor Area</a:t>
            </a:r>
            <a:endParaRPr lang="en-US" sz="1800" dirty="0"/>
          </a:p>
        </p:txBody>
      </p:sp>
      <p:sp>
        <p:nvSpPr>
          <p:cNvPr id="6" name="mock-production"/>
          <p:cNvSpPr/>
          <p:nvPr/>
        </p:nvSpPr>
        <p:spPr>
          <a:xfrm>
            <a:off x="4445000" y="2286000"/>
            <a:ext cx="5334000" cy="1778000"/>
          </a:xfrm>
          <a:prstGeom prst="roundRect">
            <a:avLst>
              <a:gd name="adj" fmla="val 7143"/>
            </a:avLst>
          </a:prstGeom>
          <a:solidFill>
            <a:srgbClr val="A3C4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mock-production-text"/>
          <p:cNvSpPr/>
          <p:nvPr/>
        </p:nvSpPr>
        <p:spPr>
          <a:xfrm>
            <a:off x="4800600" y="2667000"/>
            <a:ext cx="462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6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Area</a:t>
            </a:r>
            <a:endParaRPr lang="en-US" sz="1800" dirty="0"/>
          </a:p>
        </p:txBody>
      </p:sp>
      <p:sp>
        <p:nvSpPr>
          <p:cNvPr id="8" name="mock-operations"/>
          <p:cNvSpPr/>
          <p:nvPr/>
        </p:nvSpPr>
        <p:spPr>
          <a:xfrm>
            <a:off x="10033000" y="2286000"/>
            <a:ext cx="5461000" cy="1778000"/>
          </a:xfrm>
          <a:prstGeom prst="roundRect">
            <a:avLst>
              <a:gd name="adj" fmla="val 7143"/>
            </a:avLst>
          </a:prstGeom>
          <a:solidFill>
            <a:srgbClr val="A3C4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mock-operations-text"/>
          <p:cNvSpPr/>
          <p:nvPr/>
        </p:nvSpPr>
        <p:spPr>
          <a:xfrm>
            <a:off x="10414000" y="2667000"/>
            <a:ext cx="469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6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Operational Area</a:t>
            </a:r>
            <a:endParaRPr lang="en-US" sz="1800" dirty="0"/>
          </a:p>
        </p:txBody>
      </p:sp>
      <p:sp>
        <p:nvSpPr>
          <p:cNvPr id="10" name="mock-warehouse"/>
          <p:cNvSpPr/>
          <p:nvPr/>
        </p:nvSpPr>
        <p:spPr>
          <a:xfrm>
            <a:off x="762000" y="4254500"/>
            <a:ext cx="3556000" cy="1778000"/>
          </a:xfrm>
          <a:prstGeom prst="roundRect">
            <a:avLst>
              <a:gd name="adj" fmla="val 7143"/>
            </a:avLst>
          </a:prstGeom>
          <a:solidFill>
            <a:srgbClr val="F4D39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mock-warehouse-text"/>
          <p:cNvSpPr/>
          <p:nvPr/>
        </p:nvSpPr>
        <p:spPr>
          <a:xfrm>
            <a:off x="1041400" y="4635500"/>
            <a:ext cx="299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RESTRICTED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6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Warehouse / Storage</a:t>
            </a:r>
            <a:endParaRPr lang="en-US" sz="1800" dirty="0"/>
          </a:p>
        </p:txBody>
      </p:sp>
      <p:sp>
        <p:nvSpPr>
          <p:cNvPr id="12" name="mock-equipment"/>
          <p:cNvSpPr/>
          <p:nvPr/>
        </p:nvSpPr>
        <p:spPr>
          <a:xfrm>
            <a:off x="4445000" y="4254500"/>
            <a:ext cx="5334000" cy="1778000"/>
          </a:xfrm>
          <a:prstGeom prst="roundRect">
            <a:avLst>
              <a:gd name="adj" fmla="val 7143"/>
            </a:avLst>
          </a:prstGeom>
          <a:solidFill>
            <a:srgbClr val="F4D39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mock-equipment-text"/>
          <p:cNvSpPr/>
          <p:nvPr/>
        </p:nvSpPr>
        <p:spPr>
          <a:xfrm>
            <a:off x="4800600" y="4635500"/>
            <a:ext cx="462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RESTRICTED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6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Equipment Area</a:t>
            </a:r>
            <a:endParaRPr lang="en-US" sz="1800" dirty="0"/>
          </a:p>
        </p:txBody>
      </p:sp>
      <p:sp>
        <p:nvSpPr>
          <p:cNvPr id="14" name="mock-critical"/>
          <p:cNvSpPr/>
          <p:nvPr/>
        </p:nvSpPr>
        <p:spPr>
          <a:xfrm>
            <a:off x="10033000" y="4254500"/>
            <a:ext cx="5461000" cy="1778000"/>
          </a:xfrm>
          <a:prstGeom prst="roundRect">
            <a:avLst>
              <a:gd name="adj" fmla="val 7143"/>
            </a:avLst>
          </a:prstGeom>
          <a:solidFill>
            <a:srgbClr val="ECA8A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mock-critical-text"/>
          <p:cNvSpPr/>
          <p:nvPr/>
        </p:nvSpPr>
        <p:spPr>
          <a:xfrm>
            <a:off x="10414000" y="4635500"/>
            <a:ext cx="469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6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Infrastructure</a:t>
            </a:r>
            <a:endParaRPr lang="en-US" sz="1800" dirty="0"/>
          </a:p>
        </p:txBody>
      </p:sp>
      <p:sp>
        <p:nvSpPr>
          <p:cNvPr id="16" name="mock-loading"/>
          <p:cNvSpPr/>
          <p:nvPr/>
        </p:nvSpPr>
        <p:spPr>
          <a:xfrm>
            <a:off x="762000" y="6223000"/>
            <a:ext cx="7112000" cy="889000"/>
          </a:xfrm>
          <a:prstGeom prst="roundRect">
            <a:avLst>
              <a:gd name="adj" fmla="val 14286"/>
            </a:avLst>
          </a:prstGeom>
          <a:solidFill>
            <a:srgbClr val="F4D39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mock-loading-text"/>
          <p:cNvSpPr/>
          <p:nvPr/>
        </p:nvSpPr>
        <p:spPr>
          <a:xfrm>
            <a:off x="1041400" y="6438900"/>
            <a:ext cx="65532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LOADING / DISPATCH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4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Vehicles and products</a:t>
            </a:r>
            <a:endParaRPr lang="en-US" sz="1800" dirty="0"/>
          </a:p>
        </p:txBody>
      </p:sp>
      <p:sp>
        <p:nvSpPr>
          <p:cNvPr id="18" name="mock-buffer"/>
          <p:cNvSpPr/>
          <p:nvPr/>
        </p:nvSpPr>
        <p:spPr>
          <a:xfrm>
            <a:off x="8128000" y="6223000"/>
            <a:ext cx="7366000" cy="889000"/>
          </a:xfrm>
          <a:prstGeom prst="roundRect">
            <a:avLst>
              <a:gd name="adj" fmla="val 14286"/>
            </a:avLst>
          </a:prstGeom>
          <a:solidFill>
            <a:srgbClr val="A3C4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mock-buffer-text"/>
          <p:cNvSpPr/>
          <p:nvPr/>
        </p:nvSpPr>
        <p:spPr>
          <a:xfrm>
            <a:off x="8407400" y="6438900"/>
            <a:ext cx="68072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/ BUFFER AREA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4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operational circulation</a:t>
            </a:r>
            <a:endParaRPr lang="en-US" sz="1800" dirty="0"/>
          </a:p>
        </p:txBody>
      </p:sp>
      <p:sp>
        <p:nvSpPr>
          <p:cNvPr id="20" name="mock-legend-band"/>
          <p:cNvSpPr/>
          <p:nvPr/>
        </p:nvSpPr>
        <p:spPr>
          <a:xfrm>
            <a:off x="762000" y="7429500"/>
            <a:ext cx="14732000" cy="533400"/>
          </a:xfrm>
          <a:prstGeom prst="roundRect">
            <a:avLst>
              <a:gd name="adj" fmla="val 23810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mock-legend"/>
          <p:cNvSpPr/>
          <p:nvPr/>
        </p:nvSpPr>
        <p:spPr>
          <a:xfrm>
            <a:off x="1041400" y="7581900"/>
            <a:ext cx="141732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= soft green   ·   CONTROLLED = soft blue   ·   RESTRICTED = soft amber   ·   CRITICAL = soft red</a:t>
            </a:r>
            <a:endParaRPr lang="en-US" sz="1400" dirty="0"/>
          </a:p>
        </p:txBody>
      </p:sp>
      <p:sp>
        <p:nvSpPr>
          <p:cNvPr id="22" name="mockup-strip-open"/>
          <p:cNvSpPr/>
          <p:nvPr/>
        </p:nvSpPr>
        <p:spPr>
          <a:xfrm>
            <a:off x="0" y="8763000"/>
            <a:ext cx="4064000" cy="127000"/>
          </a:xfrm>
          <a:prstGeom prst="rect">
            <a:avLst/>
          </a:prstGeom>
          <a:solidFill>
            <a:srgbClr val="A8D5BA"/>
          </a:solidFill>
          <a:ln/>
        </p:spPr>
      </p:sp>
      <p:sp>
        <p:nvSpPr>
          <p:cNvPr id="23" name="mockup-strip-controlled"/>
          <p:cNvSpPr/>
          <p:nvPr/>
        </p:nvSpPr>
        <p:spPr>
          <a:xfrm>
            <a:off x="4064000" y="8763000"/>
            <a:ext cx="4064000" cy="127000"/>
          </a:xfrm>
          <a:prstGeom prst="rect">
            <a:avLst/>
          </a:prstGeom>
          <a:solidFill>
            <a:srgbClr val="A3C4ED"/>
          </a:solidFill>
          <a:ln/>
        </p:spPr>
      </p:sp>
      <p:sp>
        <p:nvSpPr>
          <p:cNvPr id="24" name="mockup-strip-restricted"/>
          <p:cNvSpPr/>
          <p:nvPr/>
        </p:nvSpPr>
        <p:spPr>
          <a:xfrm>
            <a:off x="8128000" y="8763000"/>
            <a:ext cx="4064000" cy="127000"/>
          </a:xfrm>
          <a:prstGeom prst="rect">
            <a:avLst/>
          </a:prstGeom>
          <a:solidFill>
            <a:srgbClr val="F4D392"/>
          </a:solidFill>
          <a:ln/>
        </p:spPr>
      </p:sp>
      <p:sp>
        <p:nvSpPr>
          <p:cNvPr id="25" name="mockup-strip-critical"/>
          <p:cNvSpPr/>
          <p:nvPr/>
        </p:nvSpPr>
        <p:spPr>
          <a:xfrm>
            <a:off x="12192000" y="8763000"/>
            <a:ext cx="4064000" cy="127000"/>
          </a:xfrm>
          <a:prstGeom prst="rect">
            <a:avLst/>
          </a:prstGeom>
          <a:solidFill>
            <a:srgbClr val="ECA8A6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ult-title"/>
          <p:cNvSpPr/>
          <p:nvPr/>
        </p:nvSpPr>
        <p:spPr>
          <a:xfrm>
            <a:off x="762000" y="6604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This Week Establishes</a:t>
            </a:r>
            <a:endParaRPr lang="en-US" sz="3200" dirty="0"/>
          </a:p>
        </p:txBody>
      </p:sp>
      <p:sp>
        <p:nvSpPr>
          <p:cNvPr id="3" name="result-subtitle"/>
          <p:cNvSpPr/>
          <p:nvPr/>
        </p:nvSpPr>
        <p:spPr>
          <a:xfrm>
            <a:off x="762000" y="1270000"/>
            <a:ext cx="142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clearer basis for the physical-security design — without pretending that later decisions are already complete.</a:t>
            </a:r>
            <a:endParaRPr lang="en-US" sz="1400" dirty="0"/>
          </a:p>
        </p:txBody>
      </p:sp>
      <p:sp>
        <p:nvSpPr>
          <p:cNvPr id="4" name="established-card"/>
          <p:cNvSpPr/>
          <p:nvPr/>
        </p:nvSpPr>
        <p:spPr>
          <a:xfrm>
            <a:off x="762000" y="2095500"/>
            <a:ext cx="6985000" cy="3683000"/>
          </a:xfrm>
          <a:prstGeom prst="roundRect">
            <a:avLst>
              <a:gd name="adj" fmla="val 4138"/>
            </a:avLst>
          </a:prstGeom>
          <a:solidFill>
            <a:srgbClr val="A8D5B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established-content"/>
          <p:cNvSpPr/>
          <p:nvPr/>
        </p:nvSpPr>
        <p:spPr>
          <a:xfrm>
            <a:off x="1143000" y="2438400"/>
            <a:ext cx="6223000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Established in Week 4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need for spatial organization.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connection to the Week 3 risk and asset analysis.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preliminary levels of security sensitivity.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Movement considerations for workers, visitors, vehicles and products.</a:t>
            </a:r>
            <a:endParaRPr lang="en-US" sz="1800" dirty="0"/>
          </a:p>
        </p:txBody>
      </p:sp>
      <p:sp>
        <p:nvSpPr>
          <p:cNvPr id="6" name="boundary-card"/>
          <p:cNvSpPr/>
          <p:nvPr/>
        </p:nvSpPr>
        <p:spPr>
          <a:xfrm>
            <a:off x="8509000" y="2095500"/>
            <a:ext cx="6985000" cy="3683000"/>
          </a:xfrm>
          <a:prstGeom prst="roundRect">
            <a:avLst>
              <a:gd name="adj" fmla="val 4138"/>
            </a:avLst>
          </a:prstGeom>
          <a:solidFill>
            <a:srgbClr val="F4D39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boundary-content"/>
          <p:cNvSpPr/>
          <p:nvPr/>
        </p:nvSpPr>
        <p:spPr>
          <a:xfrm>
            <a:off x="8890000" y="2438400"/>
            <a:ext cx="6223000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finalized this week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fencing engineering design.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surveillance design or camera locations.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access-control specifications.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700" dirty="0">
                <a:solidFill>
                  <a:srgbClr val="243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confirmed architectural map of the real farm.</a:t>
            </a:r>
            <a:endParaRPr lang="en-US" sz="1800" dirty="0"/>
          </a:p>
        </p:txBody>
      </p:sp>
      <p:sp>
        <p:nvSpPr>
          <p:cNvPr id="8" name="result-band"/>
          <p:cNvSpPr/>
          <p:nvPr/>
        </p:nvSpPr>
        <p:spPr>
          <a:xfrm>
            <a:off x="762000" y="6223000"/>
            <a:ext cx="14732000" cy="1168400"/>
          </a:xfrm>
          <a:prstGeom prst="roundRect">
            <a:avLst>
              <a:gd name="adj" fmla="val 13043"/>
            </a:avLst>
          </a:prstGeom>
          <a:solidFill>
            <a:srgbClr val="A3C4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result-band-text"/>
          <p:cNvSpPr/>
          <p:nvPr/>
        </p:nvSpPr>
        <p:spPr>
          <a:xfrm>
            <a:off x="1143000" y="6527800"/>
            <a:ext cx="1397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2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zoning model creates a visible structure that can be reviewed, discussed and refined.</a:t>
            </a:r>
            <a:endParaRPr lang="en-US" sz="2200" dirty="0"/>
          </a:p>
        </p:txBody>
      </p:sp>
      <p:sp>
        <p:nvSpPr>
          <p:cNvPr id="10" name="environment-note"/>
          <p:cNvSpPr/>
          <p:nvPr/>
        </p:nvSpPr>
        <p:spPr>
          <a:xfrm>
            <a:off x="762000" y="7683500"/>
            <a:ext cx="14732000" cy="444500"/>
          </a:xfrm>
          <a:prstGeom prst="roundRect">
            <a:avLst>
              <a:gd name="adj" fmla="val 22857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environment-note-text"/>
          <p:cNvSpPr/>
          <p:nvPr/>
        </p:nvSpPr>
        <p:spPr>
          <a:xfrm>
            <a:off x="1041400" y="7810500"/>
            <a:ext cx="141732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Zoning must also consider the physical environment: heat, dust, weather, power reliability and connectivity.</a:t>
            </a:r>
            <a:endParaRPr lang="en-US" sz="1400" dirty="0"/>
          </a:p>
        </p:txBody>
      </p:sp>
      <p:sp>
        <p:nvSpPr>
          <p:cNvPr id="12" name="result-strip-open"/>
          <p:cNvSpPr/>
          <p:nvPr/>
        </p:nvSpPr>
        <p:spPr>
          <a:xfrm>
            <a:off x="0" y="8763000"/>
            <a:ext cx="4064000" cy="127000"/>
          </a:xfrm>
          <a:prstGeom prst="rect">
            <a:avLst/>
          </a:prstGeom>
          <a:solidFill>
            <a:srgbClr val="A8D5BA"/>
          </a:solidFill>
          <a:ln/>
        </p:spPr>
      </p:sp>
      <p:sp>
        <p:nvSpPr>
          <p:cNvPr id="13" name="result-strip-controlled"/>
          <p:cNvSpPr/>
          <p:nvPr/>
        </p:nvSpPr>
        <p:spPr>
          <a:xfrm>
            <a:off x="4064000" y="8763000"/>
            <a:ext cx="4064000" cy="127000"/>
          </a:xfrm>
          <a:prstGeom prst="rect">
            <a:avLst/>
          </a:prstGeom>
          <a:solidFill>
            <a:srgbClr val="A3C4ED"/>
          </a:solidFill>
          <a:ln/>
        </p:spPr>
      </p:sp>
      <p:sp>
        <p:nvSpPr>
          <p:cNvPr id="14" name="result-strip-restricted"/>
          <p:cNvSpPr/>
          <p:nvPr/>
        </p:nvSpPr>
        <p:spPr>
          <a:xfrm>
            <a:off x="8128000" y="8763000"/>
            <a:ext cx="4064000" cy="127000"/>
          </a:xfrm>
          <a:prstGeom prst="rect">
            <a:avLst/>
          </a:prstGeom>
          <a:solidFill>
            <a:srgbClr val="F4D392"/>
          </a:solidFill>
          <a:ln/>
        </p:spPr>
      </p:sp>
      <p:sp>
        <p:nvSpPr>
          <p:cNvPr id="15" name="result-strip-critical"/>
          <p:cNvSpPr/>
          <p:nvPr/>
        </p:nvSpPr>
        <p:spPr>
          <a:xfrm>
            <a:off x="12192000" y="8763000"/>
            <a:ext cx="4064000" cy="127000"/>
          </a:xfrm>
          <a:prstGeom prst="rect">
            <a:avLst/>
          </a:prstGeom>
          <a:solidFill>
            <a:srgbClr val="ECA8A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keaway-label"/>
          <p:cNvSpPr/>
          <p:nvPr/>
        </p:nvSpPr>
        <p:spPr>
          <a:xfrm>
            <a:off x="2032000" y="2159000"/>
            <a:ext cx="1219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6673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4 — FARM SECURITY ZONING</a:t>
            </a:r>
            <a:endParaRPr lang="en-US" sz="1400" dirty="0"/>
          </a:p>
        </p:txBody>
      </p:sp>
      <p:sp>
        <p:nvSpPr>
          <p:cNvPr id="3" name="takeaway-card"/>
          <p:cNvSpPr/>
          <p:nvPr/>
        </p:nvSpPr>
        <p:spPr>
          <a:xfrm>
            <a:off x="1524000" y="3111500"/>
            <a:ext cx="13208000" cy="2286000"/>
          </a:xfrm>
          <a:prstGeom prst="roundRect">
            <a:avLst>
              <a:gd name="adj" fmla="val 7778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4" name="takeaway-statement"/>
          <p:cNvSpPr/>
          <p:nvPr/>
        </p:nvSpPr>
        <p:spPr>
          <a:xfrm>
            <a:off x="2095500" y="3581400"/>
            <a:ext cx="12065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3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farm should not be treated as one uniform security area.</a:t>
            </a:r>
            <a:endParaRPr lang="en-US" sz="3600" dirty="0"/>
          </a:p>
        </p:txBody>
      </p:sp>
      <p:sp>
        <p:nvSpPr>
          <p:cNvPr id="5" name="takeaway-support"/>
          <p:cNvSpPr/>
          <p:nvPr/>
        </p:nvSpPr>
        <p:spPr>
          <a:xfrm>
            <a:off x="2413000" y="4635500"/>
            <a:ext cx="1143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EAF1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Different activities, assets and risks require different levels of protection and controlled movement.</a:t>
            </a:r>
            <a:endParaRPr lang="en-US" sz="2100" dirty="0"/>
          </a:p>
        </p:txBody>
      </p:sp>
      <p:sp>
        <p:nvSpPr>
          <p:cNvPr id="6" name="takeaway-output"/>
          <p:cNvSpPr/>
          <p:nvPr/>
        </p:nvSpPr>
        <p:spPr>
          <a:xfrm>
            <a:off x="2286000" y="6223000"/>
            <a:ext cx="1168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4 result: a clear preliminary zoning model for review and refinement.</a:t>
            </a:r>
            <a:endParaRPr lang="en-US" sz="2000" dirty="0"/>
          </a:p>
        </p:txBody>
      </p:sp>
      <p:sp>
        <p:nvSpPr>
          <p:cNvPr id="7" name="takeaway-strip-open"/>
          <p:cNvSpPr/>
          <p:nvPr/>
        </p:nvSpPr>
        <p:spPr>
          <a:xfrm>
            <a:off x="0" y="8763000"/>
            <a:ext cx="4064000" cy="127000"/>
          </a:xfrm>
          <a:prstGeom prst="rect">
            <a:avLst/>
          </a:prstGeom>
          <a:solidFill>
            <a:srgbClr val="A8D5BA"/>
          </a:solidFill>
          <a:ln/>
        </p:spPr>
      </p:sp>
      <p:sp>
        <p:nvSpPr>
          <p:cNvPr id="8" name="takeaway-strip-controlled"/>
          <p:cNvSpPr/>
          <p:nvPr/>
        </p:nvSpPr>
        <p:spPr>
          <a:xfrm>
            <a:off x="4064000" y="8763000"/>
            <a:ext cx="4064000" cy="127000"/>
          </a:xfrm>
          <a:prstGeom prst="rect">
            <a:avLst/>
          </a:prstGeom>
          <a:solidFill>
            <a:srgbClr val="A3C4ED"/>
          </a:solidFill>
          <a:ln/>
        </p:spPr>
      </p:sp>
      <p:sp>
        <p:nvSpPr>
          <p:cNvPr id="9" name="takeaway-strip-restricted"/>
          <p:cNvSpPr/>
          <p:nvPr/>
        </p:nvSpPr>
        <p:spPr>
          <a:xfrm>
            <a:off x="8128000" y="8763000"/>
            <a:ext cx="4064000" cy="127000"/>
          </a:xfrm>
          <a:prstGeom prst="rect">
            <a:avLst/>
          </a:prstGeom>
          <a:solidFill>
            <a:srgbClr val="F4D392"/>
          </a:solidFill>
          <a:ln/>
        </p:spPr>
      </p:sp>
      <p:sp>
        <p:nvSpPr>
          <p:cNvPr id="10" name="takeaway-strip-critical"/>
          <p:cNvSpPr/>
          <p:nvPr/>
        </p:nvSpPr>
        <p:spPr>
          <a:xfrm>
            <a:off x="12192000" y="8763000"/>
            <a:ext cx="4064000" cy="127000"/>
          </a:xfrm>
          <a:prstGeom prst="rect">
            <a:avLst/>
          </a:prstGeom>
          <a:solidFill>
            <a:srgbClr val="ECA8A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 — FARM SECURITY ZONING</dc:title>
  <dc:subject>WEEK 4 — FARM SECURITY ZONING</dc:subject>
  <dc:creator>Manus</dc:creator>
  <cp:lastModifiedBy>Manus</cp:lastModifiedBy>
  <cp:revision>1</cp:revision>
  <dcterms:created xsi:type="dcterms:W3CDTF">2026-08-12T16:46:07Z</dcterms:created>
  <dcterms:modified xsi:type="dcterms:W3CDTF">2026-08-12T16:46:07Z</dcterms:modified>
</cp:coreProperties>
</file>