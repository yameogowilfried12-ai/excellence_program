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22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22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22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22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92.png"/><Relationship Id="rId8" Type="http://schemas.openxmlformats.org/officeDocument/2006/relationships/image" Target="../media/image9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5800725"/>
            <a:ext cx="1114425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125" y="619125"/>
            <a:ext cx="41910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23887"/>
            <a:ext cx="3609975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2807791"/>
            <a:ext cx="601980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475" y="5934075"/>
            <a:ext cx="10725150" cy="17145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0" sz="1050" i="1" u="none">
                <a:solidFill>
                  <a:srgbClr val="F7F7F5"/>
                </a:solidFill>
                <a:latin typeface="Plus Jakarta Sans"/>
              </a:rPr>
              <a:t> Implementation is not only about writing code — it is about managing versions, databases, containers, and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1014412"/>
            <a:ext cx="632079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b="1" sz="3150" i="0" u="none">
                <a:solidFill>
                  <a:srgbClr val="F7F7F5"/>
                </a:solidFill>
                <a:latin typeface="Playfair Display"/>
              </a:rPr>
              <a:t>Site Security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1647825"/>
            <a:ext cx="60198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B89B5E"/>
                </a:solidFill>
                <a:latin typeface="Playfair Display"/>
              </a:rPr>
              <a:t>Issues, Resolutions, and Lessons 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2114550"/>
            <a:ext cx="57150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AEB8C2"/>
                </a:solidFill>
                <a:latin typeface="Plus Jakarta Sans"/>
              </a:rPr>
              <a:t>An engineering account of building and verifying the Site Security feature inside an existing team codebase.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525" y="771525"/>
            <a:ext cx="3886200" cy="3314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5962650"/>
            <a:ext cx="12382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685800"/>
            <a:ext cx="147637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00" y="3255466"/>
            <a:ext cx="33147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00" i="0" u="none">
                <a:solidFill>
                  <a:srgbClr val="AEB8C2"/>
                </a:solidFill>
                <a:latin typeface="Plus Jakarta Sans"/>
              </a:rPr>
              <a:t> </a:t>
            </a:r>
            <a:r>
              <a:rPr b="0" sz="900" i="0" u="none">
                <a:solidFill>
                  <a:srgbClr val="AEB8C2"/>
                </a:solidFill>
                <a:latin typeface="Plus Jakarta Sans"/>
              </a:rPr>
              <a:t>feature/sitesecurity/init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017341"/>
            <a:ext cx="11430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14500" y="2988766"/>
            <a:ext cx="2019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FFFFF"/>
                </a:solidFill>
                <a:latin typeface="Plus Jakarta Sans SemiBold"/>
              </a:rPr>
              <a:t>Wendtoin Filomène Tania ZABRE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550741"/>
            <a:ext cx="7048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6850" y="3550741"/>
            <a:ext cx="14668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0850" y="3550741"/>
            <a:ext cx="10858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33850" y="3550741"/>
            <a:ext cx="93345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3550741"/>
            <a:ext cx="12382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850" y="3284041"/>
            <a:ext cx="10477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231" y="1456283"/>
            <a:ext cx="4864893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934616"/>
            <a:ext cx="5945981" cy="10721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5140374"/>
            <a:ext cx="5945981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540174"/>
            <a:ext cx="291584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015" y="3540174"/>
            <a:ext cx="291584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054524"/>
            <a:ext cx="291584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015" y="4054524"/>
            <a:ext cx="291584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568874"/>
            <a:ext cx="291584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015" y="4568874"/>
            <a:ext cx="291584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6353175"/>
            <a:ext cx="1114425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875" y="6477000"/>
            <a:ext cx="2514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Site Security Implementation · Project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0825" y="647700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BIT Excellence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" y="3197274"/>
            <a:ext cx="624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2530"/>
                </a:solidFill>
                <a:latin typeface="Playfair Display"/>
              </a:rPr>
              <a:t>Implementation Scope (6 Core Areas)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3256" y="1656308"/>
            <a:ext cx="4464843" cy="4171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5325" y="5273724"/>
            <a:ext cx="1123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B89B5E"/>
                </a:solidFill>
                <a:latin typeface="Plus Jakarta Sans SemiBold"/>
              </a:rPr>
              <a:t>KEY 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181" y="5273724"/>
            <a:ext cx="1800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7F7F5"/>
                </a:solidFill>
                <a:latin typeface="Plus Jakarta Sans"/>
              </a:rPr>
              <a:t> 10 Commits</a:t>
            </a:r>
            <a:r>
              <a:rPr b="0" sz="900" i="0" u="none">
                <a:solidFill>
                  <a:srgbClr val="F7F7F5"/>
                </a:solidFill>
                <a:latin typeface="Plus Jakarta Sans"/>
              </a:rPr>
              <a:t> </a:t>
            </a:r>
            <a:r>
              <a:rPr b="0" sz="900" i="0" u="none">
                <a:solidFill>
                  <a:srgbClr val="F7F7F5"/>
                </a:solidFill>
                <a:latin typeface="Plus Jakarta Sans"/>
              </a:rPr>
              <a:t> Builds Passing</a:t>
            </a:r>
            <a:r>
              <a:rPr b="0" sz="900" i="0" u="none">
                <a:solidFill>
                  <a:srgbClr val="F7F7F5"/>
                </a:solidFill>
                <a:latin typeface="Plus Jakarta Sans"/>
              </a:rPr>
              <a:t> </a:t>
            </a:r>
            <a:r>
              <a:rPr b="0" sz="900" i="0" u="none">
                <a:solidFill>
                  <a:srgbClr val="F7F7F5"/>
                </a:solidFill>
                <a:latin typeface="Plus Jakarta Sans"/>
              </a:rPr>
              <a:t> API 200 OK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115591"/>
            <a:ext cx="2190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9175" y="2096541"/>
            <a:ext cx="5553194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B2530"/>
                </a:solidFill>
                <a:latin typeface="Playfair Display"/>
              </a:rPr>
              <a:t>Inherited Repository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175" y="2325141"/>
            <a:ext cx="5288756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6B8A"/>
                </a:solidFill>
                <a:latin typeface="Plus Jakarta Sans"/>
              </a:rPr>
              <a:t>Inherited a team codebase with an approved frontend mockup. The mandate was to </a:t>
            </a:r>
            <a:r>
              <a:rPr b="1" sz="975" i="0" u="none">
                <a:solidFill>
                  <a:srgbClr val="4C6B8A"/>
                </a:solidFill>
                <a:latin typeface="Plus Jakarta Sans"/>
              </a:rPr>
              <a:t>implement seamlessly inside existing structures</a:t>
            </a:r>
            <a:r>
              <a:rPr b="0" sz="975" i="0" u="none">
                <a:solidFill>
                  <a:srgbClr val="4C6B8A"/>
                </a:solidFill>
                <a:latin typeface="Plus Jakarta Sans"/>
              </a:rPr>
              <a:t> without redesigning baseline architecture.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3663999"/>
            <a:ext cx="1333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5350" y="3663999"/>
            <a:ext cx="1333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 SemiBold"/>
              </a:rPr>
              <a:t>Database Persistence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96890" y="3663999"/>
            <a:ext cx="1524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944540" y="3663999"/>
            <a:ext cx="10096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 SemiBold"/>
              </a:rPr>
              <a:t>Backend Service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" y="4178349"/>
            <a:ext cx="1905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2500" y="4178349"/>
            <a:ext cx="1162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 SemiBold"/>
              </a:rPr>
              <a:t>REST API Endpoints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6890" y="4178349"/>
            <a:ext cx="1905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82640" y="4178349"/>
            <a:ext cx="12573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 SemiBold"/>
              </a:rPr>
              <a:t>Frontend Integration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750" y="4692699"/>
            <a:ext cx="17145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33450" y="4692699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 SemiBold"/>
              </a:rPr>
              <a:t>Frontend Interface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6890" y="4692699"/>
            <a:ext cx="1905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82640" y="4692699"/>
            <a:ext cx="13239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 SemiBold"/>
              </a:rPr>
              <a:t>Runtime Docker Stack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45681" y="5292774"/>
            <a:ext cx="1428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98181" y="5292774"/>
            <a:ext cx="114300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5456" y="5292774"/>
            <a:ext cx="85725" cy="1143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Project Context &amp; Scope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98761"/>
            <a:ext cx="11144250" cy="4018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75" y="2591097"/>
            <a:ext cx="4362450" cy="28948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591097"/>
            <a:ext cx="3205162" cy="14616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387" y="2591097"/>
            <a:ext cx="3205162" cy="146164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186088"/>
            <a:ext cx="3205162" cy="12998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387" y="4186088"/>
            <a:ext cx="3205162" cy="129986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353175"/>
            <a:ext cx="111442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6477000"/>
            <a:ext cx="3343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Site Security Implementation · Environment &amp; Build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0825" y="647700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BIT Excellence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2113061"/>
            <a:ext cx="10763250" cy="173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1" sz="975" i="0" u="none">
                <a:solidFill>
                  <a:srgbClr val="1B2530"/>
                </a:solidFill>
                <a:latin typeface="Plus Jakarta Sans"/>
              </a:rPr>
              <a:t>Engineering Mindset Shift:</a:t>
            </a:r>
            <a:r>
              <a:rPr b="0" sz="975" i="0" u="none">
                <a:solidFill>
                  <a:srgbClr val="1B2530"/>
                </a:solidFill>
                <a:latin typeface="Plus Jakarta Sans"/>
              </a:rPr>
              <a:t> Resisted early temptation to audit/redesign "missing" repo structures. Shifted focus immediately to building inside the agreed team configuration.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8075" y="2743497"/>
            <a:ext cx="4057650" cy="25900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3105447"/>
            <a:ext cx="280511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B2530"/>
                </a:solidFill>
                <a:latin typeface="Plus Jakarta Sans"/>
              </a:rPr>
              <a:t>Issue:</a:t>
            </a:r>
            <a:r>
              <a:rPr b="0" sz="900" i="0" u="none">
                <a:solidFill>
                  <a:srgbClr val="1B2530"/>
                </a:solidFill>
                <a:latin typeface="Plus Jakarta Sans"/>
              </a:rPr>
              <a:t> Java 21 required; local machine ran Java 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305472"/>
            <a:ext cx="28051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C6B8A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Executed build inside Docker container; runtime logs verified JDK 21.0.12.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2412" y="3105447"/>
            <a:ext cx="28051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B2530"/>
                </a:solidFill>
                <a:latin typeface="Plus Jakarta Sans"/>
              </a:rPr>
              <a:t>Issue:</a:t>
            </a:r>
            <a:r>
              <a:rPr b="0" sz="900" i="0" u="none">
                <a:solidFill>
                  <a:srgbClr val="1B2530"/>
                </a:solidFill>
                <a:latin typeface="Plus Jakarta Sans"/>
              </a:rPr>
              <a:t> Mismatch between docs (4.1.0) and POM (3.4.3).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2412" y="3448347"/>
            <a:ext cx="28051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C6B8A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Restored Spring Boot 4.1.0 in 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pom.xml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; verified full build pass.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700438"/>
            <a:ext cx="280511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B2530"/>
                </a:solidFill>
                <a:latin typeface="Plus Jakarta Sans"/>
              </a:rPr>
              <a:t>Issue:</a:t>
            </a:r>
            <a:r>
              <a:rPr b="0" sz="900" i="0" u="none">
                <a:solidFill>
                  <a:srgbClr val="1B2530"/>
                </a:solidFill>
                <a:latin typeface="Plus Jakarta Sans"/>
              </a:rPr>
              <a:t> Docker Desktop daemon was inactive locally.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4900463"/>
            <a:ext cx="28051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C6B8A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Started Docker daemon and validated background container engine readiness.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2412" y="4700438"/>
            <a:ext cx="280511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B2530"/>
                </a:solidFill>
                <a:latin typeface="Plus Jakarta Sans"/>
              </a:rPr>
              <a:t>Issue:</a:t>
            </a:r>
            <a:r>
              <a:rPr b="0" sz="900" i="0" u="none">
                <a:solidFill>
                  <a:srgbClr val="1B2530"/>
                </a:solidFill>
                <a:latin typeface="Plus Jakarta Sans"/>
              </a:rPr>
              <a:t> Compose showed no active running services.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2412" y="4900463"/>
            <a:ext cx="28051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C6B8A"/>
                </a:solidFill>
                <a:latin typeface="Plus Jakarta Sans"/>
              </a:rPr>
              <a:t>Fix: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Initialized existing Compose environment; brought DB &amp; backend online.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2791122"/>
            <a:ext cx="1204912" cy="2381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95662" y="2843510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2412" y="2791122"/>
            <a:ext cx="1238250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4175" y="2843510"/>
            <a:ext cx="13335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386113"/>
            <a:ext cx="1419225" cy="2381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95662" y="4438501"/>
            <a:ext cx="13335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62412" y="4386113"/>
            <a:ext cx="1595437" cy="2381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4175" y="4438501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" y="2853035"/>
            <a:ext cx="90487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67187" y="2853035"/>
            <a:ext cx="119062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675" y="4448026"/>
            <a:ext cx="147637" cy="1143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67187" y="4448026"/>
            <a:ext cx="138112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Environment &amp; Build Challenges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646783"/>
            <a:ext cx="4886325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646783"/>
            <a:ext cx="5972175" cy="1428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532733"/>
            <a:ext cx="1118145" cy="676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270" y="3532733"/>
            <a:ext cx="1118294" cy="676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0815" y="3532733"/>
            <a:ext cx="1118145" cy="676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210" y="3532733"/>
            <a:ext cx="1118294" cy="676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7755" y="3532733"/>
            <a:ext cx="1118294" cy="676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353175"/>
            <a:ext cx="111442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6477000"/>
            <a:ext cx="2838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Site Security Implementation · Database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0825" y="647700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BIT Excellence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875" y="3246983"/>
            <a:ext cx="627078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B2530"/>
                </a:solidFill>
                <a:latin typeface="Playfair Display"/>
              </a:rPr>
              <a:t>Read-Only Seed Audit Verification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1825" y="1846808"/>
            <a:ext cx="4486275" cy="3790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2475" y="1846808"/>
            <a:ext cx="5820727" cy="2000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2530"/>
                </a:solidFill>
                <a:latin typeface="Playfair Display"/>
              </a:rPr>
              <a:t>H2 Runtime Failure → PostgreSQL Pivot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2123033"/>
            <a:ext cx="5543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C6B8A"/>
                </a:solidFill>
                <a:latin typeface="Plus Jakarta Sans"/>
              </a:rPr>
              <a:t>Early backend execution failed with H2 missing the </a:t>
            </a:r>
            <a:r>
              <a:rPr b="0" sz="975" i="0" u="none">
                <a:solidFill>
                  <a:srgbClr val="4C6B8A"/>
                </a:solidFill>
                <a:latin typeface="Plus Jakarta Sans"/>
              </a:rPr>
              <a:t>SITE_SECURITY_LOGS</a:t>
            </a:r>
            <a:r>
              <a:rPr b="0" sz="975" i="0" u="none">
                <a:solidFill>
                  <a:srgbClr val="4C6B8A"/>
                </a:solidFill>
                <a:latin typeface="Plus Jakarta Sans"/>
              </a:rPr>
              <a:t> table (runtime schema initialization error, not compile time).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2570708"/>
            <a:ext cx="5543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B2530"/>
                </a:solidFill>
                <a:latin typeface="Plus Jakarta Sans"/>
              </a:rPr>
              <a:t>Resolution:</a:t>
            </a:r>
            <a:r>
              <a:rPr b="0" sz="975" i="0" u="none">
                <a:solidFill>
                  <a:srgbClr val="1B2530"/>
                </a:solidFill>
                <a:latin typeface="Plus Jakarta Sans Medium"/>
              </a:rPr>
              <a:t> Purged unused H2 dependency and configured target PostgreSQL. Hibernate auto-created schema, establishing full database persistence.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4475708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2975" y="4489995"/>
            <a:ext cx="4905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7F7F5"/>
                </a:solidFill>
                <a:latin typeface="Plus Jakarta Sans"/>
              </a:rPr>
              <a:t>Committed persistence logic &amp; seeds — </a:t>
            </a:r>
            <a:r>
              <a:rPr b="1" sz="900" i="0" u="none">
                <a:solidFill>
                  <a:srgbClr val="F7F7F5"/>
                </a:solidFill>
                <a:latin typeface="Plus Jakarta Sans"/>
              </a:rPr>
              <a:t>never database volumes, raw rows, or credentials</a:t>
            </a:r>
            <a:r>
              <a:rPr b="0" sz="900" i="0" u="none">
                <a:solidFill>
                  <a:srgbClr val="F7F7F5"/>
                </a:solidFill>
                <a:latin typeface="Plus Jakarta Sans"/>
              </a:rPr>
              <a:t>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1875383"/>
            <a:ext cx="13335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0550" y="3656558"/>
            <a:ext cx="98479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B89B5E"/>
                </a:solidFill>
                <a:latin typeface="Playfair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3961358"/>
            <a:ext cx="98479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C6B8A"/>
                </a:solidFill>
                <a:latin typeface="Plus Jakarta Sans SemiBold"/>
              </a:rPr>
              <a:t>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3945" y="3656558"/>
            <a:ext cx="9849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B89B5E"/>
                </a:solidFill>
                <a:latin typeface="Playfair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3945" y="3961358"/>
            <a:ext cx="98494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C6B8A"/>
                </a:solidFill>
                <a:latin typeface="Plus Jakarta Sans SemiBold"/>
              </a:rPr>
              <a:t>Zones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490" y="3656558"/>
            <a:ext cx="98479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B89B5E"/>
                </a:solidFill>
                <a:latin typeface="Playfair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490" y="3961358"/>
            <a:ext cx="98479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C6B8A"/>
                </a:solidFill>
                <a:latin typeface="Plus Jakarta Sans SemiBold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0885" y="3656558"/>
            <a:ext cx="9849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B89B5E"/>
                </a:solidFill>
                <a:latin typeface="Playfair Display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0885" y="3961358"/>
            <a:ext cx="98494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C6B8A"/>
                </a:solidFill>
                <a:latin typeface="Plus Jakarta Sans SemiBold"/>
              </a:rPr>
              <a:t>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4430" y="3656558"/>
            <a:ext cx="98494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B89B5E"/>
                </a:solidFill>
                <a:latin typeface="Playfair Display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4430" y="3961358"/>
            <a:ext cx="98494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C6B8A"/>
                </a:solidFill>
                <a:latin typeface="Plus Jakarta Sans SemiBold"/>
              </a:rPr>
              <a:t>Reqs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Database &amp; Persistence Engineering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262" y="1646783"/>
            <a:ext cx="4614862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151608"/>
            <a:ext cx="6243637" cy="2133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56658"/>
            <a:ext cx="6243637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353175"/>
            <a:ext cx="1114425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477000"/>
            <a:ext cx="2857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Site Security Implementation · API Integration &amp;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0825" y="647700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BIT Excellence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1646783"/>
            <a:ext cx="6243637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C6B8A"/>
                </a:solidFill>
                <a:latin typeface="Plus Jakarta Sans"/>
              </a:rPr>
              <a:t>Replaced initial visual mock behaviors with real API boundaries. Connected feature hooks, handling async state, response mapping, filtering, and zone selections.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3287" y="1846808"/>
            <a:ext cx="4214812" cy="37909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3400" y="2161133"/>
            <a:ext cx="6224587" cy="333375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56383"/>
            <a:ext cx="591978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7F7F5"/>
                </a:solidFill>
                <a:latin typeface="Plus Jakarta Sans"/>
              </a:rPr>
              <a:t>REST ENDPOINT PATH</a:t>
            </a:r>
            <a:r>
              <a:rPr b="1" sz="900" i="0" u="none">
                <a:solidFill>
                  <a:srgbClr val="F7F7F5"/>
                </a:solidFill>
                <a:latin typeface="Plus Jakarta Sans"/>
              </a:rPr>
              <a:t> </a:t>
            </a:r>
            <a:r>
              <a:rPr b="1" sz="900" i="0" u="none">
                <a:solidFill>
                  <a:srgbClr val="F7F7F5"/>
                </a:solidFill>
                <a:latin typeface="Plus Jakarta Sans"/>
              </a:rPr>
              <a:t>HTTP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89758"/>
            <a:ext cx="591978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B2530"/>
                </a:solidFill>
                <a:latin typeface="Fira Code"/>
              </a:rPr>
              <a:t>GET /api/v1/sitesecurity/overview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32658"/>
            <a:ext cx="5919787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37433"/>
            <a:ext cx="591978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B2530"/>
                </a:solidFill>
                <a:latin typeface="Fira Code"/>
              </a:rPr>
              <a:t>GET /api/v1/sitesecurity/zones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80333"/>
            <a:ext cx="5919787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85108"/>
            <a:ext cx="591978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B2530"/>
                </a:solidFill>
                <a:latin typeface="Fira Code"/>
              </a:rPr>
              <a:t>GET /api/v1/sitesecurity/credentials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28008"/>
            <a:ext cx="5919787" cy="9525"/>
          </a:xfrm>
          <a:prstGeom prst="rect">
            <a:avLst/>
          </a:prstGeom>
          <a:solidFill>
            <a:srgbClr val="E2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2783"/>
            <a:ext cx="5919787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B2530"/>
                </a:solidFill>
                <a:latin typeface="Fira Code"/>
              </a:rPr>
              <a:t>GET /api/v1/sitesecurity/logs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5733"/>
            <a:ext cx="19812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C6B8A"/>
                </a:solidFill>
                <a:latin typeface="Plus Jakarta Sans"/>
              </a:rPr>
              <a:t>FRONTEND PRODUCTION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99558"/>
            <a:ext cx="1981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B2530"/>
                </a:solidFill>
                <a:latin typeface="Plus Jakarta Sans"/>
              </a:rPr>
              <a:t>Vite Production Bundle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9337" y="4618583"/>
            <a:ext cx="476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650" i="0" u="none">
                <a:solidFill>
                  <a:srgbClr val="B89B5E"/>
                </a:solidFill>
                <a:latin typeface="Playfair Display"/>
              </a:rPr>
              <a:t>2,218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9262" y="4904333"/>
            <a:ext cx="10763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825" i="0" u="none">
                <a:solidFill>
                  <a:srgbClr val="4C6B8A"/>
                </a:solidFill>
                <a:latin typeface="Plus Jakarta Sans"/>
              </a:rPr>
              <a:t>modules transformed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2" y="2589758"/>
            <a:ext cx="63817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2" y="3037433"/>
            <a:ext cx="63817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2" y="3485108"/>
            <a:ext cx="638175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7412" y="3932783"/>
            <a:ext cx="638175" cy="2476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Frontend–Backend Integration &amp; Build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899195"/>
            <a:ext cx="6271021" cy="11200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52626"/>
            <a:ext cx="6271021" cy="400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686026"/>
            <a:ext cx="6271021" cy="1009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3021" y="1899195"/>
            <a:ext cx="4635103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3021" y="4994820"/>
            <a:ext cx="4635103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6353175"/>
            <a:ext cx="1114425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477000"/>
            <a:ext cx="2943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Site Security Implementation · Git &amp; Security 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0825" y="647700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BIT Excellence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356395"/>
            <a:ext cx="590907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C6B8A"/>
                </a:solidFill>
                <a:latin typeface="Plus Jakarta Sans"/>
              </a:rPr>
              <a:t>Structured work across database persistence, seed logic, REST controller, frontend shells, API boundary, hooks, and UI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733526"/>
            <a:ext cx="5909071" cy="142875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B2530"/>
                </a:solidFill>
                <a:latin typeface="Plus Jakarta Sans"/>
              </a:rPr>
              <a:t>Single staging area caused repeated conflicts — resolved by selective unstaging and re-verification.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3828901"/>
            <a:ext cx="617452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B2530"/>
                </a:solidFill>
                <a:latin typeface="Plus Jakarta Sans"/>
              </a:rPr>
              <a:t>Transparent Engineering Limitations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5421" y="2051595"/>
            <a:ext cx="4330303" cy="2647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66371" y="5128170"/>
            <a:ext cx="436840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B89B5E"/>
                </a:solidFill>
                <a:latin typeface="Plus Jakarta Sans"/>
              </a:rPr>
              <a:t>FINAL VERIFICATION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2065883"/>
            <a:ext cx="2460307" cy="190500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B2530"/>
                </a:solidFill>
                <a:latin typeface="Playfair Display"/>
              </a:rPr>
              <a:t>10 Focused, Granular Commits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7134" y="2042070"/>
            <a:ext cx="966787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2752576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276451"/>
            <a:ext cx="1333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3281213"/>
            <a:ext cx="5229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4532D"/>
                </a:solidFill>
                <a:latin typeface="Plus Jakarta Sans SemiBold"/>
              </a:rPr>
              <a:t>Secrets Guarded: Zero .env keys, DB dumps, credentials, target/ or node_modules/ committed.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4038451"/>
            <a:ext cx="57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4038451"/>
            <a:ext cx="5709046" cy="17145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4C6B8A"/>
                </a:solidFill>
                <a:latin typeface="Plus Jakarta Sans"/>
              </a:rPr>
              <a:t>jq unavailable: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Substituted with custom Node.js script for JSON response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209901"/>
            <a:ext cx="57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4209901"/>
            <a:ext cx="5709046" cy="17145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4C6B8A"/>
                </a:solidFill>
                <a:latin typeface="Plus Jakarta Sans"/>
              </a:rPr>
              <a:t>No browser automation: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Executed HTTP &amp; bundle integrity checks in lieu of Selenium/Playwright.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381351"/>
            <a:ext cx="57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6B8A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75" y="4381351"/>
            <a:ext cx="5709046" cy="17145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4C6B8A"/>
                </a:solidFill>
                <a:latin typeface="Plus Jakarta Sans"/>
              </a:rPr>
              <a:t>Container gap:</a:t>
            </a:r>
            <a:r>
              <a:rPr b="0" sz="900" i="0" u="none">
                <a:solidFill>
                  <a:srgbClr val="4C6B8A"/>
                </a:solidFill>
                <a:latin typeface="Plus Jakarta Sans"/>
              </a:rPr>
              <a:t> Running container predated final commits — flagged gap rather than hiding runtime state.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2094458"/>
            <a:ext cx="180975" cy="1428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Security, Git Discipline &amp; Verification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6067425"/>
            <a:ext cx="1114425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528637"/>
            <a:ext cx="2209800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3262" y="2049214"/>
            <a:ext cx="4614862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022675"/>
            <a:ext cx="6243637" cy="10038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2334964"/>
            <a:ext cx="3074193" cy="7009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3318" y="2334964"/>
            <a:ext cx="3074193" cy="7009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3131194"/>
            <a:ext cx="3074193" cy="70098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3318" y="3131194"/>
            <a:ext cx="3074193" cy="7009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881062"/>
            <a:ext cx="11668125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1" sz="2100" i="0" u="none">
                <a:solidFill>
                  <a:srgbClr val="F7F7F5"/>
                </a:solidFill>
                <a:latin typeface="Playfair Display"/>
              </a:rPr>
              <a:t>"I didn't just write the feature — I made it buildable, testable, reviewable, and safe to deliver."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6191250"/>
            <a:ext cx="1962150" cy="142875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AEB8C2"/>
                </a:solidFill>
                <a:latin typeface="Plus Jakarta Sans"/>
              </a:rPr>
              <a:t>Wendtoin Filomène Tania ZABRE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2575" y="6191250"/>
            <a:ext cx="2495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AEB8C2"/>
                </a:solidFill>
                <a:latin typeface="Plus Jakarta Sans"/>
              </a:rPr>
              <a:t>BIT Excellence Program · Farm Security Module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590550"/>
            <a:ext cx="109537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3875" y="2049214"/>
            <a:ext cx="6555819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89B5E"/>
                </a:solidFill>
                <a:latin typeface="Playfair Display"/>
              </a:rPr>
              <a:t>4 Core Lessons Learned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3287" y="2249239"/>
            <a:ext cx="4214812" cy="3219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875" y="6210300"/>
            <a:ext cx="142875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850" y="4165550"/>
            <a:ext cx="617577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89B5E"/>
                </a:solidFill>
                <a:latin typeface="Playfair Display"/>
              </a:rPr>
              <a:t>Immediate Next Steps /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458789"/>
            <a:ext cx="282654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7F7F5"/>
                </a:solidFill>
                <a:latin typeface="Plus Jakarta Sans"/>
              </a:rPr>
              <a:t>1. Implementation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2639764"/>
            <a:ext cx="282654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AEB8C2"/>
                </a:solidFill>
                <a:latin typeface="Plus Jakarta Sans"/>
              </a:rPr>
              <a:t>Broader than coding — includes versions, databases &amp; containers.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7143" y="2458789"/>
            <a:ext cx="282654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7F7F5"/>
                </a:solidFill>
                <a:latin typeface="Plus Jakarta Sans"/>
              </a:rPr>
              <a:t>2. Micro Checkpoints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7143" y="2639764"/>
            <a:ext cx="282654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AEB8C2"/>
                </a:solidFill>
                <a:latin typeface="Plus Jakarta Sans"/>
              </a:rPr>
              <a:t>Frequent small verifications prevent cascading integration bugs.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3255019"/>
            <a:ext cx="282654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7F7F5"/>
                </a:solidFill>
                <a:latin typeface="Plus Jakarta Sans"/>
              </a:rPr>
              <a:t>3. Honest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3435994"/>
            <a:ext cx="282654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AEB8C2"/>
                </a:solidFill>
                <a:latin typeface="Plus Jakarta Sans"/>
              </a:rPr>
              <a:t>A passed test ≠ unperformed test; state boundaries clearly.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7143" y="3255019"/>
            <a:ext cx="282654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7F7F5"/>
                </a:solidFill>
                <a:latin typeface="Plus Jakarta Sans"/>
              </a:rPr>
              <a:t>4. Runtime vs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7143" y="3435994"/>
            <a:ext cx="2826543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AEB8C2"/>
                </a:solidFill>
                <a:latin typeface="Plus Jakarta Sans"/>
              </a:rPr>
              <a:t>Docker container runtime state differs from static git source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4402722"/>
            <a:ext cx="57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AEB8C2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4403675"/>
            <a:ext cx="5710237" cy="1599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AEB8C2"/>
                </a:solidFill>
                <a:latin typeface="Plus Jakarta Sans"/>
              </a:rPr>
              <a:t>Rebuild Docker images &amp; recreate containers preserving PostgreSQL volumes.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50" y="4562713"/>
            <a:ext cx="57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AEB8C2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4563665"/>
            <a:ext cx="5710237" cy="1599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AEB8C2"/>
                </a:solidFill>
                <a:latin typeface="Plus Jakarta Sans"/>
              </a:rPr>
              <a:t>Perform end-to-end manual browser testing (navigation, filtering, zone selection).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" y="4722703"/>
            <a:ext cx="57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AEB8C2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300" y="4723655"/>
            <a:ext cx="5710237" cy="15999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AEB8C2"/>
                </a:solidFill>
                <a:latin typeface="Plus Jakarta Sans"/>
              </a:rPr>
              <a:t>Externalize hardcoded datasource credentials into environment variables.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3875" y="1432470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2203995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3875" y="2975520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875" y="3747045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3875" y="4518570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3875" y="219447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3875" y="219447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3875" y="2965995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3875" y="2965995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875" y="37375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" y="37375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" y="4509045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3875" y="4509045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875" y="528057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3875" y="528057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57534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19250" y="1613445"/>
            <a:ext cx="1004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https://media.istockphoto.com/id/1413922045/vector/programming-at-home.jpg?s=612x612&amp;w=0&amp;k=20&amp;c=_5UhZu0-etj-lWZorNUAkF_PEqXfHpuf44dCeWeCOvc=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9250" y="1813470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34687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9250" y="2384970"/>
            <a:ext cx="1004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https://st.depositphotos.com/2419757/57545/v/450/depositphotos_575458808-stock-illustration-manager-reports-project-team-work.jpg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9250" y="2584995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depositphotos.com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11839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19250" y="3156495"/>
            <a:ext cx="1004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https://st5.depositphotos.com/26922084/66942/v/450/depositphotos_669429786-stock-illustration-server-error-concept-technical-problems.jpg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9250" y="3356520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depositphotos.com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889920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19250" y="3928020"/>
            <a:ext cx="1004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https://www.21medien.de/assets/img/illustrations/gpu-server-cluster-2.webp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9250" y="4128045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www.21medien.de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661445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19250" y="4699545"/>
            <a:ext cx="1004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https://img.magnific.com/free-vector/flat-design-api-illustration_23-2149392284.jpg?semt=ais_hybrid&amp;w=740&amp;q=80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9250" y="4899570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www.magnific.com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5432970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19250" y="5471070"/>
            <a:ext cx="10048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https://dolfd84j73uh7.cloudfront.net/images/2d0918ad948326b2.webp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9250" y="5671095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www.develeap.com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504158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250" y="3466058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2530"/>
                </a:solidFill>
                <a:latin typeface="Plus Jakarta Sans"/>
              </a:rPr>
              <a:t>https://media.istockphoto.com/id/2199654193/vector/woman-climbing-books-towards-success-in-education-and-career-flat-vector-illustration.jpg?s=612x612&amp;w=0&amp;k=20&amp;c=0KjsmMGf-hBkezYRrgHmssYcDudNP3PEGsTXyc_hMTA=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3818483"/>
            <a:ext cx="100488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B253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428625"/>
            <a:ext cx="11515725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1B2530"/>
                </a:solidFill>
                <a:latin typeface="Playfair Display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3875" y="428625"/>
            <a:ext cx="47625" cy="388590"/>
          </a:xfrm>
          <a:prstGeom prst="rect">
            <a:avLst/>
          </a:prstGeom>
          <a:solidFill>
            <a:srgbClr val="B89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