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19100"/>
            <a:ext cx="298325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5819626"/>
            <a:ext cx="11201400" cy="619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500062"/>
            <a:ext cx="135284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2779365"/>
            <a:ext cx="8601075" cy="607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0" i="0" u="none">
                <a:solidFill>
                  <a:srgbClr val="FFFFFF"/>
                </a:solidFill>
                <a:latin typeface="Montserrat ExtraBold"/>
              </a:rPr>
              <a:t>Risk &amp; Asset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3539430"/>
            <a:ext cx="8191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E2E8F0"/>
                </a:solidFill>
                <a:latin typeface="Poppins"/>
              </a:rPr>
              <a:t>Building a Resilient Security &amp; Fencing System for a Sustainable Mango Supply Chain in Burkina Faso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6162526"/>
            <a:ext cx="21907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" y="6167288"/>
            <a:ext cx="3362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Inter Medium"/>
              </a:rPr>
              <a:t>Prepared by </a:t>
            </a:r>
            <a:r>
              <a:rPr sz="1050" b="1" i="0" u="none">
                <a:solidFill>
                  <a:srgbClr val="F8FAFC"/>
                </a:solidFill>
                <a:latin typeface="Inter"/>
              </a:rPr>
              <a:t>Tania</a:t>
            </a:r>
            <a:r>
              <a:rPr sz="1050" b="0" i="0" u="none">
                <a:solidFill>
                  <a:srgbClr val="F8FAFC"/>
                </a:solidFill>
                <a:latin typeface="Inter Medium"/>
              </a:rPr>
              <a:t> | Systems Engineering Consultant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375" y="6162526"/>
            <a:ext cx="1333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25025" y="6167288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Inter Medium"/>
              </a:rPr>
              <a:t>Burkina Faso Export Facility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2600473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608683"/>
            <a:ext cx="6438900" cy="676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599283"/>
            <a:ext cx="6438900" cy="676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589883"/>
            <a:ext cx="6438900" cy="676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580483"/>
            <a:ext cx="6438900" cy="676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5571083"/>
            <a:ext cx="6438900" cy="676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8525" y="4665315"/>
            <a:ext cx="4438650" cy="176405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765970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75657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4747170"/>
            <a:ext cx="342900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300" y="762000"/>
            <a:ext cx="1169670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1E3A5F"/>
                </a:solidFill>
                <a:latin typeface="Montserrat ExtraBold"/>
              </a:rPr>
              <a:t>Why Perform a Risk &amp; Asset Analysis?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" y="500062"/>
            <a:ext cx="135284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8525" y="1426815"/>
            <a:ext cx="4438650" cy="3238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325" y="177537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2362" y="2380208"/>
            <a:ext cx="10477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2362" y="3370808"/>
            <a:ext cx="10477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2362" y="4361408"/>
            <a:ext cx="10477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2362" y="5352008"/>
            <a:ext cx="10477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425" y="5737770"/>
            <a:ext cx="342900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39025" y="5129807"/>
            <a:ext cx="426053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Poppins SemiBold"/>
              </a:rPr>
              <a:t>Site Analysis Drives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9025" y="5425082"/>
            <a:ext cx="4057650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E2E8F0"/>
                </a:solidFill>
                <a:latin typeface="Inter"/>
              </a:rPr>
              <a:t>Systems engineering mandates that every physical barrier, sensor, and perimeter gate directly responds to a documented operational threat.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337" y="1875383"/>
            <a:ext cx="14287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90625" y="1751558"/>
            <a:ext cx="33604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BEFORE DESIGNING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0625" y="1989683"/>
            <a:ext cx="320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Avoid arbitrary specs and wasteful capital expenditure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625" y="2742158"/>
            <a:ext cx="46005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Understand the Environment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0625" y="2980283"/>
            <a:ext cx="4381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Assess extreme weather, remote power grid, and operational site realities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625" y="3732758"/>
            <a:ext cx="471058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Identify Critical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0625" y="3970883"/>
            <a:ext cx="4486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Map core physical, human, and processing infrastructure requiring defense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0625" y="4723358"/>
            <a:ext cx="446055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Analyze &amp; Prioritize Threats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0625" y="4961483"/>
            <a:ext cx="4248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Quantify vulnerabilities across climate, human, and supply chain vectors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962" y="5837783"/>
            <a:ext cx="123825" cy="1428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28725" y="5713958"/>
            <a:ext cx="46205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Make Better Engineering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8725" y="5952083"/>
            <a:ext cx="4400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Drive physical fencing and sensor specs directly from verified risk profiles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228986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762000"/>
            <a:ext cx="1169670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1E3A5F"/>
                </a:solidFill>
                <a:latin typeface="Montserrat ExtraBold"/>
              </a:rPr>
              <a:t>The Operating Environment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500062"/>
            <a:ext cx="135284" cy="123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1426815"/>
            <a:ext cx="2194470" cy="243497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1426815"/>
            <a:ext cx="2194470" cy="243497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4071342"/>
            <a:ext cx="2194470" cy="235803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775" y="4071342"/>
            <a:ext cx="2194470" cy="235803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9795" y="2044154"/>
            <a:ext cx="371475" cy="323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56520" y="2087016"/>
            <a:ext cx="118014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Environmental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795" y="2463254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Ambient temps exceeding 42°C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795" y="2672804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Harmattan fine dust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795" y="2882354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Heavy monsoon downpours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795" y="3091904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Seasonal bushfire threats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5745" y="2044154"/>
            <a:ext cx="304800" cy="3238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85795" y="2087016"/>
            <a:ext cx="11601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5745" y="2463254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Frequent grid power outages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5745" y="2672804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100% solar microgrid reliance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5745" y="2882354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Intermittent cellular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5745" y="3091904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Isolated rural location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9795" y="4650283"/>
            <a:ext cx="371475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56520" y="4693146"/>
            <a:ext cx="99012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Operational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795" y="5069383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150+ seasonal harvest staff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795" y="5278933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High truck throughput periods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795" y="5488483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Perishable export windows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9795" y="5698033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Continuous daily handling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5745" y="4650283"/>
            <a:ext cx="323850" cy="3238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04845" y="4693146"/>
            <a:ext cx="128016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3A5F"/>
                </a:solidFill>
                <a:latin typeface="Poppins SemiBold"/>
              </a:rPr>
              <a:t>Security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5745" y="5069383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High-value organic cargo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5745" y="5278933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Solar microgrid assets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5745" y="5488483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Life safety for workforce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5745" y="5698033"/>
            <a:ext cx="291078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Cold-chain continuity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12FBF2B-B6F1-49AF-17CA-6188D5E9EF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635" y="4071342"/>
            <a:ext cx="2182565" cy="2182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1840259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75" y="2389733"/>
            <a:ext cx="4057650" cy="3076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762000"/>
            <a:ext cx="1169670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1E3A5F"/>
                </a:solidFill>
                <a:latin typeface="Montserrat ExtraBold"/>
              </a:rPr>
              <a:t>Critical Farm Assets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500062"/>
            <a:ext cx="154334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38800" y="2599283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4ADE80"/>
                </a:solidFill>
                <a:latin typeface="Inter"/>
              </a:rPr>
              <a:t>CENTRAL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5837" y="2732633"/>
            <a:ext cx="2600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Montserrat"/>
              </a:rPr>
              <a:t>SUSTAINABLE MANGO HUB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725" y="3075533"/>
            <a:ext cx="363855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48200" y="5113883"/>
            <a:ext cx="2895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37" b="0" i="0" u="none">
                <a:solidFill>
                  <a:srgbClr val="CBD5E1"/>
                </a:solidFill>
                <a:latin typeface="Inter"/>
              </a:rPr>
              <a:t>Protected System Perimeter &amp; Operational Integrity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293742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737520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537620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0" y="293742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0" y="3737520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0" y="4537620"/>
            <a:ext cx="3810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1575" y="2956470"/>
            <a:ext cx="154019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3A5F"/>
                </a:solidFill>
                <a:latin typeface="Poppins SemiBold"/>
              </a:rPr>
              <a:t>Export Packhouse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" y="3156495"/>
            <a:ext cx="146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Cold storage &amp; packing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3756570"/>
            <a:ext cx="16402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3A5F"/>
                </a:solidFill>
                <a:latin typeface="Poppins SemiBold"/>
              </a:rPr>
              <a:t>Main Entrance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1575" y="3956595"/>
            <a:ext cx="1562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Vehicle &amp; visitor access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75" y="4556670"/>
            <a:ext cx="173021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3A5F"/>
                </a:solidFill>
                <a:latin typeface="Poppins SemiBold"/>
              </a:rPr>
              <a:t>Solar PV Microgrid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1575" y="4756695"/>
            <a:ext cx="1647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Primary energy &amp; battery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1600" y="2956470"/>
            <a:ext cx="14801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3A5F"/>
                </a:solidFill>
                <a:latin typeface="Poppins SemiBold"/>
              </a:rPr>
              <a:t>Workforce &amp; Guests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1600" y="3156495"/>
            <a:ext cx="1409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150+ staff &amp; guest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1600" y="3756570"/>
            <a:ext cx="168021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3A5F"/>
                </a:solidFill>
                <a:latin typeface="Poppins SemiBold"/>
              </a:rPr>
              <a:t>Agricultural Machinery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600" y="3956595"/>
            <a:ext cx="1600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Tractors &amp; harvesting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600" y="4556670"/>
            <a:ext cx="142017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3A5F"/>
                </a:solidFill>
                <a:latin typeface="Poppins SemiBold"/>
              </a:rPr>
              <a:t>Logistics Fleet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600" y="4756695"/>
            <a:ext cx="1352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Export transport vehicles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1935509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17290"/>
            <a:ext cx="3619500" cy="24250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1417290"/>
            <a:ext cx="3619500" cy="24250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417290"/>
            <a:ext cx="3619500" cy="24250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013745"/>
            <a:ext cx="3619500" cy="242515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4013745"/>
            <a:ext cx="3619500" cy="242515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4013745"/>
            <a:ext cx="3619500" cy="24251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300" y="762000"/>
            <a:ext cx="1169670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1E3A5F"/>
                </a:solidFill>
                <a:latin typeface="Montserrat ExtraBold"/>
              </a:rPr>
              <a:t>Identified Risk Categories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500062"/>
            <a:ext cx="135284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1679227"/>
            <a:ext cx="103012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3A5F"/>
                </a:solidFill>
                <a:latin typeface="Poppins SemiBold"/>
              </a:rPr>
              <a:t>Human Risks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975" y="1626840"/>
            <a:ext cx="32385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" y="2064990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Unauthorized perimeter breach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65015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Cargo theft during harvest peak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7225" y="1679227"/>
            <a:ext cx="109013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3A5F"/>
                </a:solidFill>
                <a:latin typeface="Poppins SemiBold"/>
              </a:rPr>
              <a:t>Climate Risks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0925" y="1626840"/>
            <a:ext cx="323850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29150" y="2064990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Extreme thermal stress (&gt;42°C)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150" y="2265015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Lens degradation from dust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8175" y="1679227"/>
            <a:ext cx="157019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3A5F"/>
                </a:solidFill>
                <a:latin typeface="Poppins SemiBold"/>
              </a:rPr>
              <a:t>Infrastructure Risks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91875" y="1626840"/>
            <a:ext cx="323850" cy="3238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20100" y="2064990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Grid power blackouts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2265015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Solar microgrid inverter surge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" y="4275683"/>
            <a:ext cx="142017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3A5F"/>
                </a:solidFill>
                <a:latin typeface="Poppins SemiBold"/>
              </a:rPr>
              <a:t>Operational Risks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9975" y="4223295"/>
            <a:ext cx="323850" cy="3238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8200" y="4661445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Gate congestion during harvest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4861470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Accidental equipment damage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7225" y="4275683"/>
            <a:ext cx="16002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3A5F"/>
                </a:solidFill>
                <a:latin typeface="Poppins SemiBold"/>
              </a:rPr>
              <a:t>Environmental Risks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00925" y="4223295"/>
            <a:ext cx="323850" cy="3238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29150" y="4661445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Seasonal bushfire encroachment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9150" y="4861470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Flash flooding near access roads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8175" y="4275683"/>
            <a:ext cx="151018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3A5F"/>
                </a:solidFill>
                <a:latin typeface="Poppins SemiBold"/>
              </a:rPr>
              <a:t>Supply Chain Risks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91875" y="4223295"/>
            <a:ext cx="323850" cy="3238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20100" y="4661445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Export delay from security 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0100" y="4861470"/>
            <a:ext cx="3095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Inter"/>
              </a:rPr>
              <a:t>Cold storage breach &amp; spoilage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75" y="2093565"/>
            <a:ext cx="104775" cy="1047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75" y="2293590"/>
            <a:ext cx="104775" cy="1047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7225" y="2093565"/>
            <a:ext cx="104775" cy="1047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7225" y="2293590"/>
            <a:ext cx="104775" cy="1047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8175" y="2093565"/>
            <a:ext cx="104775" cy="1047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8175" y="2293590"/>
            <a:ext cx="104775" cy="1047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4690020"/>
            <a:ext cx="104775" cy="1047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4890045"/>
            <a:ext cx="104775" cy="1047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67225" y="4690020"/>
            <a:ext cx="104775" cy="1047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67225" y="4890045"/>
            <a:ext cx="104775" cy="1047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8175" y="4690020"/>
            <a:ext cx="104775" cy="1047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8175" y="4890045"/>
            <a:ext cx="104775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2124223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261145"/>
            <a:ext cx="112014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832645"/>
            <a:ext cx="1120140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404145"/>
            <a:ext cx="1120140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975645"/>
            <a:ext cx="1120140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547145"/>
            <a:ext cx="1120140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5118645"/>
            <a:ext cx="1120140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8525" y="2365920"/>
            <a:ext cx="428625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8525" y="2937420"/>
            <a:ext cx="428625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8525" y="3508920"/>
            <a:ext cx="428625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8525" y="4080420"/>
            <a:ext cx="428625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8525" y="4651920"/>
            <a:ext cx="428625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8525" y="5223420"/>
            <a:ext cx="428625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300" y="762000"/>
            <a:ext cx="1169670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1E3A5F"/>
                </a:solidFill>
                <a:latin typeface="Montserrat ExtraBold"/>
              </a:rPr>
              <a:t>Risk → Engineering Decision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500062"/>
            <a:ext cx="154334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7250" y="2423070"/>
            <a:ext cx="151447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E3A5F"/>
                </a:solidFill>
                <a:latin typeface="Inter SemiBold"/>
              </a:rPr>
              <a:t>Extreme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0325" y="24230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 Medium"/>
              </a:rPr>
              <a:t>Outdoor Rating Requirement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4425" y="24230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2E7D32"/>
                </a:solidFill>
                <a:latin typeface="Inter SemiBold"/>
              </a:rPr>
              <a:t>Industrial IP67 / Sunshield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2994570"/>
            <a:ext cx="149542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E3A5F"/>
                </a:solidFill>
                <a:latin typeface="Inter SemiBold"/>
              </a:rPr>
              <a:t>Harmattan Dust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0325" y="29945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 Medium"/>
              </a:rPr>
              <a:t>Optical Cleaning 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4425" y="29945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2E7D32"/>
                </a:solidFill>
                <a:latin typeface="Inter SemiBold"/>
              </a:rPr>
              <a:t>Wiper-Equipped CCTV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56607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E3A5F"/>
                </a:solidFill>
                <a:latin typeface="Inter SemiBold"/>
              </a:rPr>
              <a:t>Power Outages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0325" y="35660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 Medium"/>
              </a:rPr>
              <a:t>Off-Grid Reliability Spec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4425" y="35660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2E7D32"/>
                </a:solidFill>
                <a:latin typeface="Inter SemiBold"/>
              </a:rPr>
              <a:t>Dedicated Solar 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4137570"/>
            <a:ext cx="151447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E3A5F"/>
                </a:solidFill>
                <a:latin typeface="Inter SemiBold"/>
              </a:rPr>
              <a:t>Perimeter Intrusion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0325" y="41375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 Medium"/>
              </a:rPr>
              <a:t>Delay Time Specification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4425" y="41375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2E7D32"/>
                </a:solidFill>
                <a:latin typeface="Inter SemiBold"/>
              </a:rPr>
              <a:t>3D Mesh + Razor Wire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875" y="4709070"/>
            <a:ext cx="14668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E3A5F"/>
                </a:solidFill>
                <a:latin typeface="Inter SemiBold"/>
              </a:rPr>
              <a:t>Cargo Spoilage/Theft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0325" y="47090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 Medium"/>
              </a:rPr>
              <a:t>Real-time Access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4425" y="47090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2E7D32"/>
                </a:solidFill>
                <a:latin typeface="Inter SemiBold"/>
              </a:rPr>
              <a:t>RFID &amp; Biometric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" y="5280570"/>
            <a:ext cx="14668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E3A5F"/>
                </a:solidFill>
                <a:latin typeface="Inter SemiBold"/>
              </a:rPr>
              <a:t>Bushfire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0325" y="52805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 Medium"/>
              </a:rPr>
              <a:t>Thermal Buffer Clearance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4425" y="5280570"/>
            <a:ext cx="2095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2E7D32"/>
                </a:solidFill>
                <a:latin typeface="Inter SemiBold"/>
              </a:rPr>
              <a:t>10m Vegetation Firebreak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2437358"/>
            <a:ext cx="104775" cy="1238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2687" y="2451645"/>
            <a:ext cx="66675" cy="1047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6787" y="2451645"/>
            <a:ext cx="66675" cy="1047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0887" y="2451645"/>
            <a:ext cx="66675" cy="1047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" y="3008858"/>
            <a:ext cx="123825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2687" y="3023145"/>
            <a:ext cx="66675" cy="1047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6787" y="3023145"/>
            <a:ext cx="66675" cy="1047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0887" y="3023145"/>
            <a:ext cx="66675" cy="1047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" y="3580358"/>
            <a:ext cx="95250" cy="1238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2687" y="3594645"/>
            <a:ext cx="66675" cy="1047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6787" y="3594645"/>
            <a:ext cx="66675" cy="1047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0887" y="3594645"/>
            <a:ext cx="66675" cy="1047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7225" y="4151858"/>
            <a:ext cx="104775" cy="1238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2687" y="4166145"/>
            <a:ext cx="66675" cy="1047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6787" y="4166145"/>
            <a:ext cx="66675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0887" y="4166145"/>
            <a:ext cx="66675" cy="1047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" y="4723358"/>
            <a:ext cx="152400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2687" y="4737645"/>
            <a:ext cx="66675" cy="1047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6787" y="4737645"/>
            <a:ext cx="66675" cy="1047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0887" y="4737645"/>
            <a:ext cx="66675" cy="1047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7225" y="5294858"/>
            <a:ext cx="152400" cy="12382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2687" y="5309145"/>
            <a:ext cx="66675" cy="1047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6787" y="5309145"/>
            <a:ext cx="66675" cy="10477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0887" y="5309145"/>
            <a:ext cx="66675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2604194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143845"/>
            <a:ext cx="1620589" cy="15684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164" y="3143845"/>
            <a:ext cx="1620589" cy="15684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028" y="2992635"/>
            <a:ext cx="1620589" cy="187076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2893" y="3063775"/>
            <a:ext cx="1620589" cy="172848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8757" y="2983110"/>
            <a:ext cx="1621333" cy="188981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5366" y="2983110"/>
            <a:ext cx="1621333" cy="18898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300" y="762000"/>
            <a:ext cx="1169670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1E3A5F"/>
                </a:solidFill>
                <a:latin typeface="Montserrat ExtraBold"/>
              </a:rPr>
              <a:t>How Our Engineering Process Works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500062"/>
            <a:ext cx="163859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920" y="336292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5449" y="3934420"/>
            <a:ext cx="1140142" cy="159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 u="none">
                <a:solidFill>
                  <a:srgbClr val="1E3A5F"/>
                </a:solidFill>
                <a:latin typeface="Poppins SemiBold"/>
              </a:rPr>
              <a:t>1. Farm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4208710"/>
            <a:ext cx="1258639" cy="28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Climate, infrastructure &amp; operational parameters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1139" y="3847058"/>
            <a:ext cx="1047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2784" y="336292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01307" y="3934420"/>
            <a:ext cx="1240155" cy="159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 u="none">
                <a:solidFill>
                  <a:srgbClr val="1E3A5F"/>
                </a:solidFill>
                <a:latin typeface="Poppins SemiBold"/>
              </a:rPr>
              <a:t>2. Critical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2139" y="4208710"/>
            <a:ext cx="1258639" cy="28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Packhouse, solar grid &amp; personnel mapping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003" y="3847058"/>
            <a:ext cx="1047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8649" y="321171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76537" y="3783210"/>
            <a:ext cx="1321571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 u="none">
                <a:solidFill>
                  <a:srgbClr val="1E3A5F"/>
                </a:solidFill>
                <a:latin typeface="Poppins SemiBold"/>
              </a:rPr>
              <a:t>3. Risk Identification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003" y="4217491"/>
            <a:ext cx="1258639" cy="426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Documenting environmental &amp; threat vectors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2868" y="3847058"/>
            <a:ext cx="1047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4513" y="328285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92402" y="3854350"/>
            <a:ext cx="1321571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 u="none">
                <a:solidFill>
                  <a:srgbClr val="1E3A5F"/>
                </a:solidFill>
                <a:latin typeface="Poppins SemiBold"/>
              </a:rPr>
              <a:t>4. Risk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3868" y="4288631"/>
            <a:ext cx="1258639" cy="28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Severity, likelihood &amp; impact scoring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8732" y="3847058"/>
            <a:ext cx="104775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40824" y="321171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18249" y="3783210"/>
            <a:ext cx="130235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 u="none">
                <a:solidFill>
                  <a:srgbClr val="1E3A5F"/>
                </a:solidFill>
                <a:latin typeface="Poppins SemiBold"/>
              </a:rPr>
              <a:t>5. Engineering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9257" y="4217491"/>
            <a:ext cx="1240333" cy="426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Selecting fences, sensors &amp; access hardware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5341" y="3847058"/>
            <a:ext cx="10477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57433" y="3211710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34858" y="3783210"/>
            <a:ext cx="130235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 u="none">
                <a:solidFill>
                  <a:srgbClr val="2E7D32"/>
                </a:solidFill>
                <a:latin typeface="Poppins SemiBold"/>
              </a:rPr>
              <a:t>6. Week 4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5866" y="4217491"/>
            <a:ext cx="1240333" cy="426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1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Translating into functional sub-system specs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5982" y="3496270"/>
            <a:ext cx="21907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11847" y="3496270"/>
            <a:ext cx="219075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41999" y="3345060"/>
            <a:ext cx="19050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43576" y="3416200"/>
            <a:ext cx="219075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74174" y="3345060"/>
            <a:ext cx="19050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90783" y="334506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2070794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095601"/>
            <a:ext cx="11201400" cy="11447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615654"/>
            <a:ext cx="1755725" cy="12513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375" y="2615654"/>
            <a:ext cx="1755725" cy="125134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3450" y="2615654"/>
            <a:ext cx="1755725" cy="125134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2526" y="2615654"/>
            <a:ext cx="1755874" cy="125134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1750" y="2615654"/>
            <a:ext cx="1755725" cy="125134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0825" y="2615654"/>
            <a:ext cx="1755725" cy="12513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762000"/>
            <a:ext cx="1169670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1E3A5F"/>
                </a:solidFill>
                <a:latin typeface="Montserrat ExtraBold"/>
              </a:rPr>
              <a:t>Transition to Week 4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500062"/>
            <a:ext cx="163859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9750" y="4453681"/>
            <a:ext cx="1981200" cy="4286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7225" y="2806154"/>
            <a:ext cx="1431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oppins"/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3044279"/>
            <a:ext cx="1503469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012" b="0" i="0" u="none">
                <a:solidFill>
                  <a:srgbClr val="1E3A5F"/>
                </a:solidFill>
                <a:latin typeface="Poppins SemiBold"/>
              </a:rPr>
              <a:t>Lessons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3274665"/>
            <a:ext cx="14318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Foundational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6300" y="2806154"/>
            <a:ext cx="1431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oppins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6300" y="3044279"/>
            <a:ext cx="1503469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012" b="0" i="0" u="none">
                <a:solidFill>
                  <a:srgbClr val="1E3A5F"/>
                </a:solidFill>
                <a:latin typeface="Poppins SemiBold"/>
              </a:rPr>
              <a:t>Engineering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6300" y="3274665"/>
            <a:ext cx="14318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High-level system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900" y="2806154"/>
            <a:ext cx="1412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5F"/>
                </a:solidFill>
                <a:latin typeface="Poppins"/>
              </a:rPr>
              <a:t>WEEK 3 •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900" y="3044279"/>
            <a:ext cx="1483466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012" b="0" i="0" u="none">
                <a:solidFill>
                  <a:srgbClr val="1E3A5F"/>
                </a:solidFill>
                <a:latin typeface="Poppins SemiBold"/>
              </a:rPr>
              <a:t>Risk &amp; Asset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4900" y="3428851"/>
            <a:ext cx="1412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Environmental &amp; threat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976" y="2806154"/>
            <a:ext cx="141297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E7D32"/>
                </a:solidFill>
                <a:latin typeface="Poppins"/>
              </a:rPr>
              <a:t>WEEK 4 • NEXT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976" y="3044279"/>
            <a:ext cx="1483622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012" b="0" i="0" u="none">
                <a:solidFill>
                  <a:srgbClr val="1E3A5F"/>
                </a:solidFill>
                <a:latin typeface="Poppins SemiBold"/>
              </a:rPr>
              <a:t>Functional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976" y="3274665"/>
            <a:ext cx="14129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Decomposing sub-system specs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3675" y="2777579"/>
            <a:ext cx="1431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oppins"/>
              </a:rPr>
              <a:t>WEEK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3675" y="3015704"/>
            <a:ext cx="1503469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012" b="0" i="0" u="none">
                <a:solidFill>
                  <a:srgbClr val="1E3A5F"/>
                </a:solidFill>
                <a:latin typeface="Poppins SemiBold"/>
              </a:rPr>
              <a:t>Security Zoning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3675" y="3246090"/>
            <a:ext cx="14318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Perimeter &amp; interior zones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2750" y="2777579"/>
            <a:ext cx="1431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oppins"/>
              </a:rPr>
              <a:t>WEEK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2750" y="3015704"/>
            <a:ext cx="1503469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012" b="0" i="0" u="none">
                <a:solidFill>
                  <a:srgbClr val="1E3A5F"/>
                </a:solidFill>
                <a:latin typeface="Poppins SemiBold"/>
              </a:rPr>
              <a:t>Physical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2750" y="3246090"/>
            <a:ext cx="14318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Final CAD &amp; BOQ 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" y="4324201"/>
            <a:ext cx="82010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DE80"/>
                </a:solidFill>
                <a:latin typeface="Poppins SemiBold"/>
              </a:rPr>
              <a:t>Bridging Risk Analysis to System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" y="4638526"/>
            <a:ext cx="78105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2E8F0"/>
                </a:solidFill>
                <a:latin typeface="Inter"/>
              </a:rPr>
              <a:t>With our assets inventoried and operational risks prioritized, Week 4 breaks down the security system into functional requirements—defining exactly </a:t>
            </a:r>
            <a:r>
              <a:rPr sz="1050" b="0" i="1" u="none">
                <a:solidFill>
                  <a:srgbClr val="E2E8F0"/>
                </a:solidFill>
                <a:latin typeface="Inter"/>
              </a:rPr>
              <a:t>what</a:t>
            </a:r>
            <a:r>
              <a:rPr sz="1050" b="0" i="0" u="none">
                <a:solidFill>
                  <a:srgbClr val="E2E8F0"/>
                </a:solidFill>
                <a:latin typeface="Inter"/>
              </a:rPr>
              <a:t> each fence segment, gate barrier, and sensor array must perform.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8050" y="4601319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419100"/>
            <a:ext cx="1169670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1E3A5F"/>
                </a:solidFill>
                <a:latin typeface="Montserrat ExtraBold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300" y="1313408"/>
            <a:ext cx="112014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5300" y="2084933"/>
            <a:ext cx="112014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5300" y="2856458"/>
            <a:ext cx="112014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5300" y="3627983"/>
            <a:ext cx="112014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5300" y="4399508"/>
            <a:ext cx="112014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5300" y="2075408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5300" y="2075408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5300" y="2846933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5300" y="2846933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5300" y="3618458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5300" y="3618458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5300" y="4389983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5300" y="4389983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5300" y="5161508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5300" y="5161508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45628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90675" y="1499145"/>
            <a:ext cx="10106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https://admissions.purdue.edu/wp-content/uploads/2025/04/AE_Hero.jpg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0675" y="1699170"/>
            <a:ext cx="10106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admissions.purdue.edu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227808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90675" y="2270670"/>
            <a:ext cx="10106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https://daily.jstor.org/wp-content/uploads/2025/04/west_africas_hazardous_winds_1050x700.jpg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0675" y="2470695"/>
            <a:ext cx="10106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daily.jstor.org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999333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90675" y="3042195"/>
            <a:ext cx="10106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https://eco-greenenergy.com/wp-content/uploads/2025/07/WhatsApp-Image-2023-10-06-at-17.10.07-1.jpeg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0675" y="3242220"/>
            <a:ext cx="10106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eco-greenenergy.com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3770858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90675" y="3813720"/>
            <a:ext cx="10106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https://images.stockcake.com/public/e/8/e/e8ea7f08-8a11-46b0-b3ba-24bdb55fca48_large/farmer-holding-mangoes-stockcake.jpg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0675" y="4013745"/>
            <a:ext cx="10106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542383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90675" y="4585245"/>
            <a:ext cx="10106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https://ugandainvest.go.ug/wp-content/uploads/2026/06/Bwendero-Dairy-Farm-29-scaled.jpg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0675" y="4785270"/>
            <a:ext cx="10106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ugandainvest.go.ug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5313908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90675" y="5356770"/>
            <a:ext cx="10106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https://i.ytimg.com/vi/Z59YoIzdG8I/hq720.jpg?sqp=-oaymwEhCK4FEIIDSFryq4qpAxMIARUAAAAAGAElAADIQj0AgKJD&amp;rs=AOn4CLCosLeOgwf5voVTmVePlRRny6x_4Q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0675" y="5556795"/>
            <a:ext cx="10106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www.youtube.com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Office PowerPoint</Application>
  <PresentationFormat>Widescreen</PresentationFormat>
  <Paragraphs>139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Inter</vt:lpstr>
      <vt:lpstr>Inter Medium</vt:lpstr>
      <vt:lpstr>Inter SemiBold</vt:lpstr>
      <vt:lpstr>Montserrat</vt:lpstr>
      <vt:lpstr>Montserrat ExtraBold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ZABRE Wendtoin Filomene Tania</cp:lastModifiedBy>
  <cp:revision>2</cp:revision>
  <dcterms:created xsi:type="dcterms:W3CDTF">2013-01-27T09:14:16Z</dcterms:created>
  <dcterms:modified xsi:type="dcterms:W3CDTF">2026-08-06T15:58:09Z</dcterms:modified>
  <cp:category/>
</cp:coreProperties>
</file>