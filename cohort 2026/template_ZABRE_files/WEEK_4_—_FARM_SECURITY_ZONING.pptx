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Inter" charset="-122" pitchFamily="34"/>
      <p:regular r:id="rId17"/>
    </p:embeddedFont>
    <p:embeddedFont>
      <p:font typeface="Montserrat" charset="-122" pitchFamily="34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isa.gov/resources-tools/resources/isc-best-practices-facility-access-control" TargetMode="External"/><Relationship Id="rId2" Type="http://schemas.openxmlformats.org/officeDocument/2006/relationships/hyperlink" Target="https://www.idmanagement.gov/university/pacs/" TargetMode="External"/><Relationship Id="rId3" Type="http://schemas.openxmlformats.org/officeDocument/2006/relationships/hyperlink" Target="https://www.extension.purdue.edu/eden/ruralsecurity/security.html" TargetMode="External"/><Relationship Id="rId4" Type="http://schemas.openxmlformats.org/officeDocument/2006/relationships/hyperlink" Target="https://dcj.colorado.gov/dcj-offices/ors/doc-res/brf-cpted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project"/>
          <p:cNvSpPr/>
          <p:nvPr/>
        </p:nvSpPr>
        <p:spPr>
          <a:xfrm>
            <a:off x="2032000" y="2159000"/>
            <a:ext cx="1219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SUPPLY CHAIN FOR DRIED MANGO FROM AFRICA TO GERMANY</a:t>
            </a:r>
            <a:endParaRPr lang="en-US" sz="1400" dirty="0"/>
          </a:p>
        </p:txBody>
      </p:sp>
      <p:sp>
        <p:nvSpPr>
          <p:cNvPr id="3" name="cover-title"/>
          <p:cNvSpPr/>
          <p:nvPr/>
        </p:nvSpPr>
        <p:spPr>
          <a:xfrm>
            <a:off x="1016000" y="3111500"/>
            <a:ext cx="142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50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 — FARM SECURITY ZONING</a:t>
            </a:r>
            <a:endParaRPr lang="en-US" sz="5000" dirty="0"/>
          </a:p>
        </p:txBody>
      </p:sp>
      <p:sp>
        <p:nvSpPr>
          <p:cNvPr id="4" name="cover-divider"/>
          <p:cNvSpPr/>
          <p:nvPr/>
        </p:nvSpPr>
        <p:spPr>
          <a:xfrm>
            <a:off x="6477000" y="4254500"/>
            <a:ext cx="3302000" cy="9144"/>
          </a:xfrm>
          <a:prstGeom prst="line">
            <a:avLst/>
          </a:prstGeom>
          <a:ln w="50800">
            <a:solidFill>
              <a:srgbClr val="A8D5BA"/>
            </a:solidFill>
            <a:prstDash val="solid"/>
          </a:ln>
        </p:spPr>
      </p:sp>
      <p:sp>
        <p:nvSpPr>
          <p:cNvPr id="5" name="cover-subtitle"/>
          <p:cNvSpPr/>
          <p:nvPr/>
        </p:nvSpPr>
        <p:spPr>
          <a:xfrm>
            <a:off x="2286000" y="4572000"/>
            <a:ext cx="1168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500" dirty="0">
                <a:solidFill>
                  <a:srgbClr val="2431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Risk &amp; Asset Analysis to a Clear Spatial Security Structure</a:t>
            </a:r>
            <a:endParaRPr lang="en-US" sz="2500" dirty="0"/>
          </a:p>
        </p:txBody>
      </p:sp>
      <p:sp>
        <p:nvSpPr>
          <p:cNvPr id="6" name="cover-card"/>
          <p:cNvSpPr/>
          <p:nvPr/>
        </p:nvSpPr>
        <p:spPr>
          <a:xfrm>
            <a:off x="4254500" y="5588000"/>
            <a:ext cx="7747000" cy="1625600"/>
          </a:xfrm>
          <a:prstGeom prst="roundRect">
            <a:avLst>
              <a:gd name="adj" fmla="val 9375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cover-app"/>
          <p:cNvSpPr/>
          <p:nvPr/>
        </p:nvSpPr>
        <p:spPr>
          <a:xfrm>
            <a:off x="4635500" y="5867400"/>
            <a:ext cx="698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Fencing &amp; Security App</a:t>
            </a:r>
            <a:endParaRPr lang="en-US" sz="2000" dirty="0"/>
          </a:p>
        </p:txBody>
      </p:sp>
      <p:sp>
        <p:nvSpPr>
          <p:cNvPr id="8" name="cover-presenter"/>
          <p:cNvSpPr/>
          <p:nvPr/>
        </p:nvSpPr>
        <p:spPr>
          <a:xfrm>
            <a:off x="4635500" y="63500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Tania  ·  Excellence Program — Week 4</a:t>
            </a:r>
            <a:endParaRPr lang="en-US" sz="1400" dirty="0"/>
          </a:p>
        </p:txBody>
      </p:sp>
      <p:sp>
        <p:nvSpPr>
          <p:cNvPr id="9" name="cover-date"/>
          <p:cNvSpPr/>
          <p:nvPr/>
        </p:nvSpPr>
        <p:spPr>
          <a:xfrm>
            <a:off x="4635500" y="67056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Generated: 12 August 2026</a:t>
            </a:r>
            <a:endParaRPr lang="en-US" sz="1400" dirty="0"/>
          </a:p>
        </p:txBody>
      </p:sp>
      <p:sp>
        <p:nvSpPr>
          <p:cNvPr id="10" name="cover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10</a:t>
            </a:r>
            <a:endParaRPr lang="en-US" sz="1400" dirty="0"/>
          </a:p>
        </p:txBody>
      </p:sp>
      <p:sp>
        <p:nvSpPr>
          <p:cNvPr id="11" name="cover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2" name="cover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3" name="cover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4" name="cover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y-title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are we doing zoning?</a:t>
            </a:r>
            <a:endParaRPr lang="en-US" sz="3200" dirty="0"/>
          </a:p>
        </p:txBody>
      </p:sp>
      <p:sp>
        <p:nvSpPr>
          <p:cNvPr id="3" name="why-kicker"/>
          <p:cNvSpPr/>
          <p:nvPr/>
        </p:nvSpPr>
        <p:spPr>
          <a:xfrm>
            <a:off x="762000" y="1231900"/>
            <a:ext cx="1270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turns the Week 3 risk and asset analysis into a spatial security structure.</a:t>
            </a:r>
            <a:endParaRPr lang="en-US" sz="1400" dirty="0"/>
          </a:p>
        </p:txBody>
      </p:sp>
      <p:sp>
        <p:nvSpPr>
          <p:cNvPr id="4" name="why-insight-card"/>
          <p:cNvSpPr/>
          <p:nvPr/>
        </p:nvSpPr>
        <p:spPr>
          <a:xfrm>
            <a:off x="762000" y="1778000"/>
            <a:ext cx="14732000" cy="1117600"/>
          </a:xfrm>
          <a:prstGeom prst="roundRect">
            <a:avLst>
              <a:gd name="adj" fmla="val 13636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why-insight"/>
          <p:cNvSpPr/>
          <p:nvPr/>
        </p:nvSpPr>
        <p:spPr>
          <a:xfrm>
            <a:off x="1168400" y="2082800"/>
            <a:ext cx="1391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farm should not be treated as one uniform security area.</a:t>
            </a:r>
            <a:endParaRPr lang="en-US" sz="2200" dirty="0"/>
          </a:p>
        </p:txBody>
      </p:sp>
      <p:sp>
        <p:nvSpPr>
          <p:cNvPr id="6" name="why-context-card"/>
          <p:cNvSpPr/>
          <p:nvPr/>
        </p:nvSpPr>
        <p:spPr>
          <a:xfrm>
            <a:off x="762000" y="3302000"/>
            <a:ext cx="6985000" cy="3810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why-context"/>
          <p:cNvSpPr/>
          <p:nvPr/>
        </p:nvSpPr>
        <p:spPr>
          <a:xfrm>
            <a:off x="1168400" y="3644900"/>
            <a:ext cx="61722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Week 3 showed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includes assets, people, activities, access, theft, unauthorized entry and operating conditions.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Heat, dust, weather, power reliability and connectivity can affect how the security organization works.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gives this understanding a clearer spatial form.</a:t>
            </a:r>
            <a:endParaRPr lang="en-US" sz="1800" dirty="0"/>
          </a:p>
        </p:txBody>
      </p:sp>
      <p:sp>
        <p:nvSpPr>
          <p:cNvPr id="8" name="why-output-card"/>
          <p:cNvSpPr/>
          <p:nvPr/>
        </p:nvSpPr>
        <p:spPr>
          <a:xfrm>
            <a:off x="8509000" y="3302000"/>
            <a:ext cx="6985000" cy="3810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why-output"/>
          <p:cNvSpPr/>
          <p:nvPr/>
        </p:nvSpPr>
        <p:spPr>
          <a:xfrm>
            <a:off x="8915400" y="3644900"/>
            <a:ext cx="61722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zoning produces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identifies the main functional areas of the farm.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distinguishes levels of sensitivity and makes access needs easier to discuss.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organizes movement of workers, visitors, vehicles and products before later physical-security decisions are made.</a:t>
            </a:r>
            <a:endParaRPr lang="en-US" sz="1800" dirty="0"/>
          </a:p>
        </p:txBody>
      </p:sp>
      <p:sp>
        <p:nvSpPr>
          <p:cNvPr id="10" name="why-source-note"/>
          <p:cNvSpPr/>
          <p:nvPr/>
        </p:nvSpPr>
        <p:spPr>
          <a:xfrm>
            <a:off x="762000" y="74930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base: [1] [2] — access planning, asset inventory and security-area categorization.</a:t>
            </a:r>
            <a:endParaRPr lang="en-US" sz="1400" dirty="0"/>
          </a:p>
        </p:txBody>
      </p:sp>
      <p:sp>
        <p:nvSpPr>
          <p:cNvPr id="11" name="why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1400" dirty="0"/>
          </a:p>
        </p:txBody>
      </p:sp>
      <p:sp>
        <p:nvSpPr>
          <p:cNvPr id="12" name="why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3" name="why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4" name="why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5" name="why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sk-title"/>
          <p:cNvSpPr/>
          <p:nvPr/>
        </p:nvSpPr>
        <p:spPr>
          <a:xfrm>
            <a:off x="762000" y="660400"/>
            <a:ext cx="1346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Risk &amp; Asset Analysis to Zoning</a:t>
            </a:r>
            <a:endParaRPr lang="en-US" sz="3200" dirty="0"/>
          </a:p>
        </p:txBody>
      </p:sp>
      <p:sp>
        <p:nvSpPr>
          <p:cNvPr id="3" name="risk-subtitle"/>
          <p:cNvSpPr/>
          <p:nvPr/>
        </p:nvSpPr>
        <p:spPr>
          <a:xfrm>
            <a:off x="762000" y="1270000"/>
            <a:ext cx="137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asks how the farm should be divided according to activities, assets, movement and security needs.</a:t>
            </a:r>
            <a:endParaRPr lang="en-US" sz="1400" dirty="0"/>
          </a:p>
        </p:txBody>
      </p:sp>
      <p:sp>
        <p:nvSpPr>
          <p:cNvPr id="4" name="risk-card-1"/>
          <p:cNvSpPr/>
          <p:nvPr/>
        </p:nvSpPr>
        <p:spPr>
          <a:xfrm>
            <a:off x="762000" y="2667000"/>
            <a:ext cx="3556000" cy="198120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risk-stage-1"/>
          <p:cNvSpPr/>
          <p:nvPr/>
        </p:nvSpPr>
        <p:spPr>
          <a:xfrm>
            <a:off x="1066800" y="3009900"/>
            <a:ext cx="2946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Assets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needs protection?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· activities · assets</a:t>
            </a:r>
            <a:endParaRPr lang="en-US" sz="1800" dirty="0"/>
          </a:p>
        </p:txBody>
      </p:sp>
      <p:sp>
        <p:nvSpPr>
          <p:cNvPr id="6" name="risk-arrow-1"/>
          <p:cNvSpPr/>
          <p:nvPr/>
        </p:nvSpPr>
        <p:spPr>
          <a:xfrm>
            <a:off x="4445000" y="3657600"/>
            <a:ext cx="635000" cy="9144"/>
          </a:xfrm>
          <a:prstGeom prst="line">
            <a:avLst/>
          </a:prstGeom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7" name="risk-card-2"/>
          <p:cNvSpPr/>
          <p:nvPr/>
        </p:nvSpPr>
        <p:spPr>
          <a:xfrm>
            <a:off x="5270500" y="2667000"/>
            <a:ext cx="3556000" cy="1981200"/>
          </a:xfrm>
          <a:prstGeom prst="roundRect">
            <a:avLst>
              <a:gd name="adj" fmla="val 7692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risk-stage-2"/>
          <p:cNvSpPr/>
          <p:nvPr/>
        </p:nvSpPr>
        <p:spPr>
          <a:xfrm>
            <a:off x="5575300" y="3009900"/>
            <a:ext cx="2946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Needs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sensitive is it?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· access · movement</a:t>
            </a:r>
            <a:endParaRPr lang="en-US" sz="1800" dirty="0"/>
          </a:p>
        </p:txBody>
      </p:sp>
      <p:sp>
        <p:nvSpPr>
          <p:cNvPr id="9" name="risk-arrow-2"/>
          <p:cNvSpPr/>
          <p:nvPr/>
        </p:nvSpPr>
        <p:spPr>
          <a:xfrm>
            <a:off x="8953500" y="3657600"/>
            <a:ext cx="635000" cy="9144"/>
          </a:xfrm>
          <a:prstGeom prst="line">
            <a:avLst/>
          </a:prstGeom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0" name="risk-card-3"/>
          <p:cNvSpPr/>
          <p:nvPr/>
        </p:nvSpPr>
        <p:spPr>
          <a:xfrm>
            <a:off x="9779000" y="2667000"/>
            <a:ext cx="3556000" cy="1981200"/>
          </a:xfrm>
          <a:prstGeom prst="roundRect">
            <a:avLst>
              <a:gd name="adj" fmla="val 7692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risk-stage-3"/>
          <p:cNvSpPr/>
          <p:nvPr/>
        </p:nvSpPr>
        <p:spPr>
          <a:xfrm>
            <a:off x="10083800" y="3009900"/>
            <a:ext cx="2946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 Zoning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movement work?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Areas · sensitivity · routes</a:t>
            </a:r>
            <a:endParaRPr lang="en-US" sz="1800" dirty="0"/>
          </a:p>
        </p:txBody>
      </p:sp>
      <p:sp>
        <p:nvSpPr>
          <p:cNvPr id="12" name="risk-question-card"/>
          <p:cNvSpPr/>
          <p:nvPr/>
        </p:nvSpPr>
        <p:spPr>
          <a:xfrm>
            <a:off x="762000" y="5461000"/>
            <a:ext cx="14732000" cy="1498600"/>
          </a:xfrm>
          <a:prstGeom prst="roundRect">
            <a:avLst>
              <a:gd name="adj" fmla="val 1016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risk-questions"/>
          <p:cNvSpPr/>
          <p:nvPr/>
        </p:nvSpPr>
        <p:spPr>
          <a:xfrm>
            <a:off x="1168400" y="5803900"/>
            <a:ext cx="13919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spatial questions</a:t>
            </a:r>
            <a:endParaRPr lang="en-US" sz="18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 important areas?  ·  How sensitive is each area?  ·  Who should access it?  ·  How should movement be organized?</a:t>
            </a:r>
            <a:endParaRPr lang="en-US" sz="1800" dirty="0"/>
          </a:p>
        </p:txBody>
      </p:sp>
      <p:sp>
        <p:nvSpPr>
          <p:cNvPr id="14" name="risk-source-note"/>
          <p:cNvSpPr/>
          <p:nvPr/>
        </p:nvSpPr>
        <p:spPr>
          <a:xfrm>
            <a:off x="762000" y="74930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base: [2] — inventory critical assets, assess impact and categorize security areas.</a:t>
            </a:r>
            <a:endParaRPr lang="en-US" sz="1400" dirty="0"/>
          </a:p>
        </p:txBody>
      </p:sp>
      <p:sp>
        <p:nvSpPr>
          <p:cNvPr id="15" name="risk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1400" dirty="0"/>
          </a:p>
        </p:txBody>
      </p:sp>
      <p:sp>
        <p:nvSpPr>
          <p:cNvPr id="16" name="risk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7" name="risk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8" name="risk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9" name="risk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hod-title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Four-Step Zoning Method</a:t>
            </a:r>
            <a:endParaRPr lang="en-US" sz="3200" dirty="0"/>
          </a:p>
        </p:txBody>
      </p:sp>
      <p:sp>
        <p:nvSpPr>
          <p:cNvPr id="3" name="method-subtitle"/>
          <p:cNvSpPr/>
          <p:nvPr/>
        </p:nvSpPr>
        <p:spPr>
          <a:xfrm>
            <a:off x="762000" y="1270000"/>
            <a:ext cx="138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sequence shows that zoning is a method, not an arbitrary set of colored boxes.</a:t>
            </a:r>
            <a:endParaRPr lang="en-US" sz="1400" dirty="0"/>
          </a:p>
        </p:txBody>
      </p:sp>
      <p:sp>
        <p:nvSpPr>
          <p:cNvPr id="4" name="method-card-1"/>
          <p:cNvSpPr/>
          <p:nvPr/>
        </p:nvSpPr>
        <p:spPr>
          <a:xfrm>
            <a:off x="762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method-step-1"/>
          <p:cNvSpPr/>
          <p:nvPr/>
        </p:nvSpPr>
        <p:spPr>
          <a:xfrm>
            <a:off x="1041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main functional areas of the farm.</a:t>
            </a:r>
            <a:endParaRPr lang="en-US" sz="1800" dirty="0"/>
          </a:p>
        </p:txBody>
      </p:sp>
      <p:sp>
        <p:nvSpPr>
          <p:cNvPr id="6" name="method-card-2"/>
          <p:cNvSpPr/>
          <p:nvPr/>
        </p:nvSpPr>
        <p:spPr>
          <a:xfrm>
            <a:off x="4445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method-step-2"/>
          <p:cNvSpPr/>
          <p:nvPr/>
        </p:nvSpPr>
        <p:spPr>
          <a:xfrm>
            <a:off x="4724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each area according to its security sensitivity.</a:t>
            </a:r>
            <a:endParaRPr lang="en-US" sz="1800" dirty="0"/>
          </a:p>
        </p:txBody>
      </p:sp>
      <p:sp>
        <p:nvSpPr>
          <p:cNvPr id="8" name="method-card-3"/>
          <p:cNvSpPr/>
          <p:nvPr/>
        </p:nvSpPr>
        <p:spPr>
          <a:xfrm>
            <a:off x="8128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method-step-3"/>
          <p:cNvSpPr/>
          <p:nvPr/>
        </p:nvSpPr>
        <p:spPr>
          <a:xfrm>
            <a:off x="8407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workers, visitors, vehicles and products.</a:t>
            </a:r>
            <a:endParaRPr lang="en-US" sz="1800" dirty="0"/>
          </a:p>
        </p:txBody>
      </p:sp>
      <p:sp>
        <p:nvSpPr>
          <p:cNvPr id="10" name="method-card-4"/>
          <p:cNvSpPr/>
          <p:nvPr/>
        </p:nvSpPr>
        <p:spPr>
          <a:xfrm>
            <a:off x="11811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method-step-4"/>
          <p:cNvSpPr/>
          <p:nvPr/>
        </p:nvSpPr>
        <p:spPr>
          <a:xfrm>
            <a:off x="12090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 a preliminary model for review and refinement.</a:t>
            </a:r>
            <a:endParaRPr lang="en-US" sz="1800" dirty="0"/>
          </a:p>
        </p:txBody>
      </p:sp>
      <p:sp>
        <p:nvSpPr>
          <p:cNvPr id="12" name="method-logic-band"/>
          <p:cNvSpPr/>
          <p:nvPr/>
        </p:nvSpPr>
        <p:spPr>
          <a:xfrm>
            <a:off x="762000" y="6540500"/>
            <a:ext cx="14732000" cy="863600"/>
          </a:xfrm>
          <a:prstGeom prst="roundRect">
            <a:avLst>
              <a:gd name="adj" fmla="val 14706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method-logic"/>
          <p:cNvSpPr/>
          <p:nvPr/>
        </p:nvSpPr>
        <p:spPr>
          <a:xfrm>
            <a:off x="1016000" y="68072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 →  CLASSIFY  →  ORGANIZE MOVEMENT  →  CREATE ZONING MODEL</a:t>
            </a:r>
            <a:endParaRPr lang="en-US" sz="2000" dirty="0"/>
          </a:p>
        </p:txBody>
      </p:sp>
      <p:sp>
        <p:nvSpPr>
          <p:cNvPr id="14" name="method-source-note"/>
          <p:cNvSpPr/>
          <p:nvPr/>
        </p:nvSpPr>
        <p:spPr>
          <a:xfrm>
            <a:off x="762000" y="76835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base: [2] — identify assets and risks before categorizing security areas.</a:t>
            </a:r>
            <a:endParaRPr lang="en-US" sz="1400" dirty="0"/>
          </a:p>
        </p:txBody>
      </p:sp>
      <p:sp>
        <p:nvSpPr>
          <p:cNvPr id="15" name="method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1400" dirty="0"/>
          </a:p>
        </p:txBody>
      </p:sp>
      <p:sp>
        <p:nvSpPr>
          <p:cNvPr id="16" name="method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7" name="method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8" name="method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9" name="method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s-title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Levels Make Sensitivity Visible</a:t>
            </a:r>
            <a:endParaRPr lang="en-US" sz="3200" dirty="0"/>
          </a:p>
        </p:txBody>
      </p:sp>
      <p:sp>
        <p:nvSpPr>
          <p:cNvPr id="3" name="levels-subtitle"/>
          <p:cNvSpPr/>
          <p:nvPr/>
        </p:nvSpPr>
        <p:spPr>
          <a:xfrm>
            <a:off x="762000" y="1270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four-level model helps distinguish areas with different protection and access needs.</a:t>
            </a:r>
            <a:endParaRPr lang="en-US" sz="1400" dirty="0"/>
          </a:p>
        </p:txBody>
      </p:sp>
      <p:sp>
        <p:nvSpPr>
          <p:cNvPr id="4" name="open-card"/>
          <p:cNvSpPr/>
          <p:nvPr/>
        </p:nvSpPr>
        <p:spPr>
          <a:xfrm>
            <a:off x="762000" y="21590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open-content"/>
          <p:cNvSpPr/>
          <p:nvPr/>
        </p:nvSpPr>
        <p:spPr>
          <a:xfrm>
            <a:off x="1117600" y="24638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1 — OPEN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frequent and less sensitive movement.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entrance, reception, designated visitor area.</a:t>
            </a:r>
            <a:endParaRPr lang="en-US" sz="1800" dirty="0"/>
          </a:p>
        </p:txBody>
      </p:sp>
      <p:sp>
        <p:nvSpPr>
          <p:cNvPr id="6" name="controlled-card"/>
          <p:cNvSpPr/>
          <p:nvPr/>
        </p:nvSpPr>
        <p:spPr>
          <a:xfrm>
            <a:off x="8255000" y="21590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controlled-content"/>
          <p:cNvSpPr/>
          <p:nvPr/>
        </p:nvSpPr>
        <p:spPr>
          <a:xfrm>
            <a:off x="8610600" y="24638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2 — CONTROLLED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 mainly for authorized personnel.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production areas, staff operational areas.</a:t>
            </a:r>
            <a:endParaRPr lang="en-US" sz="1800" dirty="0"/>
          </a:p>
        </p:txBody>
      </p:sp>
      <p:sp>
        <p:nvSpPr>
          <p:cNvPr id="8" name="restricted-card"/>
          <p:cNvSpPr/>
          <p:nvPr/>
        </p:nvSpPr>
        <p:spPr>
          <a:xfrm>
            <a:off x="762000" y="46355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restricted-content"/>
          <p:cNvSpPr/>
          <p:nvPr/>
        </p:nvSpPr>
        <p:spPr>
          <a:xfrm>
            <a:off x="1117600" y="49403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3 — RESTRICTED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Protect valuable assets and sensitive operations.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warehouse, storage, equipment, sensitive loading areas.</a:t>
            </a:r>
            <a:endParaRPr lang="en-US" sz="1800" dirty="0"/>
          </a:p>
        </p:txBody>
      </p:sp>
      <p:sp>
        <p:nvSpPr>
          <p:cNvPr id="10" name="critical-card"/>
          <p:cNvSpPr/>
          <p:nvPr/>
        </p:nvSpPr>
        <p:spPr>
          <a:xfrm>
            <a:off x="8255000" y="46355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critical-content"/>
          <p:cNvSpPr/>
          <p:nvPr/>
        </p:nvSpPr>
        <p:spPr>
          <a:xfrm>
            <a:off x="8610600" y="49403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4 — CRITICAL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Strictly controlled access.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critical infrastructure and high-impact assets.</a:t>
            </a:r>
            <a:endParaRPr lang="en-US" sz="1800" dirty="0"/>
          </a:p>
        </p:txBody>
      </p:sp>
      <p:sp>
        <p:nvSpPr>
          <p:cNvPr id="12" name="levels-note-band"/>
          <p:cNvSpPr/>
          <p:nvPr/>
        </p:nvSpPr>
        <p:spPr>
          <a:xfrm>
            <a:off x="762000" y="7175500"/>
            <a:ext cx="14732000" cy="787400"/>
          </a:xfrm>
          <a:prstGeom prst="roundRect">
            <a:avLst>
              <a:gd name="adj" fmla="val 1612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levels-note"/>
          <p:cNvSpPr/>
          <p:nvPr/>
        </p:nvSpPr>
        <p:spPr>
          <a:xfrm>
            <a:off x="1092200" y="7429500"/>
            <a:ext cx="14071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classification model — to be confirmed against the real farm layout and operational information.</a:t>
            </a:r>
            <a:endParaRPr lang="en-US" sz="1600" dirty="0"/>
          </a:p>
        </p:txBody>
      </p:sp>
      <p:sp>
        <p:nvSpPr>
          <p:cNvPr id="14" name="levels-source-note"/>
          <p:cNvSpPr/>
          <p:nvPr/>
        </p:nvSpPr>
        <p:spPr>
          <a:xfrm>
            <a:off x="762000" y="81280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base: [2] — security areas can require different movement controls and authorization levels.</a:t>
            </a:r>
            <a:endParaRPr lang="en-US" sz="1400" dirty="0"/>
          </a:p>
        </p:txBody>
      </p:sp>
      <p:sp>
        <p:nvSpPr>
          <p:cNvPr id="15" name="levels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1400" dirty="0"/>
          </a:p>
        </p:txBody>
      </p:sp>
      <p:sp>
        <p:nvSpPr>
          <p:cNvPr id="16" name="levels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7" name="levels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8" name="levels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9" name="levels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vement-title"/>
          <p:cNvSpPr/>
          <p:nvPr/>
        </p:nvSpPr>
        <p:spPr>
          <a:xfrm>
            <a:off x="762000" y="660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Movement Should Become More Controlled</a:t>
            </a:r>
            <a:endParaRPr lang="en-US" sz="3200" dirty="0"/>
          </a:p>
        </p:txBody>
      </p:sp>
      <p:sp>
        <p:nvSpPr>
          <p:cNvPr id="3" name="movement-subtitle"/>
          <p:cNvSpPr/>
          <p:nvPr/>
        </p:nvSpPr>
        <p:spPr>
          <a:xfrm>
            <a:off x="762000" y="12700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Zoning is not simply drawing colored boxes on a map; it must guide how people, vehicles and products move.</a:t>
            </a:r>
            <a:endParaRPr lang="en-US" sz="1400" dirty="0"/>
          </a:p>
        </p:txBody>
      </p:sp>
      <p:sp>
        <p:nvSpPr>
          <p:cNvPr id="4" name="workers-card"/>
          <p:cNvSpPr/>
          <p:nvPr/>
        </p:nvSpPr>
        <p:spPr>
          <a:xfrm>
            <a:off x="762000" y="2032000"/>
            <a:ext cx="4572000" cy="2159000"/>
          </a:xfrm>
          <a:prstGeom prst="roundRect">
            <a:avLst>
              <a:gd name="adj" fmla="val 7059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workers-content"/>
          <p:cNvSpPr/>
          <p:nvPr/>
        </p:nvSpPr>
        <p:spPr>
          <a:xfrm>
            <a:off x="1092200" y="2349500"/>
            <a:ext cx="391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regular access to operational areas.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should support daily work while remaining connected to the purpose of each zone.</a:t>
            </a:r>
            <a:endParaRPr lang="en-US" sz="1800" dirty="0"/>
          </a:p>
        </p:txBody>
      </p:sp>
      <p:sp>
        <p:nvSpPr>
          <p:cNvPr id="6" name="visitors-card"/>
          <p:cNvSpPr/>
          <p:nvPr/>
        </p:nvSpPr>
        <p:spPr>
          <a:xfrm>
            <a:off x="5842000" y="2032000"/>
            <a:ext cx="4572000" cy="2159000"/>
          </a:xfrm>
          <a:prstGeom prst="roundRect">
            <a:avLst>
              <a:gd name="adj" fmla="val 7059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visitors-content"/>
          <p:cNvSpPr/>
          <p:nvPr/>
        </p:nvSpPr>
        <p:spPr>
          <a:xfrm>
            <a:off x="6172200" y="2349500"/>
            <a:ext cx="391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remain concentrated around entrance, reception and designated visitor areas as much as possible.</a:t>
            </a:r>
            <a:endParaRPr lang="en-US" sz="1800" dirty="0"/>
          </a:p>
        </p:txBody>
      </p:sp>
      <p:sp>
        <p:nvSpPr>
          <p:cNvPr id="8" name="vehicles-card"/>
          <p:cNvSpPr/>
          <p:nvPr/>
        </p:nvSpPr>
        <p:spPr>
          <a:xfrm>
            <a:off x="10922000" y="2032000"/>
            <a:ext cx="4572000" cy="2159000"/>
          </a:xfrm>
          <a:prstGeom prst="roundRect">
            <a:avLst>
              <a:gd name="adj" fmla="val 7059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vehicles-content"/>
          <p:cNvSpPr/>
          <p:nvPr/>
        </p:nvSpPr>
        <p:spPr>
          <a:xfrm>
            <a:off x="11252200" y="2349500"/>
            <a:ext cx="391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 &amp; Products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and dispatch should avoid unnecessary access to sensitive areas.</a:t>
            </a:r>
            <a:endParaRPr lang="en-US" sz="1800" dirty="0"/>
          </a:p>
        </p:txBody>
      </p:sp>
      <p:sp>
        <p:nvSpPr>
          <p:cNvPr id="10" name="movement-flow-band"/>
          <p:cNvSpPr/>
          <p:nvPr/>
        </p:nvSpPr>
        <p:spPr>
          <a:xfrm>
            <a:off x="762000" y="4826000"/>
            <a:ext cx="14732000" cy="165100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movement-flow-label"/>
          <p:cNvSpPr/>
          <p:nvPr/>
        </p:nvSpPr>
        <p:spPr>
          <a:xfrm>
            <a:off x="1143000" y="50800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MOVEMENT PROGRESSION</a:t>
            </a:r>
            <a:endParaRPr lang="en-US" sz="1800" dirty="0"/>
          </a:p>
        </p:txBody>
      </p:sp>
      <p:sp>
        <p:nvSpPr>
          <p:cNvPr id="12" name="movement-flow"/>
          <p:cNvSpPr/>
          <p:nvPr/>
        </p:nvSpPr>
        <p:spPr>
          <a:xfrm>
            <a:off x="1206500" y="5651500"/>
            <a:ext cx="138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ENTRANCE  →  OPEN  →  CONTROLLED  →  RESTRICTED  →  CRITICAL</a:t>
            </a:r>
            <a:endParaRPr lang="en-US" sz="2200" dirty="0"/>
          </a:p>
        </p:txBody>
      </p:sp>
      <p:sp>
        <p:nvSpPr>
          <p:cNvPr id="13" name="movement-principle-band"/>
          <p:cNvSpPr/>
          <p:nvPr/>
        </p:nvSpPr>
        <p:spPr>
          <a:xfrm>
            <a:off x="762000" y="6985000"/>
            <a:ext cx="14732000" cy="762000"/>
          </a:xfrm>
          <a:prstGeom prst="roundRect">
            <a:avLst>
              <a:gd name="adj" fmla="val 16667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movement-principle"/>
          <p:cNvSpPr/>
          <p:nvPr/>
        </p:nvSpPr>
        <p:spPr>
          <a:xfrm>
            <a:off x="1079500" y="7226300"/>
            <a:ext cx="1409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people and activities do not require the same paths or the same access to every part of the farm.</a:t>
            </a:r>
            <a:endParaRPr lang="en-US" sz="1700" dirty="0"/>
          </a:p>
        </p:txBody>
      </p:sp>
      <p:sp>
        <p:nvSpPr>
          <p:cNvPr id="15" name="movement-source-note"/>
          <p:cNvSpPr/>
          <p:nvPr/>
        </p:nvSpPr>
        <p:spPr>
          <a:xfrm>
            <a:off x="762000" y="80010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base: [3] — check-in points, delivery management and designated vehicle access areas.</a:t>
            </a:r>
            <a:endParaRPr lang="en-US" sz="1400" dirty="0"/>
          </a:p>
        </p:txBody>
      </p:sp>
      <p:sp>
        <p:nvSpPr>
          <p:cNvPr id="16" name="movement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1400" dirty="0"/>
          </a:p>
        </p:txBody>
      </p:sp>
      <p:sp>
        <p:nvSpPr>
          <p:cNvPr id="17" name="movement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8" name="movement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9" name="movement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20" name="movement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ckup-title"/>
          <p:cNvSpPr/>
          <p:nvPr/>
        </p:nvSpPr>
        <p:spPr>
          <a:xfrm>
            <a:off x="762000" y="6604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Preliminary Farm Security Zoning Mock-up</a:t>
            </a:r>
            <a:endParaRPr lang="en-US" sz="3200" dirty="0"/>
          </a:p>
        </p:txBody>
      </p:sp>
      <p:sp>
        <p:nvSpPr>
          <p:cNvPr id="3" name="mockup-subtitle"/>
          <p:cNvSpPr/>
          <p:nvPr/>
        </p:nvSpPr>
        <p:spPr>
          <a:xfrm>
            <a:off x="762000" y="1270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working model — to be refined using the real farm layout and operational information.</a:t>
            </a:r>
            <a:endParaRPr lang="en-US" sz="1400" dirty="0"/>
          </a:p>
        </p:txBody>
      </p:sp>
      <p:sp>
        <p:nvSpPr>
          <p:cNvPr id="4" name="mock-open"/>
          <p:cNvSpPr/>
          <p:nvPr/>
        </p:nvSpPr>
        <p:spPr>
          <a:xfrm>
            <a:off x="762000" y="2286000"/>
            <a:ext cx="3556000" cy="1778000"/>
          </a:xfrm>
          <a:prstGeom prst="roundRect">
            <a:avLst>
              <a:gd name="adj" fmla="val 7143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mock-open-text"/>
          <p:cNvSpPr/>
          <p:nvPr/>
        </p:nvSpPr>
        <p:spPr>
          <a:xfrm>
            <a:off x="1041400" y="2667000"/>
            <a:ext cx="29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Entrance / Reception / Visitor Area</a:t>
            </a:r>
            <a:endParaRPr lang="en-US" sz="1800" dirty="0"/>
          </a:p>
        </p:txBody>
      </p:sp>
      <p:sp>
        <p:nvSpPr>
          <p:cNvPr id="6" name="mock-production"/>
          <p:cNvSpPr/>
          <p:nvPr/>
        </p:nvSpPr>
        <p:spPr>
          <a:xfrm>
            <a:off x="4445000" y="2286000"/>
            <a:ext cx="5334000" cy="1778000"/>
          </a:xfrm>
          <a:prstGeom prst="roundRect">
            <a:avLst>
              <a:gd name="adj" fmla="val 7143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mock-production-text"/>
          <p:cNvSpPr/>
          <p:nvPr/>
        </p:nvSpPr>
        <p:spPr>
          <a:xfrm>
            <a:off x="4800600" y="2667000"/>
            <a:ext cx="462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Area</a:t>
            </a:r>
            <a:endParaRPr lang="en-US" sz="1800" dirty="0"/>
          </a:p>
        </p:txBody>
      </p:sp>
      <p:sp>
        <p:nvSpPr>
          <p:cNvPr id="8" name="mock-operations"/>
          <p:cNvSpPr/>
          <p:nvPr/>
        </p:nvSpPr>
        <p:spPr>
          <a:xfrm>
            <a:off x="10033000" y="2286000"/>
            <a:ext cx="5461000" cy="1778000"/>
          </a:xfrm>
          <a:prstGeom prst="roundRect">
            <a:avLst>
              <a:gd name="adj" fmla="val 7143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mock-operations-text"/>
          <p:cNvSpPr/>
          <p:nvPr/>
        </p:nvSpPr>
        <p:spPr>
          <a:xfrm>
            <a:off x="10414000" y="2667000"/>
            <a:ext cx="469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Operational Area</a:t>
            </a:r>
            <a:endParaRPr lang="en-US" sz="1800" dirty="0"/>
          </a:p>
        </p:txBody>
      </p:sp>
      <p:sp>
        <p:nvSpPr>
          <p:cNvPr id="10" name="mock-warehouse"/>
          <p:cNvSpPr/>
          <p:nvPr/>
        </p:nvSpPr>
        <p:spPr>
          <a:xfrm>
            <a:off x="762000" y="4254500"/>
            <a:ext cx="3556000" cy="1778000"/>
          </a:xfrm>
          <a:prstGeom prst="roundRect">
            <a:avLst>
              <a:gd name="adj" fmla="val 7143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mock-warehouse-text"/>
          <p:cNvSpPr/>
          <p:nvPr/>
        </p:nvSpPr>
        <p:spPr>
          <a:xfrm>
            <a:off x="1041400" y="4635500"/>
            <a:ext cx="29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/ Storage</a:t>
            </a:r>
            <a:endParaRPr lang="en-US" sz="1800" dirty="0"/>
          </a:p>
        </p:txBody>
      </p:sp>
      <p:sp>
        <p:nvSpPr>
          <p:cNvPr id="12" name="mock-equipment"/>
          <p:cNvSpPr/>
          <p:nvPr/>
        </p:nvSpPr>
        <p:spPr>
          <a:xfrm>
            <a:off x="4445000" y="4254500"/>
            <a:ext cx="5334000" cy="1778000"/>
          </a:xfrm>
          <a:prstGeom prst="roundRect">
            <a:avLst>
              <a:gd name="adj" fmla="val 7143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mock-equipment-text"/>
          <p:cNvSpPr/>
          <p:nvPr/>
        </p:nvSpPr>
        <p:spPr>
          <a:xfrm>
            <a:off x="4800600" y="4635500"/>
            <a:ext cx="462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Area</a:t>
            </a:r>
            <a:endParaRPr lang="en-US" sz="1800" dirty="0"/>
          </a:p>
        </p:txBody>
      </p:sp>
      <p:sp>
        <p:nvSpPr>
          <p:cNvPr id="14" name="mock-critical"/>
          <p:cNvSpPr/>
          <p:nvPr/>
        </p:nvSpPr>
        <p:spPr>
          <a:xfrm>
            <a:off x="10033000" y="4254500"/>
            <a:ext cx="5461000" cy="1778000"/>
          </a:xfrm>
          <a:prstGeom prst="roundRect">
            <a:avLst>
              <a:gd name="adj" fmla="val 7143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mock-critical-text"/>
          <p:cNvSpPr/>
          <p:nvPr/>
        </p:nvSpPr>
        <p:spPr>
          <a:xfrm>
            <a:off x="10414000" y="4635500"/>
            <a:ext cx="469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Infrastructure</a:t>
            </a:r>
            <a:endParaRPr lang="en-US" sz="1800" dirty="0"/>
          </a:p>
        </p:txBody>
      </p:sp>
      <p:sp>
        <p:nvSpPr>
          <p:cNvPr id="16" name="mock-loading"/>
          <p:cNvSpPr/>
          <p:nvPr/>
        </p:nvSpPr>
        <p:spPr>
          <a:xfrm>
            <a:off x="762000" y="6223000"/>
            <a:ext cx="7112000" cy="889000"/>
          </a:xfrm>
          <a:prstGeom prst="roundRect">
            <a:avLst>
              <a:gd name="adj" fmla="val 14286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mock-loading-text"/>
          <p:cNvSpPr/>
          <p:nvPr/>
        </p:nvSpPr>
        <p:spPr>
          <a:xfrm>
            <a:off x="1041400" y="6438900"/>
            <a:ext cx="6553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/ DISPATCH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 and products</a:t>
            </a:r>
            <a:endParaRPr lang="en-US" sz="1800" dirty="0"/>
          </a:p>
        </p:txBody>
      </p:sp>
      <p:sp>
        <p:nvSpPr>
          <p:cNvPr id="18" name="mock-buffer"/>
          <p:cNvSpPr/>
          <p:nvPr/>
        </p:nvSpPr>
        <p:spPr>
          <a:xfrm>
            <a:off x="8128000" y="6223000"/>
            <a:ext cx="7366000" cy="889000"/>
          </a:xfrm>
          <a:prstGeom prst="roundRect">
            <a:avLst>
              <a:gd name="adj" fmla="val 14286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mock-buffer-text"/>
          <p:cNvSpPr/>
          <p:nvPr/>
        </p:nvSpPr>
        <p:spPr>
          <a:xfrm>
            <a:off x="8407400" y="6438900"/>
            <a:ext cx="6807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/ BUFFER AREA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operational circulation</a:t>
            </a:r>
            <a:endParaRPr lang="en-US" sz="1800" dirty="0"/>
          </a:p>
        </p:txBody>
      </p:sp>
      <p:sp>
        <p:nvSpPr>
          <p:cNvPr id="20" name="mock-legend-band"/>
          <p:cNvSpPr/>
          <p:nvPr/>
        </p:nvSpPr>
        <p:spPr>
          <a:xfrm>
            <a:off x="762000" y="7429500"/>
            <a:ext cx="14732000" cy="533400"/>
          </a:xfrm>
          <a:prstGeom prst="roundRect">
            <a:avLst>
              <a:gd name="adj" fmla="val 2381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mock-legend"/>
          <p:cNvSpPr/>
          <p:nvPr/>
        </p:nvSpPr>
        <p:spPr>
          <a:xfrm>
            <a:off x="1041400" y="7581900"/>
            <a:ext cx="14173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= soft green   ·   CONTROLLED = soft blue   ·   RESTRICTED = soft amber   ·   CRITICAL = soft red</a:t>
            </a:r>
            <a:endParaRPr lang="en-US" sz="1400" dirty="0"/>
          </a:p>
        </p:txBody>
      </p:sp>
      <p:sp>
        <p:nvSpPr>
          <p:cNvPr id="22" name="mockup-source-note"/>
          <p:cNvSpPr/>
          <p:nvPr/>
        </p:nvSpPr>
        <p:spPr>
          <a:xfrm>
            <a:off x="762000" y="81280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base: [4] — visible boundaries, natural access control and territorial definition.</a:t>
            </a:r>
            <a:endParaRPr lang="en-US" sz="1400" dirty="0"/>
          </a:p>
        </p:txBody>
      </p:sp>
      <p:sp>
        <p:nvSpPr>
          <p:cNvPr id="23" name="mockup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1400" dirty="0"/>
          </a:p>
        </p:txBody>
      </p:sp>
      <p:sp>
        <p:nvSpPr>
          <p:cNvPr id="24" name="mockup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25" name="mockup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26" name="mockup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27" name="mockup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-title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Week Establishes</a:t>
            </a:r>
            <a:endParaRPr lang="en-US" sz="3200" dirty="0"/>
          </a:p>
        </p:txBody>
      </p:sp>
      <p:sp>
        <p:nvSpPr>
          <p:cNvPr id="3" name="result-subtitle"/>
          <p:cNvSpPr/>
          <p:nvPr/>
        </p:nvSpPr>
        <p:spPr>
          <a:xfrm>
            <a:off x="762000" y="1270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clearer basis for the physical-security design — without pretending that later decisions are already complete.</a:t>
            </a:r>
            <a:endParaRPr lang="en-US" sz="1400" dirty="0"/>
          </a:p>
        </p:txBody>
      </p:sp>
      <p:sp>
        <p:nvSpPr>
          <p:cNvPr id="4" name="established-card"/>
          <p:cNvSpPr/>
          <p:nvPr/>
        </p:nvSpPr>
        <p:spPr>
          <a:xfrm>
            <a:off x="762000" y="2095500"/>
            <a:ext cx="6985000" cy="3683000"/>
          </a:xfrm>
          <a:prstGeom prst="roundRect">
            <a:avLst>
              <a:gd name="adj" fmla="val 4138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established-content"/>
          <p:cNvSpPr/>
          <p:nvPr/>
        </p:nvSpPr>
        <p:spPr>
          <a:xfrm>
            <a:off x="1143000" y="2438400"/>
            <a:ext cx="6223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in Week 4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need for spatial organization.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connection to the Week 3 risk and asset analysis.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preliminary levels of security sensitivity.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considerations for workers, visitors, vehicles and products.</a:t>
            </a:r>
            <a:endParaRPr lang="en-US" sz="1800" dirty="0"/>
          </a:p>
        </p:txBody>
      </p:sp>
      <p:sp>
        <p:nvSpPr>
          <p:cNvPr id="6" name="boundary-card"/>
          <p:cNvSpPr/>
          <p:nvPr/>
        </p:nvSpPr>
        <p:spPr>
          <a:xfrm>
            <a:off x="8509000" y="2095500"/>
            <a:ext cx="6985000" cy="3683000"/>
          </a:xfrm>
          <a:prstGeom prst="roundRect">
            <a:avLst>
              <a:gd name="adj" fmla="val 4138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boundary-content"/>
          <p:cNvSpPr/>
          <p:nvPr/>
        </p:nvSpPr>
        <p:spPr>
          <a:xfrm>
            <a:off x="8890000" y="2438400"/>
            <a:ext cx="6223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finalized this week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fencing engineering design.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surveillance design or camera locations.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access-control specifications.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confirmed architectural map of the real farm.</a:t>
            </a:r>
            <a:endParaRPr lang="en-US" sz="1800" dirty="0"/>
          </a:p>
        </p:txBody>
      </p:sp>
      <p:sp>
        <p:nvSpPr>
          <p:cNvPr id="8" name="result-band"/>
          <p:cNvSpPr/>
          <p:nvPr/>
        </p:nvSpPr>
        <p:spPr>
          <a:xfrm>
            <a:off x="762000" y="6223000"/>
            <a:ext cx="14732000" cy="1168400"/>
          </a:xfrm>
          <a:prstGeom prst="roundRect">
            <a:avLst>
              <a:gd name="adj" fmla="val 13043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result-band-text"/>
          <p:cNvSpPr/>
          <p:nvPr/>
        </p:nvSpPr>
        <p:spPr>
          <a:xfrm>
            <a:off x="1143000" y="6527800"/>
            <a:ext cx="1397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zoning model creates a visible structure that can be reviewed, discussed and refined.</a:t>
            </a:r>
            <a:endParaRPr lang="en-US" sz="2200" dirty="0"/>
          </a:p>
        </p:txBody>
      </p:sp>
      <p:sp>
        <p:nvSpPr>
          <p:cNvPr id="10" name="environment-note"/>
          <p:cNvSpPr/>
          <p:nvPr/>
        </p:nvSpPr>
        <p:spPr>
          <a:xfrm>
            <a:off x="762000" y="7683500"/>
            <a:ext cx="14732000" cy="444500"/>
          </a:xfrm>
          <a:prstGeom prst="roundRect">
            <a:avLst>
              <a:gd name="adj" fmla="val 22857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environment-note-text"/>
          <p:cNvSpPr/>
          <p:nvPr/>
        </p:nvSpPr>
        <p:spPr>
          <a:xfrm>
            <a:off x="1041400" y="7810500"/>
            <a:ext cx="14173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Zoning must also consider the physical environment: heat, dust, weather, power reliability and connectivity.</a:t>
            </a:r>
            <a:endParaRPr lang="en-US" sz="1400" dirty="0"/>
          </a:p>
        </p:txBody>
      </p:sp>
      <p:sp>
        <p:nvSpPr>
          <p:cNvPr id="12" name="result-source-note"/>
          <p:cNvSpPr/>
          <p:nvPr/>
        </p:nvSpPr>
        <p:spPr>
          <a:xfrm>
            <a:off x="762000" y="8255000"/>
            <a:ext cx="1079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informing this scope: [1] [3] [4]</a:t>
            </a:r>
            <a:endParaRPr lang="en-US" sz="1400" dirty="0"/>
          </a:p>
        </p:txBody>
      </p:sp>
      <p:sp>
        <p:nvSpPr>
          <p:cNvPr id="13" name="result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1400" dirty="0"/>
          </a:p>
        </p:txBody>
      </p:sp>
      <p:sp>
        <p:nvSpPr>
          <p:cNvPr id="14" name="result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5" name="result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6" name="result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7" name="result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keaway-label"/>
          <p:cNvSpPr/>
          <p:nvPr/>
        </p:nvSpPr>
        <p:spPr>
          <a:xfrm>
            <a:off x="2032000" y="2159000"/>
            <a:ext cx="1219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— FARM SECURITY ZONING</a:t>
            </a:r>
            <a:endParaRPr lang="en-US" sz="1400" dirty="0"/>
          </a:p>
        </p:txBody>
      </p:sp>
      <p:sp>
        <p:nvSpPr>
          <p:cNvPr id="3" name="takeaway-card"/>
          <p:cNvSpPr/>
          <p:nvPr/>
        </p:nvSpPr>
        <p:spPr>
          <a:xfrm>
            <a:off x="1524000" y="3111500"/>
            <a:ext cx="13208000" cy="2286000"/>
          </a:xfrm>
          <a:prstGeom prst="roundRect">
            <a:avLst>
              <a:gd name="adj" fmla="val 777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akeaway-statement"/>
          <p:cNvSpPr/>
          <p:nvPr/>
        </p:nvSpPr>
        <p:spPr>
          <a:xfrm>
            <a:off x="2095500" y="3581400"/>
            <a:ext cx="1206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farm should not be treated as one uniform security area.</a:t>
            </a:r>
            <a:endParaRPr lang="en-US" sz="3600" dirty="0"/>
          </a:p>
        </p:txBody>
      </p:sp>
      <p:sp>
        <p:nvSpPr>
          <p:cNvPr id="5" name="takeaway-support"/>
          <p:cNvSpPr/>
          <p:nvPr/>
        </p:nvSpPr>
        <p:spPr>
          <a:xfrm>
            <a:off x="2413000" y="4635500"/>
            <a:ext cx="1143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EAF1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 activities, assets and risks require different levels of protection and controlled movement.</a:t>
            </a:r>
            <a:endParaRPr lang="en-US" sz="2100" dirty="0"/>
          </a:p>
        </p:txBody>
      </p:sp>
      <p:sp>
        <p:nvSpPr>
          <p:cNvPr id="6" name="takeaway-output"/>
          <p:cNvSpPr/>
          <p:nvPr/>
        </p:nvSpPr>
        <p:spPr>
          <a:xfrm>
            <a:off x="2286000" y="6223000"/>
            <a:ext cx="1168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result: a clear preliminary zoning model for review and refinement.</a:t>
            </a:r>
            <a:endParaRPr lang="en-US" sz="2000" dirty="0"/>
          </a:p>
        </p:txBody>
      </p:sp>
      <p:sp>
        <p:nvSpPr>
          <p:cNvPr id="7" name="takeaway-date"/>
          <p:cNvSpPr/>
          <p:nvPr/>
        </p:nvSpPr>
        <p:spPr>
          <a:xfrm>
            <a:off x="2286000" y="6794500"/>
            <a:ext cx="1168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Generated: 12 August 2026  ·  Prepared by Tania</a:t>
            </a:r>
            <a:endParaRPr lang="en-US" sz="1400" dirty="0"/>
          </a:p>
        </p:txBody>
      </p:sp>
      <p:sp>
        <p:nvSpPr>
          <p:cNvPr id="8" name="takeaway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1400" dirty="0"/>
          </a:p>
        </p:txBody>
      </p:sp>
      <p:sp>
        <p:nvSpPr>
          <p:cNvPr id="9" name="takeaway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0" name="takeaway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1" name="takeaway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2" name="takeaway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s-title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refs-subtitle"/>
          <p:cNvSpPr/>
          <p:nvPr/>
        </p:nvSpPr>
        <p:spPr>
          <a:xfrm>
            <a:off x="762000" y="1270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sources support the general planning principles used in this Week 4 model. They do not establish the real farm layout, costs or final technical specifications.</a:t>
            </a:r>
            <a:endParaRPr lang="en-US" sz="1400" dirty="0"/>
          </a:p>
        </p:txBody>
      </p:sp>
      <p:sp>
        <p:nvSpPr>
          <p:cNvPr id="4" name="refs-card"/>
          <p:cNvSpPr/>
          <p:nvPr/>
        </p:nvSpPr>
        <p:spPr>
          <a:xfrm>
            <a:off x="762000" y="2095500"/>
            <a:ext cx="14732000" cy="546100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refs-1"/>
          <p:cNvSpPr/>
          <p:nvPr/>
        </p:nvSpPr>
        <p:spPr>
          <a:xfrm>
            <a:off x="1117600" y="2413000"/>
            <a:ext cx="1397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CISA / Interagency Security Committee — ISC Best Practices for Facility Access Control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guidance supporting systematic access-control planning and ongoing refinement. </a:t>
            </a:r>
            <a:r>
              <a:rPr lang="en-US" altLang="en-US" sz="1600" u="sng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official source</a:t>
            </a:r>
            <a:endParaRPr lang="en-US" sz="1600" dirty="0"/>
          </a:p>
        </p:txBody>
      </p:sp>
      <p:sp>
        <p:nvSpPr>
          <p:cNvPr id="6" name="refs-line-1"/>
          <p:cNvSpPr/>
          <p:nvPr/>
        </p:nvSpPr>
        <p:spPr>
          <a:xfrm>
            <a:off x="1117600" y="3302000"/>
            <a:ext cx="140208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refs-2"/>
          <p:cNvSpPr/>
          <p:nvPr/>
        </p:nvSpPr>
        <p:spPr>
          <a:xfrm>
            <a:off x="1117600" y="3556000"/>
            <a:ext cx="1397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IDManagement.gov — Physical Access Control Systems 101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guidance supporting asset inventory, security-area categorization and differentiated access needs. </a:t>
            </a:r>
            <a:r>
              <a:rPr lang="en-US" altLang="en-US" sz="1600" u="sng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official source</a:t>
            </a:r>
            <a:endParaRPr lang="en-US" sz="1600" dirty="0"/>
          </a:p>
        </p:txBody>
      </p:sp>
      <p:sp>
        <p:nvSpPr>
          <p:cNvPr id="8" name="refs-line-2"/>
          <p:cNvSpPr/>
          <p:nvPr/>
        </p:nvSpPr>
        <p:spPr>
          <a:xfrm>
            <a:off x="1117600" y="4445000"/>
            <a:ext cx="140208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9" name="refs-3"/>
          <p:cNvSpPr/>
          <p:nvPr/>
        </p:nvSpPr>
        <p:spPr>
          <a:xfrm>
            <a:off x="1117600" y="4699000"/>
            <a:ext cx="1397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Purdue Extension / EDEN — Farm Security: Where to Begin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Agricultural guidance supporting check-in points, delivery management and designated vehicle access areas. </a:t>
            </a:r>
            <a:r>
              <a:rPr lang="en-US" altLang="en-US" sz="1600" u="sng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homepage</a:t>
            </a:r>
            <a:endParaRPr lang="en-US" sz="1600" dirty="0"/>
          </a:p>
        </p:txBody>
      </p:sp>
      <p:sp>
        <p:nvSpPr>
          <p:cNvPr id="10" name="refs-line-3"/>
          <p:cNvSpPr/>
          <p:nvPr/>
        </p:nvSpPr>
        <p:spPr>
          <a:xfrm>
            <a:off x="1117600" y="5588000"/>
            <a:ext cx="140208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1" name="refs-4"/>
          <p:cNvSpPr/>
          <p:nvPr/>
        </p:nvSpPr>
        <p:spPr>
          <a:xfrm>
            <a:off x="1117600" y="5842000"/>
            <a:ext cx="1397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Colorado Division of Criminal Justice — CPTED Research Brief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state research brief supporting visible boundaries, natural access control and territorial definition. </a:t>
            </a:r>
            <a:r>
              <a:rPr lang="en-US" altLang="en-US" sz="1600" u="sng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official brief</a:t>
            </a:r>
            <a:endParaRPr lang="en-US" sz="1600" dirty="0"/>
          </a:p>
        </p:txBody>
      </p:sp>
      <p:sp>
        <p:nvSpPr>
          <p:cNvPr id="12" name="refs-slide-number"/>
          <p:cNvSpPr/>
          <p:nvPr/>
        </p:nvSpPr>
        <p:spPr>
          <a:xfrm>
            <a:off x="14097000" y="8255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400" dirty="0"/>
          </a:p>
        </p:txBody>
      </p:sp>
      <p:sp>
        <p:nvSpPr>
          <p:cNvPr id="13" name="refs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4" name="refs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5" name="refs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6" name="refs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— FARM SECURITY ZONING</dc:title>
  <dc:subject>WEEK 4 — FARM SECURITY ZONING</dc:subject>
  <dc:creator>Manus</dc:creator>
  <cp:lastModifiedBy>Manus</cp:lastModifiedBy>
  <cp:revision>1</cp:revision>
  <dcterms:created xsi:type="dcterms:W3CDTF">2026-08-18T09:43:21Z</dcterms:created>
  <dcterms:modified xsi:type="dcterms:W3CDTF">2026-08-18T09:43:21Z</dcterms:modified>
</cp:coreProperties>
</file>