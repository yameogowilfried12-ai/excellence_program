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6256000" cy="9144000"/>
  <p:notesSz cx="9144000" cy="16256000"/>
  <p:embeddedFontLst>
    <p:embeddedFont>
      <p:font typeface="IBM Plex Mono" charset="-122" pitchFamily="34"/>
      <p:regular r:id="rId18"/>
    </p:embeddedFont>
    <p:embeddedFont>
      <p:font typeface="Inter" charset="-122" pitchFamily="34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rule"/>
          <p:cNvSpPr/>
          <p:nvPr/>
        </p:nvSpPr>
        <p:spPr>
          <a:xfrm>
            <a:off x="1524000" y="4572000"/>
            <a:ext cx="2413000" cy="9144"/>
          </a:xfrm>
          <a:prstGeom prst="line">
            <a:avLst/>
          </a:prstGeom>
          <a:ln w="38100">
            <a:solidFill>
              <a:srgbClr val="D946EF"/>
            </a:solidFill>
            <a:prstDash val="solid"/>
          </a:ln>
        </p:spPr>
      </p:sp>
      <p:sp>
        <p:nvSpPr>
          <p:cNvPr id="3" name="title-kicker"/>
          <p:cNvSpPr/>
          <p:nvPr/>
        </p:nvSpPr>
        <p:spPr>
          <a:xfrm>
            <a:off x="1524000" y="2413000"/>
            <a:ext cx="1320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D946E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BIT × INFINEON EXCELLENCE PROGRAM</a:t>
            </a:r>
            <a:endParaRPr lang="en-US" sz="1400" dirty="0"/>
          </a:p>
        </p:txBody>
      </p:sp>
      <p:sp>
        <p:nvSpPr>
          <p:cNvPr id="4" name="title-main"/>
          <p:cNvSpPr/>
          <p:nvPr/>
        </p:nvSpPr>
        <p:spPr>
          <a:xfrm>
            <a:off x="1524000" y="2921000"/>
            <a:ext cx="13208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4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2.2 — Perimeter &amp; Access Control Design</a:t>
            </a:r>
            <a:endParaRPr lang="en-US" sz="4400" dirty="0"/>
          </a:p>
        </p:txBody>
      </p:sp>
      <p:sp>
        <p:nvSpPr>
          <p:cNvPr id="5" name="title-subtitle"/>
          <p:cNvSpPr/>
          <p:nvPr/>
        </p:nvSpPr>
        <p:spPr>
          <a:xfrm>
            <a:off x="1524000" y="3911600"/>
            <a:ext cx="1320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4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Fencing &amp; Security App</a:t>
            </a:r>
            <a:endParaRPr lang="en-US" sz="2400" dirty="0"/>
          </a:p>
        </p:txBody>
      </p:sp>
      <p:sp>
        <p:nvSpPr>
          <p:cNvPr id="6" name="title-meta"/>
          <p:cNvSpPr/>
          <p:nvPr/>
        </p:nvSpPr>
        <p:spPr>
          <a:xfrm>
            <a:off x="1524000" y="5207000"/>
            <a:ext cx="13208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Tania ZABRE  ·  Generated 20 August 2026</a:t>
            </a:r>
            <a:endParaRPr lang="en-US" sz="2000" dirty="0"/>
          </a:p>
        </p:txBody>
      </p:sp>
      <p:sp>
        <p:nvSpPr>
          <p:cNvPr id="7" name="title-status"/>
          <p:cNvSpPr/>
          <p:nvPr/>
        </p:nvSpPr>
        <p:spPr>
          <a:xfrm>
            <a:off x="1524000" y="5994400"/>
            <a:ext cx="889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37415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PRELIMINARY ENGINEERING CONCEPT  ·  TO BE VALIDATED ON SITE</a:t>
            </a:r>
            <a:endParaRPr lang="en-US" sz="1400" dirty="0"/>
          </a:p>
        </p:txBody>
      </p:sp>
      <p:sp>
        <p:nvSpPr>
          <p:cNvPr id="8" name="motif-outer"/>
          <p:cNvSpPr/>
          <p:nvPr/>
        </p:nvSpPr>
        <p:spPr>
          <a:xfrm>
            <a:off x="12192000" y="6413500"/>
            <a:ext cx="2603500" cy="1524000"/>
          </a:xfrm>
          <a:prstGeom prst="roundRect">
            <a:avLst>
              <a:gd name="adj" fmla="val 11667"/>
            </a:avLst>
          </a:prstGeom>
          <a:ln w="25400">
            <a:solidFill>
              <a:srgbClr val="E5E7EB"/>
            </a:solidFill>
            <a:prstDash val="solid"/>
          </a:ln>
        </p:spPr>
      </p:sp>
      <p:sp>
        <p:nvSpPr>
          <p:cNvPr id="9" name="motif-inner"/>
          <p:cNvSpPr/>
          <p:nvPr/>
        </p:nvSpPr>
        <p:spPr>
          <a:xfrm>
            <a:off x="12471400" y="6692900"/>
            <a:ext cx="2032000" cy="965200"/>
          </a:xfrm>
          <a:prstGeom prst="roundRect">
            <a:avLst>
              <a:gd name="adj" fmla="val 13158"/>
            </a:avLst>
          </a:prstGeom>
          <a:ln w="25400">
            <a:solidFill>
              <a:srgbClr val="D946EF"/>
            </a:solidFill>
            <a:prstDash val="solid"/>
          </a:ln>
        </p:spPr>
      </p:sp>
      <p:sp>
        <p:nvSpPr>
          <p:cNvPr id="10" name="motif-point"/>
          <p:cNvSpPr/>
          <p:nvPr/>
        </p:nvSpPr>
        <p:spPr>
          <a:xfrm>
            <a:off x="13335000" y="7112000"/>
            <a:ext cx="254000" cy="254000"/>
          </a:xfrm>
          <a:prstGeom prst="ellipse">
            <a:avLst/>
          </a:prstGeom>
          <a:solidFill>
            <a:srgbClr val="D946EF"/>
          </a:solidFill>
          <a:ln/>
        </p:spPr>
      </p:sp>
      <p:sp>
        <p:nvSpPr>
          <p:cNvPr id="11" name="motif-route"/>
          <p:cNvSpPr/>
          <p:nvPr/>
        </p:nvSpPr>
        <p:spPr>
          <a:xfrm>
            <a:off x="13589000" y="7239000"/>
            <a:ext cx="1041400" cy="9144"/>
          </a:xfrm>
          <a:prstGeom prst="line">
            <a:avLst/>
          </a:prstGeom>
          <a:ln w="25400">
            <a:solidFill>
              <a:srgbClr val="0F172A"/>
            </a:solidFill>
            <a:prstDash val="solid"/>
          </a:ln>
        </p:spPr>
      </p:sp>
      <p:sp>
        <p:nvSpPr>
          <p:cNvPr id="12" name="footer-page"/>
          <p:cNvSpPr/>
          <p:nvPr/>
        </p:nvSpPr>
        <p:spPr>
          <a:xfrm>
            <a:off x="508000" y="86868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E5E7E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footer-meta"/>
          <p:cNvSpPr/>
          <p:nvPr/>
        </p:nvSpPr>
        <p:spPr>
          <a:xfrm>
            <a:off x="9779000" y="8686800"/>
            <a:ext cx="5969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E5E7E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Fencing &amp; Security App  ·  20 Aug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t-kicker"/>
          <p:cNvSpPr/>
          <p:nvPr/>
        </p:nvSpPr>
        <p:spPr>
          <a:xfrm>
            <a:off x="508000" y="4826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D946E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 /  PROJECT CONTINUITY</a:t>
            </a:r>
            <a:endParaRPr lang="en-US" sz="1400" dirty="0"/>
          </a:p>
        </p:txBody>
      </p:sp>
      <p:sp>
        <p:nvSpPr>
          <p:cNvPr id="3" name="fit-title"/>
          <p:cNvSpPr/>
          <p:nvPr/>
        </p:nvSpPr>
        <p:spPr>
          <a:xfrm>
            <a:off x="508000" y="889000"/>
            <a:ext cx="14224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Task 2.2 fits in the project</a:t>
            </a:r>
            <a:endParaRPr lang="en-US" sz="3400" dirty="0"/>
          </a:p>
        </p:txBody>
      </p:sp>
      <p:sp>
        <p:nvSpPr>
          <p:cNvPr id="4" name="fit-subtitle"/>
          <p:cNvSpPr/>
          <p:nvPr/>
        </p:nvSpPr>
        <p:spPr>
          <a:xfrm>
            <a:off x="508000" y="1676400"/>
            <a:ext cx="1422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week's work turns prior zoning and risk/asset analysis into observable access-control logic.</a:t>
            </a:r>
            <a:endParaRPr lang="en-US" sz="1800" dirty="0"/>
          </a:p>
        </p:txBody>
      </p:sp>
      <p:sp>
        <p:nvSpPr>
          <p:cNvPr id="5" name="fit-line-1"/>
          <p:cNvSpPr/>
          <p:nvPr/>
        </p:nvSpPr>
        <p:spPr>
          <a:xfrm>
            <a:off x="3492500" y="3937000"/>
            <a:ext cx="406400" cy="9144"/>
          </a:xfrm>
          <a:prstGeom prst="line">
            <a:avLst/>
          </a:prstGeom>
          <a:ln w="25400">
            <a:solidFill>
              <a:srgbClr val="E5E7EB"/>
            </a:solidFill>
            <a:prstDash val="solid"/>
            <a:tailEnd type="triangle"/>
          </a:ln>
        </p:spPr>
      </p:sp>
      <p:sp>
        <p:nvSpPr>
          <p:cNvPr id="6" name="fit-line-2"/>
          <p:cNvSpPr/>
          <p:nvPr/>
        </p:nvSpPr>
        <p:spPr>
          <a:xfrm>
            <a:off x="7175500" y="3937000"/>
            <a:ext cx="406400" cy="9144"/>
          </a:xfrm>
          <a:prstGeom prst="line">
            <a:avLst/>
          </a:prstGeom>
          <a:ln w="25400">
            <a:solidFill>
              <a:srgbClr val="E5E7EB"/>
            </a:solidFill>
            <a:prstDash val="solid"/>
            <a:tailEnd type="triangle"/>
          </a:ln>
        </p:spPr>
      </p:sp>
      <p:sp>
        <p:nvSpPr>
          <p:cNvPr id="7" name="fit-line-3"/>
          <p:cNvSpPr/>
          <p:nvPr/>
        </p:nvSpPr>
        <p:spPr>
          <a:xfrm>
            <a:off x="10858500" y="3937000"/>
            <a:ext cx="406400" cy="9144"/>
          </a:xfrm>
          <a:prstGeom prst="line">
            <a:avLst/>
          </a:prstGeom>
          <a:ln w="38100">
            <a:solidFill>
              <a:srgbClr val="D946EF"/>
            </a:solidFill>
            <a:prstDash val="solid"/>
            <a:tailEnd type="triangle"/>
          </a:ln>
        </p:spPr>
      </p:sp>
      <p:sp>
        <p:nvSpPr>
          <p:cNvPr id="8" name="fit-card-1"/>
          <p:cNvSpPr/>
          <p:nvPr/>
        </p:nvSpPr>
        <p:spPr>
          <a:xfrm>
            <a:off x="762000" y="3111500"/>
            <a:ext cx="2730500" cy="1651000"/>
          </a:xfrm>
          <a:prstGeom prst="roundRect">
            <a:avLst>
              <a:gd name="adj" fmla="val 769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fit-card-2"/>
          <p:cNvSpPr/>
          <p:nvPr/>
        </p:nvSpPr>
        <p:spPr>
          <a:xfrm>
            <a:off x="3898900" y="3111500"/>
            <a:ext cx="3276600" cy="1651000"/>
          </a:xfrm>
          <a:prstGeom prst="roundRect">
            <a:avLst>
              <a:gd name="adj" fmla="val 769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fit-card-3"/>
          <p:cNvSpPr/>
          <p:nvPr/>
        </p:nvSpPr>
        <p:spPr>
          <a:xfrm>
            <a:off x="7581900" y="3111500"/>
            <a:ext cx="3276600" cy="1651000"/>
          </a:xfrm>
          <a:prstGeom prst="roundRect">
            <a:avLst>
              <a:gd name="adj" fmla="val 769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fit-card-4"/>
          <p:cNvSpPr/>
          <p:nvPr/>
        </p:nvSpPr>
        <p:spPr>
          <a:xfrm>
            <a:off x="11264900" y="3111500"/>
            <a:ext cx="4064000" cy="1651000"/>
          </a:xfrm>
          <a:prstGeom prst="roundRect">
            <a:avLst>
              <a:gd name="adj" fmla="val 7692"/>
            </a:avLst>
          </a:prstGeom>
          <a:solidFill>
            <a:srgbClr val="FCE7F3"/>
          </a:solidFill>
          <a:ln w="25400">
            <a:solidFill>
              <a:srgbClr val="D946EF"/>
            </a:solidFill>
            <a:prstDash val="solid"/>
          </a:ln>
        </p:spPr>
      </p:sp>
      <p:sp>
        <p:nvSpPr>
          <p:cNvPr id="12" name="fit-node-1"/>
          <p:cNvSpPr/>
          <p:nvPr/>
        </p:nvSpPr>
        <p:spPr>
          <a:xfrm>
            <a:off x="990600" y="3403600"/>
            <a:ext cx="22733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1 Requirements &amp; Planning</a:t>
            </a:r>
            <a:endParaRPr lang="en-US" sz="2000" dirty="0"/>
          </a:p>
        </p:txBody>
      </p:sp>
      <p:sp>
        <p:nvSpPr>
          <p:cNvPr id="13" name="fit-node-2"/>
          <p:cNvSpPr/>
          <p:nvPr/>
        </p:nvSpPr>
        <p:spPr>
          <a:xfrm>
            <a:off x="4127500" y="3403600"/>
            <a:ext cx="28194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1.3 Risk &amp; Asset Analysis</a:t>
            </a:r>
            <a:endParaRPr lang="en-US" sz="2000" dirty="0"/>
          </a:p>
        </p:txBody>
      </p:sp>
      <p:sp>
        <p:nvSpPr>
          <p:cNvPr id="14" name="fit-node-3"/>
          <p:cNvSpPr/>
          <p:nvPr/>
        </p:nvSpPr>
        <p:spPr>
          <a:xfrm>
            <a:off x="7810500" y="3403600"/>
            <a:ext cx="28194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2 Security System Design</a:t>
            </a:r>
            <a:endParaRPr lang="en-US" sz="2000" dirty="0"/>
          </a:p>
        </p:txBody>
      </p:sp>
      <p:sp>
        <p:nvSpPr>
          <p:cNvPr id="15" name="fit-node-4"/>
          <p:cNvSpPr/>
          <p:nvPr/>
        </p:nvSpPr>
        <p:spPr>
          <a:xfrm>
            <a:off x="11493500" y="3403600"/>
            <a:ext cx="36068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2.2 Perimeter &amp; Access Control Design</a:t>
            </a:r>
            <a:endParaRPr lang="en-US" sz="2000" dirty="0"/>
          </a:p>
        </p:txBody>
      </p:sp>
      <p:sp>
        <p:nvSpPr>
          <p:cNvPr id="16" name="fit-callout"/>
          <p:cNvSpPr/>
          <p:nvPr/>
        </p:nvSpPr>
        <p:spPr>
          <a:xfrm>
            <a:off x="1524000" y="5994400"/>
            <a:ext cx="1320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3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week: </a:t>
            </a:r>
            <a:r>
              <a:rPr lang="en-US" altLang="en-US" sz="2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the edge</a:t>
            </a:r>
            <a:r>
              <a:rPr lang="en-US" altLang="en-US" sz="23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organize movement, match restriction to sensitivity, and make the logic visible.</a:t>
            </a:r>
            <a:endParaRPr lang="en-US" sz="2300" dirty="0"/>
          </a:p>
        </p:txBody>
      </p:sp>
      <p:sp>
        <p:nvSpPr>
          <p:cNvPr id="17" name="fit-callout-rule"/>
          <p:cNvSpPr/>
          <p:nvPr/>
        </p:nvSpPr>
        <p:spPr>
          <a:xfrm>
            <a:off x="6604000" y="7302500"/>
            <a:ext cx="3048000" cy="9144"/>
          </a:xfrm>
          <a:prstGeom prst="line">
            <a:avLst/>
          </a:prstGeom>
          <a:ln w="38100">
            <a:solidFill>
              <a:srgbClr val="D946EF"/>
            </a:solidFill>
            <a:prstDash val="solid"/>
          </a:ln>
        </p:spPr>
      </p:sp>
      <p:sp>
        <p:nvSpPr>
          <p:cNvPr id="18" name="footer-page"/>
          <p:cNvSpPr/>
          <p:nvPr/>
        </p:nvSpPr>
        <p:spPr>
          <a:xfrm>
            <a:off x="508000" y="86868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E5E7E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400" dirty="0"/>
          </a:p>
        </p:txBody>
      </p:sp>
      <p:sp>
        <p:nvSpPr>
          <p:cNvPr id="19" name="footer-meta"/>
          <p:cNvSpPr/>
          <p:nvPr/>
        </p:nvSpPr>
        <p:spPr>
          <a:xfrm>
            <a:off x="9779000" y="8686800"/>
            <a:ext cx="5969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E5E7E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Task 2.2 continuation  ·  20 Aug 2026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ic-kicker"/>
          <p:cNvSpPr/>
          <p:nvPr/>
        </p:nvSpPr>
        <p:spPr>
          <a:xfrm>
            <a:off x="508000" y="4826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D946E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 /  DESIGN LOGIC</a:t>
            </a:r>
            <a:endParaRPr lang="en-US" sz="1400" dirty="0"/>
          </a:p>
        </p:txBody>
      </p:sp>
      <p:sp>
        <p:nvSpPr>
          <p:cNvPr id="3" name="logic-title"/>
          <p:cNvSpPr/>
          <p:nvPr/>
        </p:nvSpPr>
        <p:spPr>
          <a:xfrm>
            <a:off x="508000" y="889000"/>
            <a:ext cx="14224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connected design logic</a:t>
            </a:r>
            <a:endParaRPr lang="en-US" sz="3400" dirty="0"/>
          </a:p>
        </p:txBody>
      </p:sp>
      <p:sp>
        <p:nvSpPr>
          <p:cNvPr id="4" name="logic-subtitle"/>
          <p:cNvSpPr/>
          <p:nvPr/>
        </p:nvSpPr>
        <p:spPr>
          <a:xfrm>
            <a:off x="508000" y="1676400"/>
            <a:ext cx="1422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2.2 is a progressive chain — not a set of disconnected boxes.</a:t>
            </a:r>
            <a:endParaRPr lang="en-US" sz="1800" dirty="0"/>
          </a:p>
        </p:txBody>
      </p:sp>
      <p:sp>
        <p:nvSpPr>
          <p:cNvPr id="5" name="logic-a"/>
          <p:cNvSpPr/>
          <p:nvPr/>
        </p:nvSpPr>
        <p:spPr>
          <a:xfrm>
            <a:off x="3276600" y="4292600"/>
            <a:ext cx="228600" cy="9144"/>
          </a:xfrm>
          <a:prstGeom prst="line">
            <a:avLst/>
          </a:prstGeom>
          <a:ln w="25400">
            <a:solidFill>
              <a:srgbClr val="D946EF"/>
            </a:solidFill>
            <a:prstDash val="solid"/>
            <a:tailEnd type="triangle"/>
          </a:ln>
        </p:spPr>
      </p:sp>
      <p:sp>
        <p:nvSpPr>
          <p:cNvPr id="6" name="logic-b"/>
          <p:cNvSpPr/>
          <p:nvPr/>
        </p:nvSpPr>
        <p:spPr>
          <a:xfrm>
            <a:off x="6388100" y="4292600"/>
            <a:ext cx="228600" cy="9144"/>
          </a:xfrm>
          <a:prstGeom prst="line">
            <a:avLst/>
          </a:prstGeom>
          <a:ln w="25400">
            <a:solidFill>
              <a:srgbClr val="D946EF"/>
            </a:solidFill>
            <a:prstDash val="solid"/>
            <a:tailEnd type="triangle"/>
          </a:ln>
        </p:spPr>
      </p:sp>
      <p:sp>
        <p:nvSpPr>
          <p:cNvPr id="7" name="logic-c"/>
          <p:cNvSpPr/>
          <p:nvPr/>
        </p:nvSpPr>
        <p:spPr>
          <a:xfrm>
            <a:off x="9499600" y="4292600"/>
            <a:ext cx="228600" cy="9144"/>
          </a:xfrm>
          <a:prstGeom prst="line">
            <a:avLst/>
          </a:prstGeom>
          <a:ln w="25400">
            <a:solidFill>
              <a:srgbClr val="D946EF"/>
            </a:solidFill>
            <a:prstDash val="solid"/>
            <a:tailEnd type="triangle"/>
          </a:ln>
        </p:spPr>
      </p:sp>
      <p:sp>
        <p:nvSpPr>
          <p:cNvPr id="8" name="logic-d"/>
          <p:cNvSpPr/>
          <p:nvPr/>
        </p:nvSpPr>
        <p:spPr>
          <a:xfrm>
            <a:off x="12611100" y="4292600"/>
            <a:ext cx="228600" cy="9144"/>
          </a:xfrm>
          <a:prstGeom prst="line">
            <a:avLst/>
          </a:prstGeom>
          <a:ln w="25400">
            <a:solidFill>
              <a:srgbClr val="D946EF"/>
            </a:solidFill>
            <a:prstDash val="solid"/>
            <a:tailEnd type="triangle"/>
          </a:ln>
        </p:spPr>
      </p:sp>
      <p:sp>
        <p:nvSpPr>
          <p:cNvPr id="9" name="logic-card-1"/>
          <p:cNvSpPr/>
          <p:nvPr/>
        </p:nvSpPr>
        <p:spPr>
          <a:xfrm>
            <a:off x="508000" y="3111500"/>
            <a:ext cx="2768600" cy="2349500"/>
          </a:xfrm>
          <a:prstGeom prst="roundRect">
            <a:avLst>
              <a:gd name="adj" fmla="val 5405"/>
            </a:avLst>
          </a:prstGeom>
          <a:solidFill>
            <a:srgbClr val="FCE7F3"/>
          </a:solidFill>
          <a:ln w="25400">
            <a:solidFill>
              <a:srgbClr val="D946EF"/>
            </a:solidFill>
            <a:prstDash val="solid"/>
          </a:ln>
        </p:spPr>
      </p:sp>
      <p:sp>
        <p:nvSpPr>
          <p:cNvPr id="10" name="logic-card-2"/>
          <p:cNvSpPr/>
          <p:nvPr/>
        </p:nvSpPr>
        <p:spPr>
          <a:xfrm>
            <a:off x="3619500" y="3111500"/>
            <a:ext cx="2768600" cy="2349500"/>
          </a:xfrm>
          <a:prstGeom prst="roundRect">
            <a:avLst>
              <a:gd name="adj" fmla="val 5405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logic-card-3"/>
          <p:cNvSpPr/>
          <p:nvPr/>
        </p:nvSpPr>
        <p:spPr>
          <a:xfrm>
            <a:off x="6731000" y="3111500"/>
            <a:ext cx="2768600" cy="2349500"/>
          </a:xfrm>
          <a:prstGeom prst="roundRect">
            <a:avLst>
              <a:gd name="adj" fmla="val 5405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logic-card-4"/>
          <p:cNvSpPr/>
          <p:nvPr/>
        </p:nvSpPr>
        <p:spPr>
          <a:xfrm>
            <a:off x="9842500" y="3111500"/>
            <a:ext cx="2768600" cy="2349500"/>
          </a:xfrm>
          <a:prstGeom prst="roundRect">
            <a:avLst>
              <a:gd name="adj" fmla="val 5405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logic-card-5"/>
          <p:cNvSpPr/>
          <p:nvPr/>
        </p:nvSpPr>
        <p:spPr>
          <a:xfrm>
            <a:off x="12954000" y="3111500"/>
            <a:ext cx="2768600" cy="2349500"/>
          </a:xfrm>
          <a:prstGeom prst="roundRect">
            <a:avLst>
              <a:gd name="adj" fmla="val 5405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logic-code-1"/>
          <p:cNvSpPr/>
          <p:nvPr/>
        </p:nvSpPr>
        <p:spPr>
          <a:xfrm>
            <a:off x="736600" y="3403600"/>
            <a:ext cx="228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D946E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2.2.1</a:t>
            </a:r>
            <a:endParaRPr lang="en-US" sz="1400" dirty="0"/>
          </a:p>
        </p:txBody>
      </p:sp>
      <p:sp>
        <p:nvSpPr>
          <p:cNvPr id="15" name="logic-code-2"/>
          <p:cNvSpPr/>
          <p:nvPr/>
        </p:nvSpPr>
        <p:spPr>
          <a:xfrm>
            <a:off x="3848100" y="3403600"/>
            <a:ext cx="228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37415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2.2.2</a:t>
            </a:r>
            <a:endParaRPr lang="en-US" sz="1400" dirty="0"/>
          </a:p>
        </p:txBody>
      </p:sp>
      <p:sp>
        <p:nvSpPr>
          <p:cNvPr id="16" name="logic-code-3"/>
          <p:cNvSpPr/>
          <p:nvPr/>
        </p:nvSpPr>
        <p:spPr>
          <a:xfrm>
            <a:off x="6959600" y="3403600"/>
            <a:ext cx="228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37415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2.2.3</a:t>
            </a:r>
            <a:endParaRPr lang="en-US" sz="1400" dirty="0"/>
          </a:p>
        </p:txBody>
      </p:sp>
      <p:sp>
        <p:nvSpPr>
          <p:cNvPr id="17" name="logic-code-4"/>
          <p:cNvSpPr/>
          <p:nvPr/>
        </p:nvSpPr>
        <p:spPr>
          <a:xfrm>
            <a:off x="10071100" y="3403600"/>
            <a:ext cx="228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37415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2.2.4</a:t>
            </a:r>
            <a:endParaRPr lang="en-US" sz="1400" dirty="0"/>
          </a:p>
        </p:txBody>
      </p:sp>
      <p:sp>
        <p:nvSpPr>
          <p:cNvPr id="18" name="logic-code-5"/>
          <p:cNvSpPr/>
          <p:nvPr/>
        </p:nvSpPr>
        <p:spPr>
          <a:xfrm>
            <a:off x="13182600" y="3403600"/>
            <a:ext cx="228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37415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2.2.5</a:t>
            </a:r>
            <a:endParaRPr lang="en-US" sz="1400" dirty="0"/>
          </a:p>
        </p:txBody>
      </p:sp>
      <p:sp>
        <p:nvSpPr>
          <p:cNvPr id="19" name="logic-title-1"/>
          <p:cNvSpPr/>
          <p:nvPr/>
        </p:nvSpPr>
        <p:spPr>
          <a:xfrm>
            <a:off x="736600" y="3835400"/>
            <a:ext cx="228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Perimeter &amp; Boundary</a:t>
            </a:r>
            <a:endParaRPr lang="en-US" sz="2200" dirty="0"/>
          </a:p>
        </p:txBody>
      </p:sp>
      <p:sp>
        <p:nvSpPr>
          <p:cNvPr id="20" name="logic-title-2"/>
          <p:cNvSpPr/>
          <p:nvPr/>
        </p:nvSpPr>
        <p:spPr>
          <a:xfrm>
            <a:off x="3848100" y="3835400"/>
            <a:ext cx="228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Entry &amp; Exit</a:t>
            </a:r>
            <a:endParaRPr lang="en-US" sz="2200" dirty="0"/>
          </a:p>
        </p:txBody>
      </p:sp>
      <p:sp>
        <p:nvSpPr>
          <p:cNvPr id="21" name="logic-title-3"/>
          <p:cNvSpPr/>
          <p:nvPr/>
        </p:nvSpPr>
        <p:spPr>
          <a:xfrm>
            <a:off x="6959600" y="3835400"/>
            <a:ext cx="228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Levels</a:t>
            </a:r>
            <a:endParaRPr lang="en-US" sz="2200" dirty="0"/>
          </a:p>
        </p:txBody>
      </p:sp>
      <p:sp>
        <p:nvSpPr>
          <p:cNvPr id="22" name="logic-title-4"/>
          <p:cNvSpPr/>
          <p:nvPr/>
        </p:nvSpPr>
        <p:spPr>
          <a:xfrm>
            <a:off x="10071100" y="3835400"/>
            <a:ext cx="228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Physical Protection</a:t>
            </a:r>
            <a:endParaRPr lang="en-US" sz="2200" dirty="0"/>
          </a:p>
        </p:txBody>
      </p:sp>
      <p:sp>
        <p:nvSpPr>
          <p:cNvPr id="23" name="logic-title-5"/>
          <p:cNvSpPr/>
          <p:nvPr/>
        </p:nvSpPr>
        <p:spPr>
          <a:xfrm>
            <a:off x="13182600" y="3835400"/>
            <a:ext cx="228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Flow &amp; Mock-up</a:t>
            </a:r>
            <a:endParaRPr lang="en-US" sz="2200" dirty="0"/>
          </a:p>
        </p:txBody>
      </p:sp>
      <p:sp>
        <p:nvSpPr>
          <p:cNvPr id="24" name="logic-body-1"/>
          <p:cNvSpPr/>
          <p:nvPr/>
        </p:nvSpPr>
        <p:spPr>
          <a:xfrm>
            <a:off x="736600" y="4762500"/>
            <a:ext cx="228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the security edge.</a:t>
            </a:r>
            <a:endParaRPr lang="en-US" sz="1600" dirty="0"/>
          </a:p>
        </p:txBody>
      </p:sp>
      <p:sp>
        <p:nvSpPr>
          <p:cNvPr id="25" name="logic-body-2"/>
          <p:cNvSpPr/>
          <p:nvPr/>
        </p:nvSpPr>
        <p:spPr>
          <a:xfrm>
            <a:off x="3848100" y="4762500"/>
            <a:ext cx="228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Organize movement types.</a:t>
            </a:r>
            <a:endParaRPr lang="en-US" sz="1600" dirty="0"/>
          </a:p>
        </p:txBody>
      </p:sp>
      <p:sp>
        <p:nvSpPr>
          <p:cNvPr id="26" name="logic-body-3"/>
          <p:cNvSpPr/>
          <p:nvPr/>
        </p:nvSpPr>
        <p:spPr>
          <a:xfrm>
            <a:off x="6959600" y="4762500"/>
            <a:ext cx="228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 restriction to sensitivity.</a:t>
            </a:r>
            <a:endParaRPr lang="en-US" sz="1600" dirty="0"/>
          </a:p>
        </p:txBody>
      </p:sp>
      <p:sp>
        <p:nvSpPr>
          <p:cNvPr id="27" name="logic-body-4"/>
          <p:cNvSpPr/>
          <p:nvPr/>
        </p:nvSpPr>
        <p:spPr>
          <a:xfrm>
            <a:off x="10071100" y="4762500"/>
            <a:ext cx="228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the response physical.</a:t>
            </a:r>
            <a:endParaRPr lang="en-US" sz="1600" dirty="0"/>
          </a:p>
        </p:txBody>
      </p:sp>
      <p:sp>
        <p:nvSpPr>
          <p:cNvPr id="28" name="logic-body-5"/>
          <p:cNvSpPr/>
          <p:nvPr/>
        </p:nvSpPr>
        <p:spPr>
          <a:xfrm>
            <a:off x="13182600" y="4762500"/>
            <a:ext cx="228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the concept observably.</a:t>
            </a:r>
            <a:endParaRPr lang="en-US" sz="1600" dirty="0"/>
          </a:p>
        </p:txBody>
      </p:sp>
      <p:sp>
        <p:nvSpPr>
          <p:cNvPr id="29" name="logic-chain"/>
          <p:cNvSpPr/>
          <p:nvPr/>
        </p:nvSpPr>
        <p:spPr>
          <a:xfrm>
            <a:off x="1270000" y="6350000"/>
            <a:ext cx="1371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the edge  →  organize movement  →  match sensitivity  →  make it physical  →  test the flow</a:t>
            </a:r>
            <a:endParaRPr lang="en-US" sz="2200" dirty="0"/>
          </a:p>
        </p:txBody>
      </p:sp>
      <p:sp>
        <p:nvSpPr>
          <p:cNvPr id="30" name="logic-rule"/>
          <p:cNvSpPr/>
          <p:nvPr/>
        </p:nvSpPr>
        <p:spPr>
          <a:xfrm>
            <a:off x="6604000" y="7302500"/>
            <a:ext cx="3048000" cy="9144"/>
          </a:xfrm>
          <a:prstGeom prst="line">
            <a:avLst/>
          </a:prstGeom>
          <a:ln w="38100">
            <a:solidFill>
              <a:srgbClr val="D946EF"/>
            </a:solidFill>
            <a:prstDash val="solid"/>
          </a:ln>
        </p:spPr>
      </p:sp>
      <p:sp>
        <p:nvSpPr>
          <p:cNvPr id="31" name="footer-page"/>
          <p:cNvSpPr/>
          <p:nvPr/>
        </p:nvSpPr>
        <p:spPr>
          <a:xfrm>
            <a:off x="508000" y="86868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E5E7E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400" dirty="0"/>
          </a:p>
        </p:txBody>
      </p:sp>
      <p:sp>
        <p:nvSpPr>
          <p:cNvPr id="32" name="footer-meta"/>
          <p:cNvSpPr/>
          <p:nvPr/>
        </p:nvSpPr>
        <p:spPr>
          <a:xfrm>
            <a:off x="9779000" y="8686800"/>
            <a:ext cx="5969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E5E7E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Connected hierarchy  ·  20 Aug 2026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undary-kicker"/>
          <p:cNvSpPr/>
          <p:nvPr/>
        </p:nvSpPr>
        <p:spPr>
          <a:xfrm>
            <a:off x="508000" y="482600"/>
            <a:ext cx="660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D946E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 /  2.2.1  PERIMETER &amp; BOUNDARY</a:t>
            </a:r>
            <a:endParaRPr lang="en-US" sz="1400" dirty="0"/>
          </a:p>
        </p:txBody>
      </p:sp>
      <p:sp>
        <p:nvSpPr>
          <p:cNvPr id="3" name="boundary-title"/>
          <p:cNvSpPr/>
          <p:nvPr/>
        </p:nvSpPr>
        <p:spPr>
          <a:xfrm>
            <a:off x="508000" y="889000"/>
            <a:ext cx="14224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Boundary first: make the security edge observable</a:t>
            </a:r>
            <a:endParaRPr lang="en-US" sz="3400" dirty="0"/>
          </a:p>
        </p:txBody>
      </p:sp>
      <p:sp>
        <p:nvSpPr>
          <p:cNvPr id="4" name="boundary-subtitle"/>
          <p:cNvSpPr/>
          <p:nvPr/>
        </p:nvSpPr>
        <p:spPr>
          <a:xfrm>
            <a:off x="508000" y="1676400"/>
            <a:ext cx="1422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farm perimeter connects the outer boundary, sensitive areas, access gaps, and emergency movement.</a:t>
            </a:r>
            <a:endParaRPr lang="en-US" sz="1800" dirty="0"/>
          </a:p>
        </p:txBody>
      </p:sp>
      <p:sp>
        <p:nvSpPr>
          <p:cNvPr id="5" name="site-frame"/>
          <p:cNvSpPr/>
          <p:nvPr/>
        </p:nvSpPr>
        <p:spPr>
          <a:xfrm>
            <a:off x="889000" y="2603500"/>
            <a:ext cx="8890000" cy="4318000"/>
          </a:xfrm>
          <a:prstGeom prst="roundRect">
            <a:avLst>
              <a:gd name="adj" fmla="val 4706"/>
            </a:avLst>
          </a:prstGeom>
          <a:solidFill>
            <a:srgbClr val="F7F8FA"/>
          </a:solidFill>
          <a:ln w="25400">
            <a:solidFill>
              <a:srgbClr val="0F172A"/>
            </a:solidFill>
            <a:prstDash val="solid"/>
          </a:ln>
        </p:spPr>
      </p:sp>
      <p:sp>
        <p:nvSpPr>
          <p:cNvPr id="6" name="site-boundary"/>
          <p:cNvSpPr/>
          <p:nvPr/>
        </p:nvSpPr>
        <p:spPr>
          <a:xfrm>
            <a:off x="1270000" y="2921000"/>
            <a:ext cx="8064500" cy="3619500"/>
          </a:xfrm>
          <a:prstGeom prst="roundRect">
            <a:avLst>
              <a:gd name="adj" fmla="val 4912"/>
            </a:avLst>
          </a:prstGeom>
          <a:ln w="38100">
            <a:solidFill>
              <a:srgbClr val="D946EF"/>
            </a:solidFill>
            <a:prstDash val="solid"/>
          </a:ln>
        </p:spPr>
      </p:sp>
      <p:sp>
        <p:nvSpPr>
          <p:cNvPr id="7" name="sensitive-area"/>
          <p:cNvSpPr/>
          <p:nvPr/>
        </p:nvSpPr>
        <p:spPr>
          <a:xfrm>
            <a:off x="3111500" y="3683000"/>
            <a:ext cx="3111500" cy="1968500"/>
          </a:xfrm>
          <a:prstGeom prst="roundRect">
            <a:avLst>
              <a:gd name="adj" fmla="val 7742"/>
            </a:avLst>
          </a:prstGeom>
          <a:solidFill>
            <a:srgbClr val="ECFDF5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8" name="control-point"/>
          <p:cNvSpPr/>
          <p:nvPr/>
        </p:nvSpPr>
        <p:spPr>
          <a:xfrm>
            <a:off x="8191500" y="4318000"/>
            <a:ext cx="355600" cy="355600"/>
          </a:xfrm>
          <a:prstGeom prst="ellipse">
            <a:avLst/>
          </a:prstGeom>
          <a:solidFill>
            <a:srgbClr val="D946EF"/>
          </a:solidFill>
          <a:ln/>
        </p:spPr>
      </p:sp>
      <p:sp>
        <p:nvSpPr>
          <p:cNvPr id="9" name="gap-mark"/>
          <p:cNvSpPr/>
          <p:nvPr/>
        </p:nvSpPr>
        <p:spPr>
          <a:xfrm>
            <a:off x="5207000" y="2921000"/>
            <a:ext cx="889000" cy="9144"/>
          </a:xfrm>
          <a:prstGeom prst="line">
            <a:avLst/>
          </a:prstGeom>
          <a:ln w="63500">
            <a:solidFill>
              <a:srgbClr val="F59E0B"/>
            </a:solidFill>
            <a:prstDash val="solid"/>
          </a:ln>
        </p:spPr>
      </p:sp>
      <p:sp>
        <p:nvSpPr>
          <p:cNvPr id="10" name="emergency-route"/>
          <p:cNvSpPr/>
          <p:nvPr/>
        </p:nvSpPr>
        <p:spPr>
          <a:xfrm>
            <a:off x="1524000" y="6096000"/>
            <a:ext cx="6731000" cy="9144"/>
          </a:xfrm>
          <a:prstGeom prst="line">
            <a:avLst/>
          </a:prstGeom>
          <a:ln w="38100">
            <a:solidFill>
              <a:srgbClr val="3B82F6"/>
            </a:solidFill>
            <a:prstDash val="solid"/>
          </a:ln>
        </p:spPr>
      </p:sp>
      <p:sp>
        <p:nvSpPr>
          <p:cNvPr id="11" name="boundary-label"/>
          <p:cNvSpPr/>
          <p:nvPr/>
        </p:nvSpPr>
        <p:spPr>
          <a:xfrm>
            <a:off x="3810000" y="3073400"/>
            <a:ext cx="279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D946E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FARM BOUNDARY</a:t>
            </a:r>
            <a:endParaRPr lang="en-US" sz="1400" dirty="0"/>
          </a:p>
        </p:txBody>
      </p:sp>
      <p:sp>
        <p:nvSpPr>
          <p:cNvPr id="12" name="sensitive-label"/>
          <p:cNvSpPr/>
          <p:nvPr/>
        </p:nvSpPr>
        <p:spPr>
          <a:xfrm>
            <a:off x="3429000" y="4470400"/>
            <a:ext cx="2476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SENSITIVE AREA</a:t>
            </a:r>
            <a:endParaRPr lang="en-US" sz="1900" dirty="0"/>
          </a:p>
        </p:txBody>
      </p:sp>
      <p:sp>
        <p:nvSpPr>
          <p:cNvPr id="13" name="gap-label"/>
          <p:cNvSpPr/>
          <p:nvPr/>
        </p:nvSpPr>
        <p:spPr>
          <a:xfrm>
            <a:off x="5270500" y="25908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300" dirty="0">
                <a:solidFill>
                  <a:srgbClr val="F59E0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ACCESS GAP</a:t>
            </a:r>
            <a:endParaRPr lang="en-US" sz="1300" dirty="0"/>
          </a:p>
        </p:txBody>
      </p:sp>
      <p:sp>
        <p:nvSpPr>
          <p:cNvPr id="14" name="route-label"/>
          <p:cNvSpPr/>
          <p:nvPr/>
        </p:nvSpPr>
        <p:spPr>
          <a:xfrm>
            <a:off x="2921000" y="6197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300" dirty="0">
                <a:solidFill>
                  <a:srgbClr val="3B82F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EMERGENCY MOVEMENT ROUTE</a:t>
            </a:r>
            <a:endParaRPr lang="en-US" sz="1300" dirty="0"/>
          </a:p>
        </p:txBody>
      </p:sp>
      <p:sp>
        <p:nvSpPr>
          <p:cNvPr id="15" name="point-label"/>
          <p:cNvSpPr/>
          <p:nvPr/>
        </p:nvSpPr>
        <p:spPr>
          <a:xfrm>
            <a:off x="7289800" y="4191000"/>
            <a:ext cx="1143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300" dirty="0">
                <a:solidFill>
                  <a:srgbClr val="D946E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CONTROL POINT</a:t>
            </a:r>
            <a:endParaRPr lang="en-US" sz="1300" dirty="0"/>
          </a:p>
        </p:txBody>
      </p:sp>
      <p:sp>
        <p:nvSpPr>
          <p:cNvPr id="16" name="panel"/>
          <p:cNvSpPr/>
          <p:nvPr/>
        </p:nvSpPr>
        <p:spPr>
          <a:xfrm>
            <a:off x="10541000" y="2603500"/>
            <a:ext cx="4572000" cy="4318000"/>
          </a:xfrm>
          <a:prstGeom prst="roundRect">
            <a:avLst>
              <a:gd name="adj" fmla="val 3529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panel-title"/>
          <p:cNvSpPr/>
          <p:nvPr/>
        </p:nvSpPr>
        <p:spPr>
          <a:xfrm>
            <a:off x="10896600" y="29464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boundary questions</a:t>
            </a:r>
            <a:endParaRPr lang="en-US" sz="2200" dirty="0"/>
          </a:p>
        </p:txBody>
      </p:sp>
      <p:sp>
        <p:nvSpPr>
          <p:cNvPr id="18" name="panel-body"/>
          <p:cNvSpPr/>
          <p:nvPr/>
        </p:nvSpPr>
        <p:spPr>
          <a:xfrm>
            <a:off x="10896600" y="3581400"/>
            <a:ext cx="3810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1-Where is the farm boundary? 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8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2-Which areas are sensitive? 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8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3-Where could access gaps exist? 4-How does emergency access remain usable?</a:t>
            </a:r>
            <a:endParaRPr lang="en-US" sz="1800" dirty="0"/>
          </a:p>
        </p:txBody>
      </p:sp>
      <p:sp>
        <p:nvSpPr>
          <p:cNvPr id="19" name="boundary-evidence"/>
          <p:cNvSpPr/>
          <p:nvPr/>
        </p:nvSpPr>
        <p:spPr>
          <a:xfrm>
            <a:off x="889000" y="7493000"/>
            <a:ext cx="142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37415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Evidence: USDA NRCS Access Control [1] · FAO rural farm-structure/site considerations [2]</a:t>
            </a:r>
            <a:endParaRPr lang="en-US" sz="1400" dirty="0"/>
          </a:p>
        </p:txBody>
      </p:sp>
      <p:sp>
        <p:nvSpPr>
          <p:cNvPr id="20" name="footer-page"/>
          <p:cNvSpPr/>
          <p:nvPr/>
        </p:nvSpPr>
        <p:spPr>
          <a:xfrm>
            <a:off x="508000" y="86868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E5E7E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footer-meta"/>
          <p:cNvSpPr/>
          <p:nvPr/>
        </p:nvSpPr>
        <p:spPr>
          <a:xfrm>
            <a:off x="9779000" y="8686800"/>
            <a:ext cx="5969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E5E7E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Preliminary boundary concept  ·  20 Aug 2026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ntry-kicker"/>
          <p:cNvSpPr/>
          <p:nvPr/>
        </p:nvSpPr>
        <p:spPr>
          <a:xfrm>
            <a:off x="508000" y="482600"/>
            <a:ext cx="660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D946E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 /  2.2.2  ENTRY &amp; EXIT POINTS</a:t>
            </a:r>
            <a:endParaRPr lang="en-US" sz="1400" dirty="0"/>
          </a:p>
        </p:txBody>
      </p:sp>
      <p:sp>
        <p:nvSpPr>
          <p:cNvPr id="3" name="entry-title"/>
          <p:cNvSpPr/>
          <p:nvPr/>
        </p:nvSpPr>
        <p:spPr>
          <a:xfrm>
            <a:off x="508000" y="889000"/>
            <a:ext cx="14224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Separate movement types without breaking farm operations</a:t>
            </a:r>
            <a:endParaRPr lang="en-US" sz="3400" dirty="0"/>
          </a:p>
        </p:txBody>
      </p:sp>
      <p:sp>
        <p:nvSpPr>
          <p:cNvPr id="4" name="entry-subtitle"/>
          <p:cNvSpPr/>
          <p:nvPr/>
        </p:nvSpPr>
        <p:spPr>
          <a:xfrm>
            <a:off x="508000" y="1676400"/>
            <a:ext cx="1422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Different movement types use different control expectations and routes.</a:t>
            </a:r>
            <a:endParaRPr lang="en-US" sz="1800" dirty="0"/>
          </a:p>
        </p:txBody>
      </p:sp>
      <p:sp>
        <p:nvSpPr>
          <p:cNvPr id="5" name="entry-spine"/>
          <p:cNvSpPr/>
          <p:nvPr/>
        </p:nvSpPr>
        <p:spPr>
          <a:xfrm>
            <a:off x="1524000" y="2794000"/>
            <a:ext cx="9144" cy="3810000"/>
          </a:xfrm>
          <a:prstGeom prst="line">
            <a:avLst/>
          </a:prstGeom>
          <a:ln w="38100">
            <a:solidFill>
              <a:srgbClr val="D946EF"/>
            </a:solidFill>
            <a:prstDash val="solid"/>
          </a:ln>
        </p:spPr>
      </p:sp>
      <p:sp>
        <p:nvSpPr>
          <p:cNvPr id="6" name="entry-spine-point"/>
          <p:cNvSpPr/>
          <p:nvPr/>
        </p:nvSpPr>
        <p:spPr>
          <a:xfrm>
            <a:off x="1333500" y="4508500"/>
            <a:ext cx="381000" cy="381000"/>
          </a:xfrm>
          <a:prstGeom prst="ellipse">
            <a:avLst/>
          </a:prstGeom>
          <a:solidFill>
            <a:srgbClr val="D946EF"/>
          </a:solidFill>
          <a:ln/>
        </p:spPr>
      </p:sp>
      <p:sp>
        <p:nvSpPr>
          <p:cNvPr id="7" name="entry-spine-label"/>
          <p:cNvSpPr/>
          <p:nvPr/>
        </p:nvSpPr>
        <p:spPr>
          <a:xfrm>
            <a:off x="698500" y="6794500"/>
            <a:ext cx="165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D946E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DEFINED EDGE</a:t>
            </a:r>
            <a:endParaRPr lang="en-US" sz="1400" dirty="0"/>
          </a:p>
        </p:txBody>
      </p:sp>
      <p:sp>
        <p:nvSpPr>
          <p:cNvPr id="8" name="entry-card-main"/>
          <p:cNvSpPr/>
          <p:nvPr/>
        </p:nvSpPr>
        <p:spPr>
          <a:xfrm>
            <a:off x="4445000" y="2667000"/>
            <a:ext cx="4826000" cy="1714500"/>
          </a:xfrm>
          <a:prstGeom prst="roundRect">
            <a:avLst>
              <a:gd name="adj" fmla="val 7407"/>
            </a:avLst>
          </a:prstGeom>
          <a:solidFill>
            <a:srgbClr val="FCE7F3"/>
          </a:solidFill>
          <a:ln w="25400">
            <a:solidFill>
              <a:srgbClr val="D946EF"/>
            </a:solidFill>
            <a:prstDash val="solid"/>
          </a:ln>
        </p:spPr>
      </p:sp>
      <p:sp>
        <p:nvSpPr>
          <p:cNvPr id="9" name="entry-card-visitor"/>
          <p:cNvSpPr/>
          <p:nvPr/>
        </p:nvSpPr>
        <p:spPr>
          <a:xfrm>
            <a:off x="10033000" y="2667000"/>
            <a:ext cx="4826000" cy="1714500"/>
          </a:xfrm>
          <a:prstGeom prst="roundRect">
            <a:avLst>
              <a:gd name="adj" fmla="val 7407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entry-card-staff"/>
          <p:cNvSpPr/>
          <p:nvPr/>
        </p:nvSpPr>
        <p:spPr>
          <a:xfrm>
            <a:off x="4445000" y="4889500"/>
            <a:ext cx="4826000" cy="1714500"/>
          </a:xfrm>
          <a:prstGeom prst="roundRect">
            <a:avLst>
              <a:gd name="adj" fmla="val 7407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entry-card-service"/>
          <p:cNvSpPr/>
          <p:nvPr/>
        </p:nvSpPr>
        <p:spPr>
          <a:xfrm>
            <a:off x="10033000" y="4889500"/>
            <a:ext cx="4826000" cy="1714500"/>
          </a:xfrm>
          <a:prstGeom prst="roundRect">
            <a:avLst>
              <a:gd name="adj" fmla="val 7407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entry-link-main"/>
          <p:cNvSpPr/>
          <p:nvPr/>
        </p:nvSpPr>
        <p:spPr>
          <a:xfrm>
            <a:off x="1524000" y="3556000"/>
            <a:ext cx="2921000" cy="9144"/>
          </a:xfrm>
          <a:prstGeom prst="line">
            <a:avLst/>
          </a:prstGeom>
          <a:ln w="25400">
            <a:solidFill>
              <a:srgbClr val="D946EF"/>
            </a:solidFill>
            <a:prstDash val="solid"/>
            <a:tailEnd type="triangle"/>
          </a:ln>
        </p:spPr>
      </p:sp>
      <p:sp>
        <p:nvSpPr>
          <p:cNvPr id="13" name="entry-link-visitor"/>
          <p:cNvSpPr/>
          <p:nvPr/>
        </p:nvSpPr>
        <p:spPr>
          <a:xfrm>
            <a:off x="1524000" y="4191000"/>
            <a:ext cx="8509000" cy="9144"/>
          </a:xfrm>
          <a:prstGeom prst="line">
            <a:avLst/>
          </a:prstGeom>
          <a:ln w="25400">
            <a:solidFill>
              <a:srgbClr val="E5E7EB"/>
            </a:solidFill>
            <a:prstDash val="solid"/>
            <a:tailEnd type="triangle"/>
          </a:ln>
        </p:spPr>
      </p:sp>
      <p:sp>
        <p:nvSpPr>
          <p:cNvPr id="14" name="entry-link-staff"/>
          <p:cNvSpPr/>
          <p:nvPr/>
        </p:nvSpPr>
        <p:spPr>
          <a:xfrm>
            <a:off x="1524000" y="5334000"/>
            <a:ext cx="2921000" cy="9144"/>
          </a:xfrm>
          <a:prstGeom prst="line">
            <a:avLst/>
          </a:prstGeom>
          <a:ln w="25400">
            <a:solidFill>
              <a:srgbClr val="E5E7EB"/>
            </a:solidFill>
            <a:prstDash val="solid"/>
            <a:tailEnd type="triangle"/>
          </a:ln>
        </p:spPr>
      </p:sp>
      <p:sp>
        <p:nvSpPr>
          <p:cNvPr id="15" name="entry-link-service"/>
          <p:cNvSpPr/>
          <p:nvPr/>
        </p:nvSpPr>
        <p:spPr>
          <a:xfrm>
            <a:off x="1524000" y="5969000"/>
            <a:ext cx="8509000" cy="9144"/>
          </a:xfrm>
          <a:prstGeom prst="line">
            <a:avLst/>
          </a:prstGeom>
          <a:ln w="25400">
            <a:solidFill>
              <a:srgbClr val="E5E7EB"/>
            </a:solidFill>
            <a:prstDash val="solid"/>
            <a:tailEnd type="triangle"/>
          </a:ln>
        </p:spPr>
      </p:sp>
      <p:sp>
        <p:nvSpPr>
          <p:cNvPr id="16" name="main-title"/>
          <p:cNvSpPr/>
          <p:nvPr/>
        </p:nvSpPr>
        <p:spPr>
          <a:xfrm>
            <a:off x="4800600" y="2984500"/>
            <a:ext cx="406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 entrance</a:t>
            </a:r>
            <a:endParaRPr lang="en-US" sz="2200" dirty="0"/>
          </a:p>
        </p:txBody>
      </p:sp>
      <p:sp>
        <p:nvSpPr>
          <p:cNvPr id="17" name="main-body"/>
          <p:cNvSpPr/>
          <p:nvPr/>
        </p:nvSpPr>
        <p:spPr>
          <a:xfrm>
            <a:off x="4800600" y="3492500"/>
            <a:ext cx="4064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arrival point for people and vehicles; a recognizable control location.</a:t>
            </a:r>
            <a:endParaRPr lang="en-US" sz="1700" dirty="0"/>
          </a:p>
        </p:txBody>
      </p:sp>
      <p:sp>
        <p:nvSpPr>
          <p:cNvPr id="18" name="visitor-title"/>
          <p:cNvSpPr/>
          <p:nvPr/>
        </p:nvSpPr>
        <p:spPr>
          <a:xfrm>
            <a:off x="10388600" y="2984500"/>
            <a:ext cx="406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Visitor access</a:t>
            </a:r>
            <a:endParaRPr lang="en-US" sz="2200" dirty="0"/>
          </a:p>
        </p:txBody>
      </p:sp>
      <p:sp>
        <p:nvSpPr>
          <p:cNvPr id="19" name="visitor-body"/>
          <p:cNvSpPr/>
          <p:nvPr/>
        </p:nvSpPr>
        <p:spPr>
          <a:xfrm>
            <a:off x="10388600" y="3492500"/>
            <a:ext cx="4064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Registration or verification before entering an authorized area.</a:t>
            </a:r>
            <a:endParaRPr lang="en-US" sz="1700" dirty="0"/>
          </a:p>
        </p:txBody>
      </p:sp>
      <p:sp>
        <p:nvSpPr>
          <p:cNvPr id="20" name="staff-title"/>
          <p:cNvSpPr/>
          <p:nvPr/>
        </p:nvSpPr>
        <p:spPr>
          <a:xfrm>
            <a:off x="4800600" y="5207000"/>
            <a:ext cx="406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/ operational access</a:t>
            </a:r>
            <a:endParaRPr lang="en-US" sz="2200" dirty="0"/>
          </a:p>
        </p:txBody>
      </p:sp>
      <p:sp>
        <p:nvSpPr>
          <p:cNvPr id="21" name="staff-body"/>
          <p:cNvSpPr/>
          <p:nvPr/>
        </p:nvSpPr>
        <p:spPr>
          <a:xfrm>
            <a:off x="4800600" y="5715000"/>
            <a:ext cx="4064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Routine worker movement through verification and zone assignment.</a:t>
            </a:r>
            <a:endParaRPr lang="en-US" sz="1700" dirty="0"/>
          </a:p>
        </p:txBody>
      </p:sp>
      <p:sp>
        <p:nvSpPr>
          <p:cNvPr id="22" name="service-title"/>
          <p:cNvSpPr/>
          <p:nvPr/>
        </p:nvSpPr>
        <p:spPr>
          <a:xfrm>
            <a:off x="10388600" y="5207000"/>
            <a:ext cx="406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/ emergency access</a:t>
            </a:r>
            <a:endParaRPr lang="en-US" sz="2200" dirty="0"/>
          </a:p>
        </p:txBody>
      </p:sp>
      <p:sp>
        <p:nvSpPr>
          <p:cNvPr id="23" name="service-body"/>
          <p:cNvSpPr/>
          <p:nvPr/>
        </p:nvSpPr>
        <p:spPr>
          <a:xfrm>
            <a:off x="10388600" y="5715000"/>
            <a:ext cx="4064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Delivery, maintenance, and response movement with clear authorization.</a:t>
            </a:r>
            <a:endParaRPr lang="en-US" sz="1700" dirty="0"/>
          </a:p>
        </p:txBody>
      </p:sp>
      <p:sp>
        <p:nvSpPr>
          <p:cNvPr id="24" name="entry-caveat"/>
          <p:cNvSpPr/>
          <p:nvPr/>
        </p:nvSpPr>
        <p:spPr>
          <a:xfrm>
            <a:off x="4445000" y="7366000"/>
            <a:ext cx="1041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37415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Preliminary concept — exact gate locations and dimensions require site validation.</a:t>
            </a:r>
            <a:endParaRPr lang="en-US" sz="1400" dirty="0"/>
          </a:p>
        </p:txBody>
      </p:sp>
      <p:sp>
        <p:nvSpPr>
          <p:cNvPr id="25" name="footer-page"/>
          <p:cNvSpPr/>
          <p:nvPr/>
        </p:nvSpPr>
        <p:spPr>
          <a:xfrm>
            <a:off x="508000" y="86868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E5E7E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footer-meta"/>
          <p:cNvSpPr/>
          <p:nvPr/>
        </p:nvSpPr>
        <p:spPr>
          <a:xfrm>
            <a:off x="9779000" y="8686800"/>
            <a:ext cx="5969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E5E7E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Movement-specific access  ·  20 Aug 2026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vels-kicker"/>
          <p:cNvSpPr/>
          <p:nvPr/>
        </p:nvSpPr>
        <p:spPr>
          <a:xfrm>
            <a:off x="508000" y="4826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D946E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 /  2.2.3  ACCESS LEVELS</a:t>
            </a:r>
            <a:endParaRPr lang="en-US" sz="1400" dirty="0"/>
          </a:p>
        </p:txBody>
      </p:sp>
      <p:sp>
        <p:nvSpPr>
          <p:cNvPr id="3" name="levels-title"/>
          <p:cNvSpPr/>
          <p:nvPr/>
        </p:nvSpPr>
        <p:spPr>
          <a:xfrm>
            <a:off x="508000" y="889000"/>
            <a:ext cx="14224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Restriction increases with area sensitivity</a:t>
            </a:r>
            <a:endParaRPr lang="en-US" sz="3400" dirty="0"/>
          </a:p>
        </p:txBody>
      </p:sp>
      <p:sp>
        <p:nvSpPr>
          <p:cNvPr id="4" name="levels-subtitle"/>
          <p:cNvSpPr/>
          <p:nvPr/>
        </p:nvSpPr>
        <p:spPr>
          <a:xfrm>
            <a:off x="508000" y="1676400"/>
            <a:ext cx="1422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conceptual levels translate zoning into an observable access rule.</a:t>
            </a:r>
            <a:endParaRPr lang="en-US" sz="1800" dirty="0"/>
          </a:p>
        </p:txBody>
      </p:sp>
      <p:sp>
        <p:nvSpPr>
          <p:cNvPr id="5" name="level-open"/>
          <p:cNvSpPr/>
          <p:nvPr/>
        </p:nvSpPr>
        <p:spPr>
          <a:xfrm>
            <a:off x="635000" y="2794000"/>
            <a:ext cx="3111500" cy="2413000"/>
          </a:xfrm>
          <a:prstGeom prst="roundRect">
            <a:avLst>
              <a:gd name="adj" fmla="val 5263"/>
            </a:avLst>
          </a:prstGeom>
          <a:solidFill>
            <a:srgbClr val="ECFDF5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6" name="level-controlled"/>
          <p:cNvSpPr/>
          <p:nvPr/>
        </p:nvSpPr>
        <p:spPr>
          <a:xfrm>
            <a:off x="4381500" y="2794000"/>
            <a:ext cx="3111500" cy="2413000"/>
          </a:xfrm>
          <a:prstGeom prst="roundRect">
            <a:avLst>
              <a:gd name="adj" fmla="val 5263"/>
            </a:avLst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7" name="level-restricted"/>
          <p:cNvSpPr/>
          <p:nvPr/>
        </p:nvSpPr>
        <p:spPr>
          <a:xfrm>
            <a:off x="8128000" y="2794000"/>
            <a:ext cx="3111500" cy="2413000"/>
          </a:xfrm>
          <a:prstGeom prst="roundRect">
            <a:avLst>
              <a:gd name="adj" fmla="val 5263"/>
            </a:avLst>
          </a:prstGeom>
          <a:solidFill>
            <a:srgbClr val="FFFBE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8" name="level-critical"/>
          <p:cNvSpPr/>
          <p:nvPr/>
        </p:nvSpPr>
        <p:spPr>
          <a:xfrm>
            <a:off x="11874500" y="2794000"/>
            <a:ext cx="3111500" cy="2413000"/>
          </a:xfrm>
          <a:prstGeom prst="roundRect">
            <a:avLst>
              <a:gd name="adj" fmla="val 5263"/>
            </a:avLst>
          </a:prstGeom>
          <a:solidFill>
            <a:srgbClr val="FEF2F2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9" name="open-label"/>
          <p:cNvSpPr/>
          <p:nvPr/>
        </p:nvSpPr>
        <p:spPr>
          <a:xfrm>
            <a:off x="889000" y="3136900"/>
            <a:ext cx="26035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250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</a:t>
            </a:r>
            <a:endParaRPr lang="en-US" sz="2500" dirty="0"/>
          </a:p>
        </p:txBody>
      </p:sp>
      <p:sp>
        <p:nvSpPr>
          <p:cNvPr id="10" name="controlled-label"/>
          <p:cNvSpPr/>
          <p:nvPr/>
        </p:nvSpPr>
        <p:spPr>
          <a:xfrm>
            <a:off x="4635500" y="3136900"/>
            <a:ext cx="26035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25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CONTROLLED</a:t>
            </a:r>
            <a:endParaRPr lang="en-US" sz="2500" dirty="0"/>
          </a:p>
        </p:txBody>
      </p:sp>
      <p:sp>
        <p:nvSpPr>
          <p:cNvPr id="11" name="restricted-label"/>
          <p:cNvSpPr/>
          <p:nvPr/>
        </p:nvSpPr>
        <p:spPr>
          <a:xfrm>
            <a:off x="8382000" y="3136900"/>
            <a:ext cx="26035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2500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RESTRICTED</a:t>
            </a:r>
            <a:endParaRPr lang="en-US" sz="2500" dirty="0"/>
          </a:p>
        </p:txBody>
      </p:sp>
      <p:sp>
        <p:nvSpPr>
          <p:cNvPr id="12" name="critical-label"/>
          <p:cNvSpPr/>
          <p:nvPr/>
        </p:nvSpPr>
        <p:spPr>
          <a:xfrm>
            <a:off x="12128500" y="3136900"/>
            <a:ext cx="26035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2500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</a:t>
            </a:r>
            <a:endParaRPr lang="en-US" sz="2500" dirty="0"/>
          </a:p>
        </p:txBody>
      </p:sp>
      <p:sp>
        <p:nvSpPr>
          <p:cNvPr id="13" name="open-body"/>
          <p:cNvSpPr/>
          <p:nvPr/>
        </p:nvSpPr>
        <p:spPr>
          <a:xfrm>
            <a:off x="952500" y="4000500"/>
            <a:ext cx="2476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General movement with boundary awareness</a:t>
            </a:r>
            <a:endParaRPr lang="en-US" sz="1800" dirty="0"/>
          </a:p>
        </p:txBody>
      </p:sp>
      <p:sp>
        <p:nvSpPr>
          <p:cNvPr id="14" name="controlled-body"/>
          <p:cNvSpPr/>
          <p:nvPr/>
        </p:nvSpPr>
        <p:spPr>
          <a:xfrm>
            <a:off x="4699000" y="4000500"/>
            <a:ext cx="2476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Visible check or authorization</a:t>
            </a:r>
            <a:endParaRPr lang="en-US" sz="1800" dirty="0"/>
          </a:p>
        </p:txBody>
      </p:sp>
      <p:sp>
        <p:nvSpPr>
          <p:cNvPr id="15" name="restricted-body"/>
          <p:cNvSpPr/>
          <p:nvPr/>
        </p:nvSpPr>
        <p:spPr>
          <a:xfrm>
            <a:off x="8445500" y="4000500"/>
            <a:ext cx="2476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Role- or need-based access</a:t>
            </a:r>
            <a:endParaRPr lang="en-US" sz="1800" dirty="0"/>
          </a:p>
        </p:txBody>
      </p:sp>
      <p:sp>
        <p:nvSpPr>
          <p:cNvPr id="16" name="critical-body"/>
          <p:cNvSpPr/>
          <p:nvPr/>
        </p:nvSpPr>
        <p:spPr>
          <a:xfrm>
            <a:off x="12192000" y="4000500"/>
            <a:ext cx="2476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Highest sensitivity traceable authorization</a:t>
            </a:r>
            <a:endParaRPr lang="en-US" sz="1800" dirty="0"/>
          </a:p>
        </p:txBody>
      </p:sp>
      <p:sp>
        <p:nvSpPr>
          <p:cNvPr id="17" name="sensitivity-line"/>
          <p:cNvSpPr/>
          <p:nvPr/>
        </p:nvSpPr>
        <p:spPr>
          <a:xfrm>
            <a:off x="2032000" y="6159500"/>
            <a:ext cx="12192000" cy="9144"/>
          </a:xfrm>
          <a:prstGeom prst="line">
            <a:avLst/>
          </a:prstGeom>
          <a:ln w="38100">
            <a:solidFill>
              <a:srgbClr val="0F172A"/>
            </a:solidFill>
            <a:prstDash val="solid"/>
            <a:tailEnd type="triangle"/>
          </a:ln>
        </p:spPr>
      </p:sp>
      <p:sp>
        <p:nvSpPr>
          <p:cNvPr id="18" name="sensitivity-left"/>
          <p:cNvSpPr/>
          <p:nvPr/>
        </p:nvSpPr>
        <p:spPr>
          <a:xfrm>
            <a:off x="635000" y="6413500"/>
            <a:ext cx="279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37415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LOWER SENSITIVITY</a:t>
            </a:r>
            <a:endParaRPr lang="en-US" sz="1400" dirty="0"/>
          </a:p>
        </p:txBody>
      </p:sp>
      <p:sp>
        <p:nvSpPr>
          <p:cNvPr id="19" name="sensitivity-right"/>
          <p:cNvSpPr/>
          <p:nvPr/>
        </p:nvSpPr>
        <p:spPr>
          <a:xfrm>
            <a:off x="12827000" y="6413500"/>
            <a:ext cx="279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37415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HIGHER SENSITIVITY</a:t>
            </a:r>
            <a:endParaRPr lang="en-US" sz="1400" dirty="0"/>
          </a:p>
        </p:txBody>
      </p:sp>
      <p:sp>
        <p:nvSpPr>
          <p:cNvPr id="20" name="levels-function"/>
          <p:cNvSpPr/>
          <p:nvPr/>
        </p:nvSpPr>
        <p:spPr>
          <a:xfrm>
            <a:off x="1524000" y="7175500"/>
            <a:ext cx="132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control supports controlled movement and improved traceability — not a guarantee of security.</a:t>
            </a:r>
            <a:endParaRPr lang="en-US" sz="2000" dirty="0"/>
          </a:p>
        </p:txBody>
      </p:sp>
      <p:sp>
        <p:nvSpPr>
          <p:cNvPr id="21" name="levels-evidence"/>
          <p:cNvSpPr/>
          <p:nvPr/>
        </p:nvSpPr>
        <p:spPr>
          <a:xfrm>
            <a:off x="1524000" y="7810500"/>
            <a:ext cx="132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37415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Evidence: USDA NRCS Code 472 [1] · CISA flexible, scalable security planning [3]</a:t>
            </a:r>
            <a:endParaRPr lang="en-US" sz="1400" dirty="0"/>
          </a:p>
        </p:txBody>
      </p:sp>
      <p:sp>
        <p:nvSpPr>
          <p:cNvPr id="22" name="footer-page"/>
          <p:cNvSpPr/>
          <p:nvPr/>
        </p:nvSpPr>
        <p:spPr>
          <a:xfrm>
            <a:off x="508000" y="86868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E5E7E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400" dirty="0"/>
          </a:p>
        </p:txBody>
      </p:sp>
      <p:sp>
        <p:nvSpPr>
          <p:cNvPr id="23" name="footer-meta"/>
          <p:cNvSpPr/>
          <p:nvPr/>
        </p:nvSpPr>
        <p:spPr>
          <a:xfrm>
            <a:off x="9779000" y="8686800"/>
            <a:ext cx="5969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E5E7E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Conceptual access levels  ·  20 Aug 2026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tection-kicker"/>
          <p:cNvSpPr/>
          <p:nvPr/>
        </p:nvSpPr>
        <p:spPr>
          <a:xfrm>
            <a:off x="508000" y="482600"/>
            <a:ext cx="711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D946E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 /  2.2.4  PHYSICAL PROTECTION</a:t>
            </a:r>
            <a:endParaRPr lang="en-US" sz="1400" dirty="0"/>
          </a:p>
        </p:txBody>
      </p:sp>
      <p:sp>
        <p:nvSpPr>
          <p:cNvPr id="3" name="protection-title"/>
          <p:cNvSpPr/>
          <p:nvPr/>
        </p:nvSpPr>
        <p:spPr>
          <a:xfrm>
            <a:off x="508000" y="889000"/>
            <a:ext cx="14224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Physical protection makes the concept visible</a:t>
            </a:r>
            <a:endParaRPr lang="en-US" sz="3400" dirty="0"/>
          </a:p>
        </p:txBody>
      </p:sp>
      <p:sp>
        <p:nvSpPr>
          <p:cNvPr id="4" name="protection-subtitle"/>
          <p:cNvSpPr/>
          <p:nvPr/>
        </p:nvSpPr>
        <p:spPr>
          <a:xfrm>
            <a:off x="508000" y="1676400"/>
            <a:ext cx="1422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response supports a clear function in the access-control logic.</a:t>
            </a:r>
            <a:endParaRPr lang="en-US" sz="1800" dirty="0"/>
          </a:p>
        </p:txBody>
      </p:sp>
      <p:sp>
        <p:nvSpPr>
          <p:cNvPr id="5" name="protect-link-top"/>
          <p:cNvSpPr/>
          <p:nvPr/>
        </p:nvSpPr>
        <p:spPr>
          <a:xfrm>
            <a:off x="8128000" y="3111500"/>
            <a:ext cx="9144" cy="444500"/>
          </a:xfrm>
          <a:prstGeom prst="line">
            <a:avLst/>
          </a:prstGeom>
          <a:ln w="25400">
            <a:solidFill>
              <a:srgbClr val="D946EF"/>
            </a:solidFill>
            <a:prstDash val="solid"/>
          </a:ln>
        </p:spPr>
      </p:sp>
      <p:sp>
        <p:nvSpPr>
          <p:cNvPr id="6" name="protect-link-left"/>
          <p:cNvSpPr/>
          <p:nvPr/>
        </p:nvSpPr>
        <p:spPr>
          <a:xfrm>
            <a:off x="4953000" y="4064000"/>
            <a:ext cx="1524000" cy="9144"/>
          </a:xfrm>
          <a:prstGeom prst="line">
            <a:avLst/>
          </a:prstGeom>
          <a:ln w="25400">
            <a:solidFill>
              <a:srgbClr val="E5E7EB"/>
            </a:solidFill>
            <a:prstDash val="solid"/>
          </a:ln>
        </p:spPr>
      </p:sp>
      <p:sp>
        <p:nvSpPr>
          <p:cNvPr id="7" name="protect-link-right"/>
          <p:cNvSpPr/>
          <p:nvPr/>
        </p:nvSpPr>
        <p:spPr>
          <a:xfrm>
            <a:off x="9779000" y="4064000"/>
            <a:ext cx="1524000" cy="9144"/>
          </a:xfrm>
          <a:prstGeom prst="line">
            <a:avLst/>
          </a:prstGeom>
          <a:ln w="25400">
            <a:solidFill>
              <a:srgbClr val="E5E7EB"/>
            </a:solidFill>
            <a:prstDash val="solid"/>
          </a:ln>
        </p:spPr>
      </p:sp>
      <p:sp>
        <p:nvSpPr>
          <p:cNvPr id="8" name="protect-link-bottom"/>
          <p:cNvSpPr/>
          <p:nvPr/>
        </p:nvSpPr>
        <p:spPr>
          <a:xfrm>
            <a:off x="8128000" y="4699000"/>
            <a:ext cx="9144" cy="533400"/>
          </a:xfrm>
          <a:prstGeom prst="line">
            <a:avLst/>
          </a:prstGeom>
          <a:ln w="25400">
            <a:solidFill>
              <a:srgbClr val="E5E7EB"/>
            </a:solidFill>
            <a:prstDash val="solid"/>
          </a:ln>
        </p:spPr>
      </p:sp>
      <p:sp>
        <p:nvSpPr>
          <p:cNvPr id="9" name="protect-center"/>
          <p:cNvSpPr/>
          <p:nvPr/>
        </p:nvSpPr>
        <p:spPr>
          <a:xfrm>
            <a:off x="6174740" y="3556000"/>
            <a:ext cx="3816350" cy="1143000"/>
          </a:xfrm>
          <a:prstGeom prst="roundRect">
            <a:avLst>
              <a:gd name="adj" fmla="val 13333"/>
            </a:avLst>
          </a:prstGeom>
          <a:solidFill>
            <a:srgbClr val="FCE7F3"/>
          </a:solidFill>
          <a:ln w="25400">
            <a:solidFill>
              <a:srgbClr val="D946EF"/>
            </a:solidFill>
            <a:prstDash val="solid"/>
          </a:ln>
        </p:spPr>
      </p:sp>
      <p:sp>
        <p:nvSpPr>
          <p:cNvPr id="10" name="protect-center-title"/>
          <p:cNvSpPr/>
          <p:nvPr/>
        </p:nvSpPr>
        <p:spPr>
          <a:xfrm>
            <a:off x="6350000" y="3810000"/>
            <a:ext cx="279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2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ACCESS-CONTROL POINT</a:t>
            </a:r>
            <a:endParaRPr lang="en-US" sz="2200" dirty="0"/>
          </a:p>
        </p:txBody>
      </p:sp>
      <p:sp>
        <p:nvSpPr>
          <p:cNvPr id="11" name="protect-center-body"/>
          <p:cNvSpPr/>
          <p:nvPr/>
        </p:nvSpPr>
        <p:spPr>
          <a:xfrm>
            <a:off x="6350000" y="4216400"/>
            <a:ext cx="279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37415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where movement becomes observable</a:t>
            </a:r>
            <a:endParaRPr lang="en-US" sz="1400" dirty="0"/>
          </a:p>
        </p:txBody>
      </p:sp>
      <p:sp>
        <p:nvSpPr>
          <p:cNvPr id="12" name="protect-fence"/>
          <p:cNvSpPr/>
          <p:nvPr/>
        </p:nvSpPr>
        <p:spPr>
          <a:xfrm>
            <a:off x="6350000" y="2286000"/>
            <a:ext cx="3556000" cy="825500"/>
          </a:xfrm>
          <a:prstGeom prst="roundRect">
            <a:avLst>
              <a:gd name="adj" fmla="val 15385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protect-fence-title"/>
          <p:cNvSpPr/>
          <p:nvPr/>
        </p:nvSpPr>
        <p:spPr>
          <a:xfrm>
            <a:off x="6604000" y="2393950"/>
            <a:ext cx="304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2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FENCING</a:t>
            </a:r>
            <a:endParaRPr lang="en-US" sz="2100" dirty="0"/>
          </a:p>
        </p:txBody>
      </p:sp>
      <p:sp>
        <p:nvSpPr>
          <p:cNvPr id="14" name="protect-fence-body"/>
          <p:cNvSpPr/>
          <p:nvPr/>
        </p:nvSpPr>
        <p:spPr>
          <a:xfrm>
            <a:off x="6604000" y="2757170"/>
            <a:ext cx="304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37415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marks the defined boundary</a:t>
            </a:r>
            <a:endParaRPr lang="en-US" sz="1400" dirty="0"/>
          </a:p>
        </p:txBody>
      </p:sp>
      <p:sp>
        <p:nvSpPr>
          <p:cNvPr id="15" name="protect-gates"/>
          <p:cNvSpPr/>
          <p:nvPr/>
        </p:nvSpPr>
        <p:spPr>
          <a:xfrm>
            <a:off x="1016000" y="3619500"/>
            <a:ext cx="3937000" cy="1016000"/>
          </a:xfrm>
          <a:prstGeom prst="roundRect">
            <a:avLst>
              <a:gd name="adj" fmla="val 125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protect-gates-title"/>
          <p:cNvSpPr/>
          <p:nvPr/>
        </p:nvSpPr>
        <p:spPr>
          <a:xfrm>
            <a:off x="1333500" y="3810000"/>
            <a:ext cx="330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2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GATES</a:t>
            </a:r>
            <a:endParaRPr lang="en-US" sz="2100" dirty="0"/>
          </a:p>
        </p:txBody>
      </p:sp>
      <p:sp>
        <p:nvSpPr>
          <p:cNvPr id="17" name="protect-gates-body"/>
          <p:cNvSpPr/>
          <p:nvPr/>
        </p:nvSpPr>
        <p:spPr>
          <a:xfrm>
            <a:off x="1333500" y="4216400"/>
            <a:ext cx="330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37415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concentrate movement into points</a:t>
            </a:r>
            <a:endParaRPr lang="en-US" sz="1400" dirty="0"/>
          </a:p>
        </p:txBody>
      </p:sp>
      <p:sp>
        <p:nvSpPr>
          <p:cNvPr id="18" name="protect-restriction"/>
          <p:cNvSpPr/>
          <p:nvPr/>
        </p:nvSpPr>
        <p:spPr>
          <a:xfrm>
            <a:off x="11303000" y="3556000"/>
            <a:ext cx="3937000" cy="1016000"/>
          </a:xfrm>
          <a:prstGeom prst="roundRect">
            <a:avLst>
              <a:gd name="adj" fmla="val 125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protect-restriction-title"/>
          <p:cNvSpPr/>
          <p:nvPr/>
        </p:nvSpPr>
        <p:spPr>
          <a:xfrm>
            <a:off x="11620500" y="3810000"/>
            <a:ext cx="330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2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RESTRICTION</a:t>
            </a:r>
            <a:endParaRPr lang="en-US" sz="2100" dirty="0"/>
          </a:p>
        </p:txBody>
      </p:sp>
      <p:sp>
        <p:nvSpPr>
          <p:cNvPr id="20" name="protect-restriction-body"/>
          <p:cNvSpPr/>
          <p:nvPr/>
        </p:nvSpPr>
        <p:spPr>
          <a:xfrm>
            <a:off x="11620500" y="4216400"/>
            <a:ext cx="330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37415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matches control to sensitivity</a:t>
            </a:r>
            <a:endParaRPr lang="en-US" sz="1400" dirty="0"/>
          </a:p>
        </p:txBody>
      </p:sp>
      <p:sp>
        <p:nvSpPr>
          <p:cNvPr id="21" name="protect-signage"/>
          <p:cNvSpPr/>
          <p:nvPr/>
        </p:nvSpPr>
        <p:spPr>
          <a:xfrm>
            <a:off x="6350000" y="5232400"/>
            <a:ext cx="3933190" cy="1007110"/>
          </a:xfrm>
          <a:prstGeom prst="roundRect">
            <a:avLst>
              <a:gd name="adj" fmla="val 15385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protect-signage-title"/>
          <p:cNvSpPr/>
          <p:nvPr/>
        </p:nvSpPr>
        <p:spPr>
          <a:xfrm>
            <a:off x="6604000" y="5461000"/>
            <a:ext cx="304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2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SIGNAGE / IDENTIFICATION</a:t>
            </a:r>
            <a:endParaRPr lang="en-US" sz="2100" dirty="0"/>
          </a:p>
        </p:txBody>
      </p:sp>
      <p:sp>
        <p:nvSpPr>
          <p:cNvPr id="23" name="protect-signage-body"/>
          <p:cNvSpPr/>
          <p:nvPr/>
        </p:nvSpPr>
        <p:spPr>
          <a:xfrm>
            <a:off x="6604000" y="5854700"/>
            <a:ext cx="304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37415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makes expected behavior legible</a:t>
            </a:r>
            <a:endParaRPr lang="en-US" sz="1400" dirty="0"/>
          </a:p>
        </p:txBody>
      </p:sp>
      <p:sp>
        <p:nvSpPr>
          <p:cNvPr id="24" name="protect-caveat"/>
          <p:cNvSpPr/>
          <p:nvPr/>
        </p:nvSpPr>
        <p:spPr>
          <a:xfrm>
            <a:off x="1905000" y="6794500"/>
            <a:ext cx="12446000" cy="889000"/>
          </a:xfrm>
          <a:prstGeom prst="roundRect">
            <a:avLst>
              <a:gd name="adj" fmla="val 14286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protect-caveat-text"/>
          <p:cNvSpPr/>
          <p:nvPr/>
        </p:nvSpPr>
        <p:spPr>
          <a:xfrm>
            <a:off x="2222500" y="7048500"/>
            <a:ext cx="1181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PRELIMINARY CONCEPT — no final dimensions, materials, hardware, or construction specifications established.</a:t>
            </a:r>
            <a:endParaRPr lang="en-US" sz="1900" dirty="0"/>
          </a:p>
        </p:txBody>
      </p:sp>
      <p:sp>
        <p:nvSpPr>
          <p:cNvPr id="26" name="footer-page"/>
          <p:cNvSpPr/>
          <p:nvPr/>
        </p:nvSpPr>
        <p:spPr>
          <a:xfrm>
            <a:off x="508000" y="86868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E5E7E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1400" dirty="0"/>
          </a:p>
        </p:txBody>
      </p:sp>
      <p:sp>
        <p:nvSpPr>
          <p:cNvPr id="27" name="footer-meta"/>
          <p:cNvSpPr/>
          <p:nvPr/>
        </p:nvSpPr>
        <p:spPr>
          <a:xfrm>
            <a:off x="9779000" y="8686800"/>
            <a:ext cx="5969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E5E7E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Physical protection logic  ·  20 Aug 2026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-kicker"/>
          <p:cNvSpPr/>
          <p:nvPr/>
        </p:nvSpPr>
        <p:spPr>
          <a:xfrm>
            <a:off x="508000" y="482600"/>
            <a:ext cx="609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D946E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 /  2.2.5  ACCESS FLOW</a:t>
            </a:r>
            <a:endParaRPr lang="en-US" sz="1400" dirty="0"/>
          </a:p>
        </p:txBody>
      </p:sp>
      <p:sp>
        <p:nvSpPr>
          <p:cNvPr id="3" name="flow-title"/>
          <p:cNvSpPr/>
          <p:nvPr/>
        </p:nvSpPr>
        <p:spPr>
          <a:xfrm>
            <a:off x="508000" y="889000"/>
            <a:ext cx="14224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flows, one traceable rule</a:t>
            </a:r>
            <a:endParaRPr lang="en-US" sz="3400" dirty="0"/>
          </a:p>
        </p:txBody>
      </p:sp>
      <p:sp>
        <p:nvSpPr>
          <p:cNvPr id="4" name="flow-subtitle"/>
          <p:cNvSpPr/>
          <p:nvPr/>
        </p:nvSpPr>
        <p:spPr>
          <a:xfrm>
            <a:off x="508000" y="1676400"/>
            <a:ext cx="1422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flow is the operational bridge between the security zone and the physical site.</a:t>
            </a:r>
            <a:endParaRPr lang="en-US" sz="1800" dirty="0"/>
          </a:p>
        </p:txBody>
      </p:sp>
      <p:sp>
        <p:nvSpPr>
          <p:cNvPr id="5" name="worker-lane"/>
          <p:cNvSpPr/>
          <p:nvPr/>
        </p:nvSpPr>
        <p:spPr>
          <a:xfrm>
            <a:off x="635000" y="2413000"/>
            <a:ext cx="14986000" cy="990600"/>
          </a:xfrm>
          <a:prstGeom prst="roundRect">
            <a:avLst>
              <a:gd name="adj" fmla="val 12821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visitor-lane"/>
          <p:cNvSpPr/>
          <p:nvPr/>
        </p:nvSpPr>
        <p:spPr>
          <a:xfrm>
            <a:off x="635000" y="3556000"/>
            <a:ext cx="14986000" cy="990600"/>
          </a:xfrm>
          <a:prstGeom prst="roundRect">
            <a:avLst>
              <a:gd name="adj" fmla="val 12821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vehicle-lane"/>
          <p:cNvSpPr/>
          <p:nvPr/>
        </p:nvSpPr>
        <p:spPr>
          <a:xfrm>
            <a:off x="635000" y="4699000"/>
            <a:ext cx="14986000" cy="990600"/>
          </a:xfrm>
          <a:prstGeom prst="roundRect">
            <a:avLst>
              <a:gd name="adj" fmla="val 12821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unauth-lane"/>
          <p:cNvSpPr/>
          <p:nvPr/>
        </p:nvSpPr>
        <p:spPr>
          <a:xfrm>
            <a:off x="635000" y="5842000"/>
            <a:ext cx="14986000" cy="990600"/>
          </a:xfrm>
          <a:prstGeom prst="roundRect">
            <a:avLst>
              <a:gd name="adj" fmla="val 12821"/>
            </a:avLst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worker-label"/>
          <p:cNvSpPr/>
          <p:nvPr/>
        </p:nvSpPr>
        <p:spPr>
          <a:xfrm>
            <a:off x="952500" y="2679700"/>
            <a:ext cx="2286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WORKER</a:t>
            </a:r>
            <a:endParaRPr lang="en-US" sz="2200" dirty="0"/>
          </a:p>
        </p:txBody>
      </p:sp>
      <p:sp>
        <p:nvSpPr>
          <p:cNvPr id="10" name="visitor-label"/>
          <p:cNvSpPr/>
          <p:nvPr/>
        </p:nvSpPr>
        <p:spPr>
          <a:xfrm>
            <a:off x="952500" y="3822700"/>
            <a:ext cx="2286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VISITOR</a:t>
            </a:r>
            <a:endParaRPr lang="en-US" sz="2200" dirty="0"/>
          </a:p>
        </p:txBody>
      </p:sp>
      <p:sp>
        <p:nvSpPr>
          <p:cNvPr id="11" name="vehicle-label"/>
          <p:cNvSpPr/>
          <p:nvPr/>
        </p:nvSpPr>
        <p:spPr>
          <a:xfrm>
            <a:off x="952500" y="4965700"/>
            <a:ext cx="2286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VEHICLE</a:t>
            </a:r>
            <a:endParaRPr lang="en-US" sz="2200" dirty="0"/>
          </a:p>
        </p:txBody>
      </p:sp>
      <p:sp>
        <p:nvSpPr>
          <p:cNvPr id="12" name="unauth-label"/>
          <p:cNvSpPr/>
          <p:nvPr/>
        </p:nvSpPr>
        <p:spPr>
          <a:xfrm>
            <a:off x="952500" y="6108700"/>
            <a:ext cx="2286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UNAUTHORIZED</a:t>
            </a:r>
            <a:endParaRPr lang="en-US" sz="2000" dirty="0"/>
          </a:p>
        </p:txBody>
      </p:sp>
      <p:sp>
        <p:nvSpPr>
          <p:cNvPr id="13" name="worker-flow"/>
          <p:cNvSpPr/>
          <p:nvPr/>
        </p:nvSpPr>
        <p:spPr>
          <a:xfrm>
            <a:off x="3810000" y="2730500"/>
            <a:ext cx="1079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/ Operational Access  →  Verification  →  Assigned Zone  →  Exit</a:t>
            </a:r>
            <a:endParaRPr lang="en-US" sz="1800" dirty="0"/>
          </a:p>
        </p:txBody>
      </p:sp>
      <p:sp>
        <p:nvSpPr>
          <p:cNvPr id="14" name="visitor-flow"/>
          <p:cNvSpPr/>
          <p:nvPr/>
        </p:nvSpPr>
        <p:spPr>
          <a:xfrm>
            <a:off x="3810000" y="3873500"/>
            <a:ext cx="1079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Visitor Entry  →  Registration / Verification  →  Authorized Area  →  Exit</a:t>
            </a:r>
            <a:endParaRPr lang="en-US" sz="1800" dirty="0"/>
          </a:p>
        </p:txBody>
      </p:sp>
      <p:sp>
        <p:nvSpPr>
          <p:cNvPr id="15" name="vehicle-flow"/>
          <p:cNvSpPr/>
          <p:nvPr/>
        </p:nvSpPr>
        <p:spPr>
          <a:xfrm>
            <a:off x="3810000" y="5016500"/>
            <a:ext cx="1079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Access  →  Verification  →  Operational Area  →  Exit</a:t>
            </a:r>
            <a:endParaRPr lang="en-US" sz="1800" dirty="0"/>
          </a:p>
        </p:txBody>
      </p:sp>
      <p:sp>
        <p:nvSpPr>
          <p:cNvPr id="16" name="unauth-flow"/>
          <p:cNvSpPr/>
          <p:nvPr/>
        </p:nvSpPr>
        <p:spPr>
          <a:xfrm>
            <a:off x="3810000" y="6159500"/>
            <a:ext cx="1079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Request  →  Denied  →  Stop / Redirect  →  Incident Handling if required</a:t>
            </a:r>
            <a:endParaRPr lang="en-US" sz="1800" dirty="0"/>
          </a:p>
        </p:txBody>
      </p:sp>
      <p:sp>
        <p:nvSpPr>
          <p:cNvPr id="17" name="flow-rule"/>
          <p:cNvSpPr/>
          <p:nvPr/>
        </p:nvSpPr>
        <p:spPr>
          <a:xfrm>
            <a:off x="1524000" y="7366000"/>
            <a:ext cx="1320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VISIBLE POINT  →  VERIFY  →  AUTHORIZE / DENY  →  GUIDE MOVEMENT  →  EXIT / RESPOND</a:t>
            </a:r>
            <a:endParaRPr lang="en-US" sz="2100" dirty="0"/>
          </a:p>
        </p:txBody>
      </p:sp>
      <p:sp>
        <p:nvSpPr>
          <p:cNvPr id="18" name="flow-rule-line"/>
          <p:cNvSpPr/>
          <p:nvPr/>
        </p:nvSpPr>
        <p:spPr>
          <a:xfrm>
            <a:off x="6604000" y="7937500"/>
            <a:ext cx="3048000" cy="9144"/>
          </a:xfrm>
          <a:prstGeom prst="line">
            <a:avLst/>
          </a:prstGeom>
          <a:ln w="38100">
            <a:solidFill>
              <a:srgbClr val="D946EF"/>
            </a:solidFill>
            <a:prstDash val="solid"/>
          </a:ln>
        </p:spPr>
      </p:sp>
      <p:sp>
        <p:nvSpPr>
          <p:cNvPr id="19" name="footer-page"/>
          <p:cNvSpPr/>
          <p:nvPr/>
        </p:nvSpPr>
        <p:spPr>
          <a:xfrm>
            <a:off x="508000" y="86868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E5E7E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1400" dirty="0"/>
          </a:p>
        </p:txBody>
      </p:sp>
      <p:sp>
        <p:nvSpPr>
          <p:cNvPr id="20" name="footer-meta"/>
          <p:cNvSpPr/>
          <p:nvPr/>
        </p:nvSpPr>
        <p:spPr>
          <a:xfrm>
            <a:off x="9779000" y="8686800"/>
            <a:ext cx="5969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E5E7E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Worker · visitor · vehicle · response  ·  20 Aug 2026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ckup-kicker"/>
          <p:cNvSpPr/>
          <p:nvPr/>
        </p:nvSpPr>
        <p:spPr>
          <a:xfrm>
            <a:off x="508000" y="482600"/>
            <a:ext cx="660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D946E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  /  CONCEPTUAL MOCK-UP</a:t>
            </a:r>
            <a:endParaRPr lang="en-US" sz="1400" dirty="0"/>
          </a:p>
        </p:txBody>
      </p:sp>
      <p:sp>
        <p:nvSpPr>
          <p:cNvPr id="3" name="mockup-title"/>
          <p:cNvSpPr/>
          <p:nvPr/>
        </p:nvSpPr>
        <p:spPr>
          <a:xfrm>
            <a:off x="508000" y="889000"/>
            <a:ext cx="14224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simplified farm security model</a:t>
            </a:r>
            <a:endParaRPr lang="en-US" sz="3400" dirty="0"/>
          </a:p>
        </p:txBody>
      </p:sp>
      <p:sp>
        <p:nvSpPr>
          <p:cNvPr id="4" name="mockup-subtitle"/>
          <p:cNvSpPr/>
          <p:nvPr/>
        </p:nvSpPr>
        <p:spPr>
          <a:xfrm>
            <a:off x="508000" y="1676400"/>
            <a:ext cx="1422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mock-up communicates relationships — it is not an actual geographic map.</a:t>
            </a:r>
            <a:endParaRPr lang="en-US" sz="1800" dirty="0"/>
          </a:p>
        </p:txBody>
      </p:sp>
      <p:sp>
        <p:nvSpPr>
          <p:cNvPr id="5" name="mockup-frame"/>
          <p:cNvSpPr/>
          <p:nvPr/>
        </p:nvSpPr>
        <p:spPr>
          <a:xfrm>
            <a:off x="762000" y="2413000"/>
            <a:ext cx="9652000" cy="44450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25400">
            <a:solidFill>
              <a:srgbClr val="0F172A"/>
            </a:solidFill>
            <a:prstDash val="solid"/>
          </a:ln>
        </p:spPr>
      </p:sp>
      <p:sp>
        <p:nvSpPr>
          <p:cNvPr id="6" name="mockup-perimeter"/>
          <p:cNvSpPr/>
          <p:nvPr/>
        </p:nvSpPr>
        <p:spPr>
          <a:xfrm>
            <a:off x="1143000" y="2730500"/>
            <a:ext cx="8890000" cy="3810000"/>
          </a:xfrm>
          <a:prstGeom prst="roundRect">
            <a:avLst>
              <a:gd name="adj" fmla="val 4667"/>
            </a:avLst>
          </a:prstGeom>
          <a:ln w="38100">
            <a:solidFill>
              <a:srgbClr val="D946EF"/>
            </a:solidFill>
            <a:prstDash val="solid"/>
          </a:ln>
        </p:spPr>
      </p:sp>
      <p:sp>
        <p:nvSpPr>
          <p:cNvPr id="7" name="mockup-open"/>
          <p:cNvSpPr/>
          <p:nvPr/>
        </p:nvSpPr>
        <p:spPr>
          <a:xfrm>
            <a:off x="1587500" y="3492500"/>
            <a:ext cx="3429000" cy="2159000"/>
          </a:xfrm>
          <a:prstGeom prst="roundRect">
            <a:avLst>
              <a:gd name="adj" fmla="val 7059"/>
            </a:avLst>
          </a:prstGeom>
          <a:solidFill>
            <a:srgbClr val="ECFDF5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8" name="mockup-controlled"/>
          <p:cNvSpPr/>
          <p:nvPr/>
        </p:nvSpPr>
        <p:spPr>
          <a:xfrm>
            <a:off x="5461000" y="3175000"/>
            <a:ext cx="3683000" cy="1206500"/>
          </a:xfrm>
          <a:prstGeom prst="roundRect">
            <a:avLst>
              <a:gd name="adj" fmla="val 12632"/>
            </a:avLst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9" name="mockup-restricted"/>
          <p:cNvSpPr/>
          <p:nvPr/>
        </p:nvSpPr>
        <p:spPr>
          <a:xfrm>
            <a:off x="5461000" y="4813300"/>
            <a:ext cx="3683000" cy="1206500"/>
          </a:xfrm>
          <a:prstGeom prst="roundRect">
            <a:avLst>
              <a:gd name="adj" fmla="val 12632"/>
            </a:avLst>
          </a:prstGeom>
          <a:solidFill>
            <a:srgbClr val="FFFBE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0" name="mockup-critical"/>
          <p:cNvSpPr/>
          <p:nvPr/>
        </p:nvSpPr>
        <p:spPr>
          <a:xfrm>
            <a:off x="2413000" y="5905500"/>
            <a:ext cx="2413000" cy="444500"/>
          </a:xfrm>
          <a:prstGeom prst="roundRect">
            <a:avLst>
              <a:gd name="adj" fmla="val 22857"/>
            </a:avLst>
          </a:prstGeom>
          <a:solidFill>
            <a:srgbClr val="FEF2F2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1" name="mockup-control"/>
          <p:cNvSpPr/>
          <p:nvPr/>
        </p:nvSpPr>
        <p:spPr>
          <a:xfrm>
            <a:off x="9551670" y="4483100"/>
            <a:ext cx="304800" cy="304800"/>
          </a:xfrm>
          <a:prstGeom prst="ellipse">
            <a:avLst/>
          </a:prstGeom>
          <a:solidFill>
            <a:srgbClr val="D946EF"/>
          </a:solidFill>
          <a:ln/>
        </p:spPr>
      </p:sp>
      <p:sp>
        <p:nvSpPr>
          <p:cNvPr id="12" name="mockup-route"/>
          <p:cNvSpPr/>
          <p:nvPr/>
        </p:nvSpPr>
        <p:spPr>
          <a:xfrm flipH="1">
            <a:off x="8128000" y="4667250"/>
            <a:ext cx="1206500" cy="9144"/>
          </a:xfrm>
          <a:prstGeom prst="line">
            <a:avLst/>
          </a:prstGeom>
          <a:ln w="25400">
            <a:solidFill>
              <a:srgbClr val="D946EF"/>
            </a:solidFill>
            <a:prstDash val="solid"/>
          </a:ln>
        </p:spPr>
      </p:sp>
      <p:sp>
        <p:nvSpPr>
          <p:cNvPr id="13" name="mockup-perimeter-label"/>
          <p:cNvSpPr/>
          <p:nvPr/>
        </p:nvSpPr>
        <p:spPr>
          <a:xfrm>
            <a:off x="4191000" y="2819400"/>
            <a:ext cx="279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D946E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PERIMETER</a:t>
            </a:r>
            <a:endParaRPr lang="en-US" sz="1400" dirty="0"/>
          </a:p>
        </p:txBody>
      </p:sp>
      <p:sp>
        <p:nvSpPr>
          <p:cNvPr id="14" name="mockup-open-label"/>
          <p:cNvSpPr/>
          <p:nvPr/>
        </p:nvSpPr>
        <p:spPr>
          <a:xfrm>
            <a:off x="2222500" y="4318000"/>
            <a:ext cx="2159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21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ZONE</a:t>
            </a:r>
            <a:endParaRPr lang="en-US" sz="2100" dirty="0"/>
          </a:p>
        </p:txBody>
      </p:sp>
      <p:sp>
        <p:nvSpPr>
          <p:cNvPr id="15" name="mockup-controlled-label"/>
          <p:cNvSpPr/>
          <p:nvPr/>
        </p:nvSpPr>
        <p:spPr>
          <a:xfrm>
            <a:off x="6032500" y="3619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CONTROLLED ZONE</a:t>
            </a:r>
            <a:endParaRPr lang="en-US" sz="1900" dirty="0"/>
          </a:p>
        </p:txBody>
      </p:sp>
      <p:sp>
        <p:nvSpPr>
          <p:cNvPr id="16" name="mockup-restricted-label"/>
          <p:cNvSpPr/>
          <p:nvPr/>
        </p:nvSpPr>
        <p:spPr>
          <a:xfrm>
            <a:off x="6096000" y="53467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RESTRICTED ZONE</a:t>
            </a:r>
            <a:endParaRPr lang="en-US" sz="1900" dirty="0"/>
          </a:p>
        </p:txBody>
      </p:sp>
      <p:sp>
        <p:nvSpPr>
          <p:cNvPr id="17" name="mockup-critical-label"/>
          <p:cNvSpPr/>
          <p:nvPr/>
        </p:nvSpPr>
        <p:spPr>
          <a:xfrm>
            <a:off x="2603500" y="60198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0F17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CRITICAL ZONE</a:t>
            </a:r>
            <a:endParaRPr lang="en-US" sz="1400" dirty="0"/>
          </a:p>
        </p:txBody>
      </p:sp>
      <p:sp>
        <p:nvSpPr>
          <p:cNvPr id="18" name="mockup-control-label"/>
          <p:cNvSpPr/>
          <p:nvPr/>
        </p:nvSpPr>
        <p:spPr>
          <a:xfrm>
            <a:off x="7366000" y="4413250"/>
            <a:ext cx="18415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D946E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ACCESS-CONTROL POINT</a:t>
            </a:r>
            <a:endParaRPr lang="en-US" sz="1400" dirty="0"/>
          </a:p>
        </p:txBody>
      </p:sp>
      <p:sp>
        <p:nvSpPr>
          <p:cNvPr id="19" name="mockup-legend"/>
          <p:cNvSpPr/>
          <p:nvPr/>
        </p:nvSpPr>
        <p:spPr>
          <a:xfrm>
            <a:off x="11049000" y="2413000"/>
            <a:ext cx="4318000" cy="4445000"/>
          </a:xfrm>
          <a:prstGeom prst="roundRect">
            <a:avLst>
              <a:gd name="adj" fmla="val 3529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legend-title"/>
          <p:cNvSpPr/>
          <p:nvPr/>
        </p:nvSpPr>
        <p:spPr>
          <a:xfrm>
            <a:off x="11430000" y="27940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Site-plan legend</a:t>
            </a:r>
            <a:endParaRPr lang="en-US" sz="2200" dirty="0"/>
          </a:p>
        </p:txBody>
      </p:sp>
      <p:sp>
        <p:nvSpPr>
          <p:cNvPr id="21" name="legend-body"/>
          <p:cNvSpPr/>
          <p:nvPr/>
        </p:nvSpPr>
        <p:spPr>
          <a:xfrm>
            <a:off x="11430000" y="3429000"/>
            <a:ext cx="3429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 / visitor access Operational access Service / emergency access Open → controlled → restricted → critical</a:t>
            </a:r>
            <a:endParaRPr lang="en-US" sz="1800" dirty="0"/>
          </a:p>
        </p:txBody>
      </p:sp>
      <p:sp>
        <p:nvSpPr>
          <p:cNvPr id="22" name="legend-rule"/>
          <p:cNvSpPr/>
          <p:nvPr/>
        </p:nvSpPr>
        <p:spPr>
          <a:xfrm>
            <a:off x="11430000" y="6184900"/>
            <a:ext cx="3175000" cy="9144"/>
          </a:xfrm>
          <a:prstGeom prst="line">
            <a:avLst/>
          </a:prstGeom>
          <a:ln w="25400">
            <a:solidFill>
              <a:srgbClr val="D946EF"/>
            </a:solidFill>
            <a:prstDash val="solid"/>
          </a:ln>
        </p:spPr>
      </p:sp>
      <p:sp>
        <p:nvSpPr>
          <p:cNvPr id="23" name="legend-note"/>
          <p:cNvSpPr/>
          <p:nvPr/>
        </p:nvSpPr>
        <p:spPr>
          <a:xfrm>
            <a:off x="11430000" y="6413500"/>
            <a:ext cx="342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37415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Conceptual relationships only.</a:t>
            </a:r>
            <a:endParaRPr lang="en-US" sz="1400" dirty="0"/>
          </a:p>
        </p:txBody>
      </p:sp>
      <p:sp>
        <p:nvSpPr>
          <p:cNvPr id="24" name="mockup-banner"/>
          <p:cNvSpPr/>
          <p:nvPr/>
        </p:nvSpPr>
        <p:spPr>
          <a:xfrm>
            <a:off x="2286000" y="7302500"/>
            <a:ext cx="11684000" cy="533400"/>
          </a:xfrm>
          <a:prstGeom prst="roundRect">
            <a:avLst>
              <a:gd name="adj" fmla="val 19048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mockup-banner-text"/>
          <p:cNvSpPr/>
          <p:nvPr/>
        </p:nvSpPr>
        <p:spPr>
          <a:xfrm>
            <a:off x="2540000" y="7429500"/>
            <a:ext cx="1117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PRELIMINARY CONCEPT — TO BE VALIDATED ON SITE</a:t>
            </a:r>
            <a:endParaRPr lang="en-US" sz="1800" dirty="0"/>
          </a:p>
        </p:txBody>
      </p:sp>
      <p:sp>
        <p:nvSpPr>
          <p:cNvPr id="26" name="footer-page"/>
          <p:cNvSpPr/>
          <p:nvPr/>
        </p:nvSpPr>
        <p:spPr>
          <a:xfrm>
            <a:off x="508000" y="86868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E5E7E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</a:t>
            </a:r>
            <a:endParaRPr lang="en-US" sz="1400" dirty="0"/>
          </a:p>
        </p:txBody>
      </p:sp>
      <p:sp>
        <p:nvSpPr>
          <p:cNvPr id="27" name="footer-meta"/>
          <p:cNvSpPr/>
          <p:nvPr/>
        </p:nvSpPr>
        <p:spPr>
          <a:xfrm>
            <a:off x="9779000" y="8686800"/>
            <a:ext cx="5969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E5E7E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Conceptual site-plan relationship  ·  20 Aug 2026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vidence-kicker"/>
          <p:cNvSpPr/>
          <p:nvPr/>
        </p:nvSpPr>
        <p:spPr>
          <a:xfrm>
            <a:off x="508000" y="4826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D946E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 /  EVIDENCE &amp; ENGINEERING VALIDATION</a:t>
            </a:r>
            <a:endParaRPr lang="en-US" sz="1400" dirty="0"/>
          </a:p>
        </p:txBody>
      </p:sp>
      <p:sp>
        <p:nvSpPr>
          <p:cNvPr id="3" name="evidence-title"/>
          <p:cNvSpPr/>
          <p:nvPr/>
        </p:nvSpPr>
        <p:spPr>
          <a:xfrm>
            <a:off x="508000" y="889000"/>
            <a:ext cx="14224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principle → source → what it supports</a:t>
            </a:r>
            <a:endParaRPr lang="en-US" sz="3400" dirty="0"/>
          </a:p>
        </p:txBody>
      </p:sp>
      <p:sp>
        <p:nvSpPr>
          <p:cNvPr id="4" name="evidence-subtitle"/>
          <p:cNvSpPr/>
          <p:nvPr/>
        </p:nvSpPr>
        <p:spPr>
          <a:xfrm>
            <a:off x="508000" y="1676400"/>
            <a:ext cx="1422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evidence supports the approach; site validation determines the final arrangement.</a:t>
            </a:r>
            <a:endParaRPr lang="en-US" sz="1800" dirty="0"/>
          </a:p>
        </p:txBody>
      </p:sp>
      <p:sp>
        <p:nvSpPr>
          <p:cNvPr id="5" name="source-card-1"/>
          <p:cNvSpPr/>
          <p:nvPr/>
        </p:nvSpPr>
        <p:spPr>
          <a:xfrm>
            <a:off x="635000" y="2246630"/>
            <a:ext cx="7874000" cy="1499870"/>
          </a:xfrm>
          <a:prstGeom prst="roundRect">
            <a:avLst>
              <a:gd name="adj" fmla="val 9524"/>
            </a:avLst>
          </a:prstGeom>
          <a:solidFill>
            <a:srgbClr val="FCE7F3"/>
          </a:solidFill>
          <a:ln w="12700">
            <a:solidFill>
              <a:srgbClr val="D946EF"/>
            </a:solidFill>
            <a:prstDash val="solid"/>
          </a:ln>
        </p:spPr>
      </p:sp>
      <p:sp>
        <p:nvSpPr>
          <p:cNvPr id="6" name="source-card-2"/>
          <p:cNvSpPr/>
          <p:nvPr/>
        </p:nvSpPr>
        <p:spPr>
          <a:xfrm>
            <a:off x="635000" y="3937000"/>
            <a:ext cx="7874000" cy="1515110"/>
          </a:xfrm>
          <a:prstGeom prst="roundRect">
            <a:avLst>
              <a:gd name="adj" fmla="val 9524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ource-card-3"/>
          <p:cNvSpPr/>
          <p:nvPr/>
        </p:nvSpPr>
        <p:spPr>
          <a:xfrm>
            <a:off x="571500" y="5651500"/>
            <a:ext cx="7874000" cy="1271270"/>
          </a:xfrm>
          <a:prstGeom prst="roundRect">
            <a:avLst>
              <a:gd name="adj" fmla="val 9524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ource-1-label"/>
          <p:cNvSpPr/>
          <p:nvPr/>
        </p:nvSpPr>
        <p:spPr>
          <a:xfrm>
            <a:off x="952500" y="2413000"/>
            <a:ext cx="723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D946E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[1] USDA NRCS · Access Control Code 472</a:t>
            </a:r>
            <a:endParaRPr lang="en-US" sz="1400" dirty="0"/>
          </a:p>
        </p:txBody>
      </p:sp>
      <p:sp>
        <p:nvSpPr>
          <p:cNvPr id="9" name="source-1-body"/>
          <p:cNvSpPr/>
          <p:nvPr/>
        </p:nvSpPr>
        <p:spPr>
          <a:xfrm>
            <a:off x="889000" y="2882900"/>
            <a:ext cx="7239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Supports exclusion and regulation of people, vehicles, equipment, or animals in sensitive areas; gates, signs, barriers, maintenance, and emergency contingencies.</a:t>
            </a:r>
            <a:endParaRPr lang="en-US" sz="1700" dirty="0"/>
          </a:p>
        </p:txBody>
      </p:sp>
      <p:sp>
        <p:nvSpPr>
          <p:cNvPr id="10" name="source-2-label"/>
          <p:cNvSpPr/>
          <p:nvPr/>
        </p:nvSpPr>
        <p:spPr>
          <a:xfrm>
            <a:off x="952500" y="4165600"/>
            <a:ext cx="723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37415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[2] FAO · Farm structures in tropical climates</a:t>
            </a:r>
            <a:endParaRPr lang="en-US" sz="1400" dirty="0"/>
          </a:p>
        </p:txBody>
      </p:sp>
      <p:sp>
        <p:nvSpPr>
          <p:cNvPr id="11" name="source-2-body"/>
          <p:cNvSpPr/>
          <p:nvPr/>
        </p:nvSpPr>
        <p:spPr>
          <a:xfrm>
            <a:off x="952500" y="4622800"/>
            <a:ext cx="7239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Supports surveying, climate/environmental control, fencing, documentation, and maintenance as site-dependent rural engineering considerations.</a:t>
            </a:r>
            <a:endParaRPr lang="en-US" sz="1700" dirty="0"/>
          </a:p>
        </p:txBody>
      </p:sp>
      <p:sp>
        <p:nvSpPr>
          <p:cNvPr id="12" name="source-3-label"/>
          <p:cNvSpPr/>
          <p:nvPr/>
        </p:nvSpPr>
        <p:spPr>
          <a:xfrm>
            <a:off x="952500" y="5833110"/>
            <a:ext cx="723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37415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[3] CISA · Physical Security</a:t>
            </a:r>
            <a:endParaRPr lang="en-US" sz="1400" dirty="0"/>
          </a:p>
        </p:txBody>
      </p:sp>
      <p:sp>
        <p:nvSpPr>
          <p:cNvPr id="13" name="source-3-body"/>
          <p:cNvSpPr/>
          <p:nvPr/>
        </p:nvSpPr>
        <p:spPr>
          <a:xfrm>
            <a:off x="952500" y="6217920"/>
            <a:ext cx="7239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Supports flexible, scalable, resilience-oriented physical-security planning across varied environments and threat types.</a:t>
            </a:r>
            <a:endParaRPr lang="en-US" sz="1700" dirty="0"/>
          </a:p>
        </p:txBody>
      </p:sp>
      <p:sp>
        <p:nvSpPr>
          <p:cNvPr id="14" name="validation-panel"/>
          <p:cNvSpPr/>
          <p:nvPr/>
        </p:nvSpPr>
        <p:spPr>
          <a:xfrm>
            <a:off x="9017000" y="2171700"/>
            <a:ext cx="6604000" cy="4622800"/>
          </a:xfrm>
          <a:prstGeom prst="roundRect">
            <a:avLst>
              <a:gd name="adj" fmla="val 3478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validation-title"/>
          <p:cNvSpPr/>
          <p:nvPr/>
        </p:nvSpPr>
        <p:spPr>
          <a:xfrm>
            <a:off x="9398000" y="2730500"/>
            <a:ext cx="584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 before final design</a:t>
            </a:r>
            <a:endParaRPr lang="en-US" sz="2200" dirty="0"/>
          </a:p>
        </p:txBody>
      </p:sp>
      <p:sp>
        <p:nvSpPr>
          <p:cNvPr id="16" name="validation-list"/>
          <p:cNvSpPr/>
          <p:nvPr/>
        </p:nvSpPr>
        <p:spPr>
          <a:xfrm>
            <a:off x="9398000" y="3365500"/>
            <a:ext cx="5715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actual site layout ✓ terrain and climate / weather ✓ operational routes and usability ✓ maintenance capability ✓ emergency access and response ✓ local natural conditions ✓ security requirements ✓ final materials, dimensions, and hardware</a:t>
            </a:r>
            <a:endParaRPr lang="en-US" sz="1800" dirty="0"/>
          </a:p>
        </p:txBody>
      </p:sp>
      <p:sp>
        <p:nvSpPr>
          <p:cNvPr id="17" name="evidence-note"/>
          <p:cNvSpPr/>
          <p:nvPr/>
        </p:nvSpPr>
        <p:spPr>
          <a:xfrm>
            <a:off x="635000" y="7366000"/>
            <a:ext cx="1498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 support design principles — they do not establish this farm's final geometry or construction specification.</a:t>
            </a:r>
            <a:endParaRPr lang="en-US" sz="1900" dirty="0"/>
          </a:p>
        </p:txBody>
      </p:sp>
      <p:sp>
        <p:nvSpPr>
          <p:cNvPr id="18" name="footer-page"/>
          <p:cNvSpPr/>
          <p:nvPr/>
        </p:nvSpPr>
        <p:spPr>
          <a:xfrm>
            <a:off x="508000" y="86868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E5E7E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en-US" sz="1400" dirty="0"/>
          </a:p>
        </p:txBody>
      </p:sp>
      <p:sp>
        <p:nvSpPr>
          <p:cNvPr id="19" name="footer-meta"/>
          <p:cNvSpPr/>
          <p:nvPr/>
        </p:nvSpPr>
        <p:spPr>
          <a:xfrm>
            <a:off x="9779000" y="8686800"/>
            <a:ext cx="5969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E5E7E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Evidence mapped to principles  ·  20 Aug 2026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keaway-kicker"/>
          <p:cNvSpPr/>
          <p:nvPr/>
        </p:nvSpPr>
        <p:spPr>
          <a:xfrm>
            <a:off x="508000" y="4826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D946E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  /  KEY TAKEAWAY</a:t>
            </a:r>
            <a:endParaRPr lang="en-US" sz="1400" dirty="0"/>
          </a:p>
        </p:txBody>
      </p:sp>
      <p:sp>
        <p:nvSpPr>
          <p:cNvPr id="3" name="takeaway-title"/>
          <p:cNvSpPr/>
          <p:nvPr/>
        </p:nvSpPr>
        <p:spPr>
          <a:xfrm>
            <a:off x="1524000" y="2603500"/>
            <a:ext cx="1320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4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2.2 establishes a preliminary, traceable access concept.</a:t>
            </a:r>
            <a:endParaRPr lang="en-US" sz="4200" dirty="0"/>
          </a:p>
        </p:txBody>
      </p:sp>
      <p:sp>
        <p:nvSpPr>
          <p:cNvPr id="4" name="takeaway-rule"/>
          <p:cNvSpPr/>
          <p:nvPr/>
        </p:nvSpPr>
        <p:spPr>
          <a:xfrm>
            <a:off x="6604000" y="4381500"/>
            <a:ext cx="3048000" cy="9144"/>
          </a:xfrm>
          <a:prstGeom prst="line">
            <a:avLst/>
          </a:prstGeom>
          <a:ln w="38100">
            <a:solidFill>
              <a:srgbClr val="D946EF"/>
            </a:solidFill>
            <a:prstDash val="solid"/>
          </a:ln>
        </p:spPr>
      </p:sp>
      <p:sp>
        <p:nvSpPr>
          <p:cNvPr id="5" name="takeaway-chain"/>
          <p:cNvSpPr/>
          <p:nvPr/>
        </p:nvSpPr>
        <p:spPr>
          <a:xfrm>
            <a:off x="1524000" y="5080000"/>
            <a:ext cx="132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6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ZONING  →  PHYSICAL ACCESS  →  CONTROLLED MOVEMENT</a:t>
            </a:r>
            <a:endParaRPr lang="en-US" sz="2600" dirty="0"/>
          </a:p>
        </p:txBody>
      </p:sp>
      <p:sp>
        <p:nvSpPr>
          <p:cNvPr id="6" name="takeaway-card-1"/>
          <p:cNvSpPr/>
          <p:nvPr/>
        </p:nvSpPr>
        <p:spPr>
          <a:xfrm>
            <a:off x="1143000" y="6286500"/>
            <a:ext cx="4191000" cy="990600"/>
          </a:xfrm>
          <a:prstGeom prst="roundRect">
            <a:avLst>
              <a:gd name="adj" fmla="val 12821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akeaway-card-2"/>
          <p:cNvSpPr/>
          <p:nvPr/>
        </p:nvSpPr>
        <p:spPr>
          <a:xfrm>
            <a:off x="6032500" y="6286500"/>
            <a:ext cx="4191000" cy="990600"/>
          </a:xfrm>
          <a:prstGeom prst="roundRect">
            <a:avLst>
              <a:gd name="adj" fmla="val 12821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akeaway-card-3"/>
          <p:cNvSpPr/>
          <p:nvPr/>
        </p:nvSpPr>
        <p:spPr>
          <a:xfrm>
            <a:off x="10922000" y="6286500"/>
            <a:ext cx="4191000" cy="990600"/>
          </a:xfrm>
          <a:prstGeom prst="roundRect">
            <a:avLst>
              <a:gd name="adj" fmla="val 12821"/>
            </a:avLst>
          </a:prstGeom>
          <a:solidFill>
            <a:srgbClr val="FCE7F3"/>
          </a:solidFill>
          <a:ln w="12700">
            <a:solidFill>
              <a:srgbClr val="D946EF"/>
            </a:solidFill>
            <a:prstDash val="solid"/>
          </a:ln>
        </p:spPr>
      </p:sp>
      <p:sp>
        <p:nvSpPr>
          <p:cNvPr id="9" name="takeaway-text-1"/>
          <p:cNvSpPr/>
          <p:nvPr/>
        </p:nvSpPr>
        <p:spPr>
          <a:xfrm>
            <a:off x="1460500" y="6527800"/>
            <a:ext cx="355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Boundary and gaps become observable.</a:t>
            </a:r>
            <a:endParaRPr lang="en-US" sz="1800" dirty="0"/>
          </a:p>
        </p:txBody>
      </p:sp>
      <p:sp>
        <p:nvSpPr>
          <p:cNvPr id="10" name="takeaway-text-2"/>
          <p:cNvSpPr/>
          <p:nvPr/>
        </p:nvSpPr>
        <p:spPr>
          <a:xfrm>
            <a:off x="6350000" y="6527800"/>
            <a:ext cx="355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Restriction matches area sensitivity.</a:t>
            </a:r>
            <a:endParaRPr lang="en-US" sz="1800" dirty="0"/>
          </a:p>
        </p:txBody>
      </p:sp>
      <p:sp>
        <p:nvSpPr>
          <p:cNvPr id="11" name="takeaway-text-3"/>
          <p:cNvSpPr/>
          <p:nvPr/>
        </p:nvSpPr>
        <p:spPr>
          <a:xfrm>
            <a:off x="11239500" y="6527800"/>
            <a:ext cx="355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Flows expose what still needs validation.</a:t>
            </a:r>
            <a:endParaRPr lang="en-US" sz="1800" dirty="0"/>
          </a:p>
        </p:txBody>
      </p:sp>
      <p:sp>
        <p:nvSpPr>
          <p:cNvPr id="12" name="takeaway-caveat"/>
          <p:cNvSpPr/>
          <p:nvPr/>
        </p:nvSpPr>
        <p:spPr>
          <a:xfrm>
            <a:off x="1524000" y="7747000"/>
            <a:ext cx="1320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D946E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PRELIMINARY ENGINEERING CONCEPT  ·  TO BE VALIDATED ON SITE</a:t>
            </a:r>
            <a:endParaRPr lang="en-US" sz="1400" dirty="0"/>
          </a:p>
        </p:txBody>
      </p:sp>
      <p:sp>
        <p:nvSpPr>
          <p:cNvPr id="13" name="footer-page"/>
          <p:cNvSpPr/>
          <p:nvPr/>
        </p:nvSpPr>
        <p:spPr>
          <a:xfrm>
            <a:off x="508000" y="86868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E5E7E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1400" dirty="0"/>
          </a:p>
        </p:txBody>
      </p:sp>
      <p:sp>
        <p:nvSpPr>
          <p:cNvPr id="14" name="footer-meta"/>
          <p:cNvSpPr/>
          <p:nvPr/>
        </p:nvSpPr>
        <p:spPr>
          <a:xfrm>
            <a:off x="9779000" y="8686800"/>
            <a:ext cx="5969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E5E7E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Tania ZABRE  ·  20 Aug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Manus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2.2 — Perimeter &amp; Access Control Design</dc:title>
  <dc:subject>Task 2.2 — Perimeter &amp; Access Control Design</dc:subject>
  <dc:creator>Manus</dc:creator>
  <cp:lastModifiedBy>Manus</cp:lastModifiedBy>
  <cp:revision>1</cp:revision>
  <dcterms:created xsi:type="dcterms:W3CDTF">2026-08-20T12:05:07Z</dcterms:created>
  <dcterms:modified xsi:type="dcterms:W3CDTF">2026-08-20T12:05:07Z</dcterms:modified>
</cp:coreProperties>
</file>